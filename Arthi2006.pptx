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73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5" d="100"/>
          <a:sy n="75" d="100"/>
        </p:scale>
        <p:origin x="90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hendran R" userId="70ca6b72467afe14" providerId="LiveId" clId="{21151C80-E48C-4D4E-9D9F-454C3F193B3D}"/>
    <pc:docChg chg="modSld">
      <pc:chgData name="Mahendran R" userId="70ca6b72467afe14" providerId="LiveId" clId="{21151C80-E48C-4D4E-9D9F-454C3F193B3D}" dt="2026-07-15T19:27:55.583" v="8" actId="1440"/>
      <pc:docMkLst>
        <pc:docMk/>
      </pc:docMkLst>
      <pc:sldChg chg="modSp mod">
        <pc:chgData name="Mahendran R" userId="70ca6b72467afe14" providerId="LiveId" clId="{21151C80-E48C-4D4E-9D9F-454C3F193B3D}" dt="2026-07-15T19:27:55.583" v="8" actId="1440"/>
        <pc:sldMkLst>
          <pc:docMk/>
          <pc:sldMk cId="579727571" sldId="266"/>
        </pc:sldMkLst>
        <pc:picChg chg="mod">
          <ac:chgData name="Mahendran R" userId="70ca6b72467afe14" providerId="LiveId" clId="{21151C80-E48C-4D4E-9D9F-454C3F193B3D}" dt="2026-07-15T19:27:55.583" v="8" actId="1440"/>
          <ac:picMkLst>
            <pc:docMk/>
            <pc:sldMk cId="579727571" sldId="266"/>
            <ac:picMk id="2" creationId="{F3AD0708-DAC0-A890-D2AC-B161868C80A2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761958-14C8-4329-B468-46BDB012E523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22CE5-5313-47F3-B13F-3B4D9352FC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99071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761958-14C8-4329-B468-46BDB012E523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22CE5-5313-47F3-B13F-3B4D9352FC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12010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761958-14C8-4329-B468-46BDB012E523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22CE5-5313-47F3-B13F-3B4D9352FC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09376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761958-14C8-4329-B468-46BDB012E523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22CE5-5313-47F3-B13F-3B4D9352FC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09096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761958-14C8-4329-B468-46BDB012E523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22CE5-5313-47F3-B13F-3B4D9352FC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79297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761958-14C8-4329-B468-46BDB012E523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22CE5-5313-47F3-B13F-3B4D9352FC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79766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761958-14C8-4329-B468-46BDB012E523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22CE5-5313-47F3-B13F-3B4D9352FC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57952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761958-14C8-4329-B468-46BDB012E523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22CE5-5313-47F3-B13F-3B4D9352FC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67101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761958-14C8-4329-B468-46BDB012E523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22CE5-5313-47F3-B13F-3B4D9352FC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13610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761958-14C8-4329-B468-46BDB012E523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22CE5-5313-47F3-B13F-3B4D9352FC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85691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761958-14C8-4329-B468-46BDB012E523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22CE5-5313-47F3-B13F-3B4D9352FC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11201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761958-14C8-4329-B468-46BDB012E523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22CE5-5313-47F3-B13F-3B4D9352FCFF}" type="slidenum">
              <a:rPr lang="en-IN" smtClean="0"/>
              <a:t>‹#›</a:t>
            </a:fld>
            <a:endParaRPr lang="en-IN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552465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761958-14C8-4329-B468-46BDB012E523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22CE5-5313-47F3-B13F-3B4D9352FC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80048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761958-14C8-4329-B468-46BDB012E523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22CE5-5313-47F3-B13F-3B4D9352FC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082483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761958-14C8-4329-B468-46BDB012E523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22CE5-5313-47F3-B13F-3B4D9352FC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816103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761958-14C8-4329-B468-46BDB012E523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22CE5-5313-47F3-B13F-3B4D9352FC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586076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761958-14C8-4329-B468-46BDB012E523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22CE5-5313-47F3-B13F-3B4D9352FC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52515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F5761958-14C8-4329-B468-46BDB012E523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0E222CE5-5313-47F3-B13F-3B4D9352FC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2791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74" r:id="rId1"/>
    <p:sldLayoutId id="2147484075" r:id="rId2"/>
    <p:sldLayoutId id="2147484076" r:id="rId3"/>
    <p:sldLayoutId id="2147484077" r:id="rId4"/>
    <p:sldLayoutId id="2147484078" r:id="rId5"/>
    <p:sldLayoutId id="2147484079" r:id="rId6"/>
    <p:sldLayoutId id="2147484080" r:id="rId7"/>
    <p:sldLayoutId id="2147484081" r:id="rId8"/>
    <p:sldLayoutId id="2147484082" r:id="rId9"/>
    <p:sldLayoutId id="2147484083" r:id="rId10"/>
    <p:sldLayoutId id="2147484084" r:id="rId11"/>
    <p:sldLayoutId id="2147484085" r:id="rId12"/>
    <p:sldLayoutId id="2147484086" r:id="rId13"/>
    <p:sldLayoutId id="2147484087" r:id="rId14"/>
    <p:sldLayoutId id="2147484088" r:id="rId15"/>
    <p:sldLayoutId id="2147484089" r:id="rId16"/>
    <p:sldLayoutId id="2147484090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82E6776-0515-0670-0914-1B47570EEE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57275"/>
          </a:xfrm>
        </p:spPr>
        <p:txBody>
          <a:bodyPr>
            <a:noAutofit/>
          </a:bodyPr>
          <a:lstStyle/>
          <a:p>
            <a:endParaRPr lang="en-IN" sz="6600" dirty="0"/>
          </a:p>
        </p:txBody>
      </p:sp>
      <p:pic>
        <p:nvPicPr>
          <p:cNvPr id="6" name="Picture 5" descr="Mechanical Parts White Transparent, Vector Mechanical Element Parts,  Engineering, Gear, Mechanical Background PNG Image For Free Download">
            <a:extLst>
              <a:ext uri="{FF2B5EF4-FFF2-40B4-BE49-F238E27FC236}">
                <a16:creationId xmlns:a16="http://schemas.microsoft.com/office/drawing/2014/main" id="{E787FCE4-6588-93B7-11C6-988EFE6688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650240"/>
            <a:ext cx="12192000" cy="799084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918EB6A-044E-7952-EB9F-E06D5167F21C}"/>
              </a:ext>
            </a:extLst>
          </p:cNvPr>
          <p:cNvSpPr txBox="1"/>
          <p:nvPr/>
        </p:nvSpPr>
        <p:spPr>
          <a:xfrm>
            <a:off x="6746240" y="1982450"/>
            <a:ext cx="51816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dirty="0">
                <a:solidFill>
                  <a:schemeClr val="bg1"/>
                </a:solidFill>
                <a:latin typeface="Algerian" panose="04020705040A02060702" pitchFamily="82" charset="0"/>
              </a:rPr>
              <a:t>ENGINEERING EXPLORATION</a:t>
            </a:r>
          </a:p>
        </p:txBody>
      </p:sp>
    </p:spTree>
    <p:extLst>
      <p:ext uri="{BB962C8B-B14F-4D97-AF65-F5344CB8AC3E}">
        <p14:creationId xmlns:p14="http://schemas.microsoft.com/office/powerpoint/2010/main" val="6112706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09C6A29-076D-A9A8-BB25-21F05FF0DA94}"/>
              </a:ext>
            </a:extLst>
          </p:cNvPr>
          <p:cNvSpPr txBox="1"/>
          <p:nvPr/>
        </p:nvSpPr>
        <p:spPr>
          <a:xfrm>
            <a:off x="1915160" y="2174240"/>
            <a:ext cx="83616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.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E7624CB-E538-9BB6-ACD1-31CD327DF977}"/>
              </a:ext>
            </a:extLst>
          </p:cNvPr>
          <p:cNvSpPr txBox="1"/>
          <p:nvPr/>
        </p:nvSpPr>
        <p:spPr>
          <a:xfrm>
            <a:off x="1209041" y="965200"/>
            <a:ext cx="4541520" cy="4339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latin typeface="Algerian" panose="04020705040A02060702" pitchFamily="82" charset="0"/>
              </a:rPr>
              <a:t>WHAT IS ENGINEERING</a:t>
            </a:r>
            <a:r>
              <a:rPr lang="en-US" sz="3200" dirty="0"/>
              <a:t>?</a:t>
            </a:r>
          </a:p>
          <a:p>
            <a:endParaRPr lang="en-US" sz="3200" dirty="0"/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1800" dirty="0">
                <a:latin typeface="Artifakt Element Black" panose="020B0A03050000020004" pitchFamily="34" charset="0"/>
                <a:ea typeface="Artifakt Element Black" panose="020B0A03050000020004" pitchFamily="34" charset="0"/>
              </a:rPr>
              <a:t>Engineering is the application of scientific and mathematical principles to design, develop, and improve products, systems, and technologies that solve real-world problems.</a:t>
            </a:r>
          </a:p>
          <a:p>
            <a:endParaRPr lang="en-US" sz="1800" dirty="0">
              <a:latin typeface="Artifakt Element Black" panose="020B0A03050000020004" pitchFamily="34" charset="0"/>
              <a:ea typeface="Artifakt Element Black" panose="020B0A030500000200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800" dirty="0">
                <a:latin typeface="Artifakt Element Black" panose="020B0A03050000020004" pitchFamily="34" charset="0"/>
                <a:ea typeface="Artifakt Element Black" panose="020B0A03050000020004" pitchFamily="34" charset="0"/>
              </a:rPr>
              <a:t>Examples: Bridges, Computers, Smartphones, Electric Vehicles, Medical Equipment</a:t>
            </a:r>
            <a:endParaRPr lang="en-IN" dirty="0">
              <a:latin typeface="Artifakt Element Black" panose="020B0A03050000020004" pitchFamily="34" charset="0"/>
              <a:ea typeface="Artifakt Element Black" panose="020B0A03050000020004" pitchFamily="34" charset="0"/>
            </a:endParaRPr>
          </a:p>
        </p:txBody>
      </p:sp>
      <p:pic>
        <p:nvPicPr>
          <p:cNvPr id="5" name="Picture 4" descr="The Digital Engineering Approach - Zuken US">
            <a:extLst>
              <a:ext uri="{FF2B5EF4-FFF2-40B4-BE49-F238E27FC236}">
                <a16:creationId xmlns:a16="http://schemas.microsoft.com/office/drawing/2014/main" id="{E0CA8796-BBB1-5A56-5887-17ADB5719B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9997" y="1188720"/>
            <a:ext cx="4420139" cy="3698240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</p:spTree>
    <p:extLst>
      <p:ext uri="{BB962C8B-B14F-4D97-AF65-F5344CB8AC3E}">
        <p14:creationId xmlns:p14="http://schemas.microsoft.com/office/powerpoint/2010/main" val="25617249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76483D3-27A0-C9B4-A7EF-E672C520CE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6138782"/>
              </p:ext>
            </p:extLst>
          </p:nvPr>
        </p:nvGraphicFramePr>
        <p:xfrm>
          <a:off x="1823720" y="2448560"/>
          <a:ext cx="7731760" cy="3644146"/>
        </p:xfrm>
        <a:graphic>
          <a:graphicData uri="http://schemas.openxmlformats.org/drawingml/2006/table">
            <a:tbl>
              <a:tblPr/>
              <a:tblGrid>
                <a:gridCol w="3632200">
                  <a:extLst>
                    <a:ext uri="{9D8B030D-6E8A-4147-A177-3AD203B41FA5}">
                      <a16:colId xmlns:a16="http://schemas.microsoft.com/office/drawing/2014/main" val="232529843"/>
                    </a:ext>
                  </a:extLst>
                </a:gridCol>
                <a:gridCol w="4099560">
                  <a:extLst>
                    <a:ext uri="{9D8B030D-6E8A-4147-A177-3AD203B41FA5}">
                      <a16:colId xmlns:a16="http://schemas.microsoft.com/office/drawing/2014/main" val="1558713164"/>
                    </a:ext>
                  </a:extLst>
                </a:gridCol>
              </a:tblGrid>
              <a:tr h="956414">
                <a:tc>
                  <a:txBody>
                    <a:bodyPr/>
                    <a:lstStyle/>
                    <a:p>
                      <a:pPr marL="0" indent="0">
                        <a:buFont typeface="Wingdings" panose="05000000000000000000" pitchFamily="2" charset="2"/>
                        <a:buNone/>
                      </a:pPr>
                      <a:r>
                        <a:rPr lang="en-IN" sz="1800" dirty="0">
                          <a:latin typeface="Algerian" panose="04020705040A02060702" pitchFamily="82" charset="0"/>
                          <a:ea typeface="Artifakt Element Black" panose="020B0A03050000020004" pitchFamily="34" charset="0"/>
                        </a:rPr>
                        <a:t>Science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Wingdings" panose="05000000000000000000" pitchFamily="2" charset="2"/>
                        <a:buNone/>
                      </a:pPr>
                      <a:r>
                        <a:rPr lang="en-IN" sz="1800" dirty="0">
                          <a:latin typeface="Algerian" panose="04020705040A02060702" pitchFamily="82" charset="0"/>
                          <a:ea typeface="Artifakt Element Black" panose="020B0A03050000020004" pitchFamily="34" charset="0"/>
                        </a:rPr>
                        <a:t>Engineering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1396910"/>
                  </a:ext>
                </a:extLst>
              </a:tr>
              <a:tr h="671933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v"/>
                      </a:pPr>
                      <a:r>
                        <a:rPr lang="en-IN" sz="1800" dirty="0">
                          <a:solidFill>
                            <a:schemeClr val="tx1"/>
                          </a:solidFill>
                          <a:latin typeface="Artifakt Element Black" panose="020B0A03050000020004" pitchFamily="34" charset="0"/>
                          <a:ea typeface="Artifakt Element Black" panose="020B0A03050000020004" pitchFamily="34" charset="0"/>
                        </a:rPr>
                        <a:t>Discovers how nature works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v"/>
                      </a:pPr>
                      <a:r>
                        <a:rPr lang="en-IN" sz="1800" dirty="0">
                          <a:solidFill>
                            <a:schemeClr val="tx1"/>
                          </a:solidFill>
                          <a:latin typeface="Artifakt Element Black" panose="020B0A03050000020004" pitchFamily="34" charset="0"/>
                          <a:ea typeface="Artifakt Element Black" panose="020B0A03050000020004" pitchFamily="34" charset="0"/>
                        </a:rPr>
                        <a:t>Applies scientific knowledge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8569929"/>
                  </a:ext>
                </a:extLst>
              </a:tr>
              <a:tr h="671933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v"/>
                      </a:pPr>
                      <a:r>
                        <a:rPr lang="en-IN" sz="1800" dirty="0">
                          <a:solidFill>
                            <a:schemeClr val="tx1"/>
                          </a:solidFill>
                          <a:latin typeface="Artifakt Element Black" panose="020B0A03050000020004" pitchFamily="34" charset="0"/>
                          <a:ea typeface="Artifakt Element Black" panose="020B0A03050000020004" pitchFamily="34" charset="0"/>
                        </a:rPr>
                        <a:t>Focuses on understanding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v"/>
                      </a:pPr>
                      <a:r>
                        <a:rPr lang="en-IN" sz="1800" dirty="0">
                          <a:solidFill>
                            <a:schemeClr val="tx1"/>
                          </a:solidFill>
                          <a:latin typeface="Artifakt Element Black" panose="020B0A03050000020004" pitchFamily="34" charset="0"/>
                          <a:ea typeface="Artifakt Element Black" panose="020B0A03050000020004" pitchFamily="34" charset="0"/>
                        </a:rPr>
                        <a:t>Focuses on solving problems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0056389"/>
                  </a:ext>
                </a:extLst>
              </a:tr>
              <a:tr h="671933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v"/>
                      </a:pPr>
                      <a:r>
                        <a:rPr lang="en-IN" sz="1800">
                          <a:solidFill>
                            <a:schemeClr val="tx1"/>
                          </a:solidFill>
                          <a:latin typeface="Artifakt Element Black" panose="020B0A03050000020004" pitchFamily="34" charset="0"/>
                          <a:ea typeface="Artifakt Element Black" panose="020B0A03050000020004" pitchFamily="34" charset="0"/>
                        </a:rPr>
                        <a:t>Answers "Why?"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v"/>
                      </a:pPr>
                      <a:r>
                        <a:rPr lang="en-IN" sz="1800" dirty="0">
                          <a:solidFill>
                            <a:schemeClr val="tx1"/>
                          </a:solidFill>
                          <a:latin typeface="Artifakt Element Black" panose="020B0A03050000020004" pitchFamily="34" charset="0"/>
                          <a:ea typeface="Artifakt Element Black" panose="020B0A03050000020004" pitchFamily="34" charset="0"/>
                        </a:rPr>
                        <a:t>Answers "How?"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4734104"/>
                  </a:ext>
                </a:extLst>
              </a:tr>
              <a:tr h="671933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v"/>
                      </a:pPr>
                      <a:r>
                        <a:rPr lang="en-IN" sz="1800">
                          <a:solidFill>
                            <a:schemeClr val="tx1"/>
                          </a:solidFill>
                          <a:latin typeface="Artifakt Element Black" panose="020B0A03050000020004" pitchFamily="34" charset="0"/>
                          <a:ea typeface="Artifakt Element Black" panose="020B0A03050000020004" pitchFamily="34" charset="0"/>
                        </a:rPr>
                        <a:t>Produces theories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v"/>
                      </a:pPr>
                      <a:r>
                        <a:rPr lang="en-IN" sz="1800" dirty="0">
                          <a:solidFill>
                            <a:schemeClr val="tx1"/>
                          </a:solidFill>
                          <a:latin typeface="Artifakt Element Black" panose="020B0A03050000020004" pitchFamily="34" charset="0"/>
                          <a:ea typeface="Artifakt Element Black" panose="020B0A03050000020004" pitchFamily="34" charset="0"/>
                        </a:rPr>
                        <a:t>Produces products and systems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9271482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EEC0B9A2-D5DB-F8F8-14E5-5A3DA0988AD6}"/>
              </a:ext>
            </a:extLst>
          </p:cNvPr>
          <p:cNvSpPr txBox="1"/>
          <p:nvPr/>
        </p:nvSpPr>
        <p:spPr>
          <a:xfrm>
            <a:off x="3261360" y="948174"/>
            <a:ext cx="60960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>
                <a:latin typeface="Algerian" panose="04020705040A02060702" pitchFamily="82" charset="0"/>
              </a:rPr>
              <a:t>Difference Between Science and Engineering</a:t>
            </a:r>
          </a:p>
        </p:txBody>
      </p:sp>
    </p:spTree>
    <p:extLst>
      <p:ext uri="{BB962C8B-B14F-4D97-AF65-F5344CB8AC3E}">
        <p14:creationId xmlns:p14="http://schemas.microsoft.com/office/powerpoint/2010/main" val="24063880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DC820F6-F918-D9EB-6D45-CE59AD9018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376462"/>
              </p:ext>
            </p:extLst>
          </p:nvPr>
        </p:nvGraphicFramePr>
        <p:xfrm>
          <a:off x="1209040" y="2509520"/>
          <a:ext cx="10002520" cy="4029531"/>
        </p:xfrm>
        <a:graphic>
          <a:graphicData uri="http://schemas.openxmlformats.org/drawingml/2006/table">
            <a:tbl>
              <a:tblPr/>
              <a:tblGrid>
                <a:gridCol w="4352751">
                  <a:extLst>
                    <a:ext uri="{9D8B030D-6E8A-4147-A177-3AD203B41FA5}">
                      <a16:colId xmlns:a16="http://schemas.microsoft.com/office/drawing/2014/main" val="3425245969"/>
                    </a:ext>
                  </a:extLst>
                </a:gridCol>
                <a:gridCol w="5649769">
                  <a:extLst>
                    <a:ext uri="{9D8B030D-6E8A-4147-A177-3AD203B41FA5}">
                      <a16:colId xmlns:a16="http://schemas.microsoft.com/office/drawing/2014/main" val="3309369188"/>
                    </a:ext>
                  </a:extLst>
                </a:gridCol>
              </a:tblGrid>
              <a:tr h="1218231">
                <a:tc>
                  <a:txBody>
                    <a:bodyPr/>
                    <a:lstStyle/>
                    <a:p>
                      <a:pPr marL="0" indent="0">
                        <a:buFont typeface="Wingdings" panose="05000000000000000000" pitchFamily="2" charset="2"/>
                        <a:buNone/>
                      </a:pPr>
                      <a:r>
                        <a:rPr lang="en-IN" sz="2800" b="1" u="sng" dirty="0">
                          <a:latin typeface="Algerian" panose="04020705040A02060702" pitchFamily="82" charset="0"/>
                        </a:rPr>
                        <a:t>Scientist</a:t>
                      </a:r>
                    </a:p>
                    <a:p>
                      <a:pPr marL="0" indent="0">
                        <a:buFont typeface="Wingdings" panose="05000000000000000000" pitchFamily="2" charset="2"/>
                        <a:buNone/>
                      </a:pPr>
                      <a:endParaRPr lang="en-IN" sz="1800" b="1" u="sng" dirty="0">
                        <a:latin typeface="Algerian" panose="04020705040A02060702" pitchFamily="82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Wingdings" panose="05000000000000000000" pitchFamily="2" charset="2"/>
                        <a:buNone/>
                      </a:pPr>
                      <a:r>
                        <a:rPr lang="en-IN" sz="2800" u="sng" dirty="0">
                          <a:latin typeface="Algerian" panose="04020705040A02060702" pitchFamily="82" charset="0"/>
                        </a:rPr>
                        <a:t>Engineer</a:t>
                      </a:r>
                    </a:p>
                    <a:p>
                      <a:pPr marL="0" indent="0">
                        <a:buFont typeface="Wingdings" panose="05000000000000000000" pitchFamily="2" charset="2"/>
                        <a:buNone/>
                      </a:pPr>
                      <a:endParaRPr lang="en-IN" sz="1800" u="sng" dirty="0">
                        <a:latin typeface="Algerian" panose="04020705040A02060702" pitchFamily="82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1202631"/>
                  </a:ext>
                </a:extLst>
              </a:tr>
              <a:tr h="702825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v"/>
                      </a:pPr>
                      <a:r>
                        <a:rPr lang="en-IN" sz="2400" dirty="0">
                          <a:solidFill>
                            <a:schemeClr val="tx1"/>
                          </a:solidFill>
                        </a:rPr>
                        <a:t>Conducts research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v"/>
                      </a:pPr>
                      <a:r>
                        <a:rPr lang="en-IN" sz="2400" dirty="0">
                          <a:solidFill>
                            <a:schemeClr val="tx1"/>
                          </a:solidFill>
                        </a:rPr>
                        <a:t>Designs solutions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0815066"/>
                  </a:ext>
                </a:extLst>
              </a:tr>
              <a:tr h="702825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v"/>
                      </a:pPr>
                      <a:r>
                        <a:rPr lang="en-IN" sz="2400" dirty="0">
                          <a:solidFill>
                            <a:schemeClr val="tx1"/>
                          </a:solidFill>
                        </a:rPr>
                        <a:t>Studies natural phenomena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v"/>
                      </a:pPr>
                      <a:r>
                        <a:rPr lang="en-IN" sz="2400">
                          <a:solidFill>
                            <a:schemeClr val="tx1"/>
                          </a:solidFill>
                        </a:rPr>
                        <a:t>Develops practical applications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1008200"/>
                  </a:ext>
                </a:extLst>
              </a:tr>
              <a:tr h="702825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v"/>
                      </a:pPr>
                      <a:r>
                        <a:rPr lang="en-IN" sz="2400" dirty="0">
                          <a:solidFill>
                            <a:schemeClr val="tx1"/>
                          </a:solidFill>
                        </a:rPr>
                        <a:t>Creates knowledge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v"/>
                      </a:pPr>
                      <a:r>
                        <a:rPr lang="en-IN" sz="2400" dirty="0">
                          <a:solidFill>
                            <a:schemeClr val="tx1"/>
                          </a:solidFill>
                        </a:rPr>
                        <a:t>Uses knowledge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91053"/>
                  </a:ext>
                </a:extLst>
              </a:tr>
              <a:tr h="702825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v"/>
                      </a:pPr>
                      <a:r>
                        <a:rPr lang="en-IN" sz="2400" dirty="0">
                          <a:solidFill>
                            <a:schemeClr val="tx1"/>
                          </a:solidFill>
                        </a:rPr>
                        <a:t>Example: Physicist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v"/>
                      </a:pPr>
                      <a:r>
                        <a:rPr lang="en-IN" sz="2400" dirty="0">
                          <a:solidFill>
                            <a:schemeClr val="tx1"/>
                          </a:solidFill>
                        </a:rPr>
                        <a:t>Example: Software Engineer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817086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C2581938-4209-C5DC-A497-10F012DB0E15}"/>
              </a:ext>
            </a:extLst>
          </p:cNvPr>
          <p:cNvSpPr txBox="1"/>
          <p:nvPr/>
        </p:nvSpPr>
        <p:spPr>
          <a:xfrm>
            <a:off x="2346960" y="934720"/>
            <a:ext cx="679704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600" b="1" dirty="0">
                <a:latin typeface="Algerian" panose="04020705040A02060702" pitchFamily="82" charset="0"/>
              </a:rPr>
              <a:t>Difference Between Scientist and Engineer</a:t>
            </a:r>
          </a:p>
        </p:txBody>
      </p:sp>
    </p:spTree>
    <p:extLst>
      <p:ext uri="{BB962C8B-B14F-4D97-AF65-F5344CB8AC3E}">
        <p14:creationId xmlns:p14="http://schemas.microsoft.com/office/powerpoint/2010/main" val="12896331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60D6DB6-941C-C462-F98B-61C04C3F6E49}"/>
              </a:ext>
            </a:extLst>
          </p:cNvPr>
          <p:cNvSpPr txBox="1"/>
          <p:nvPr/>
        </p:nvSpPr>
        <p:spPr>
          <a:xfrm>
            <a:off x="345440" y="690880"/>
            <a:ext cx="6827520" cy="54476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b="1" u="sng" dirty="0">
                <a:latin typeface="Algerian" panose="04020705040A02060702" pitchFamily="82" charset="0"/>
              </a:rPr>
              <a:t>Needs</a:t>
            </a:r>
          </a:p>
          <a:p>
            <a:pPr>
              <a:buNone/>
            </a:pPr>
            <a:endParaRPr lang="en-US" sz="2400" dirty="0">
              <a:latin typeface="Algerian" panose="04020705040A02060702" pitchFamily="82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000" dirty="0"/>
              <a:t>Problem-solving ability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000" dirty="0"/>
              <a:t>Computer and internet access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000" dirty="0"/>
              <a:t>Knowledge of algorithms and data structures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000" dirty="0"/>
              <a:t>Continuous learning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000" dirty="0"/>
              <a:t>Programming skills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dirty="0"/>
          </a:p>
          <a:p>
            <a:endParaRPr lang="en-US" dirty="0"/>
          </a:p>
          <a:p>
            <a:r>
              <a:rPr lang="en-US" sz="3200" b="1" u="sng" dirty="0">
                <a:latin typeface="Algerian" panose="04020705040A02060702" pitchFamily="82" charset="0"/>
              </a:rPr>
              <a:t>Wants</a:t>
            </a:r>
          </a:p>
          <a:p>
            <a:endParaRPr lang="en-US" sz="2400" b="1" dirty="0">
              <a:latin typeface="Algerian" panose="04020705040A02060702" pitchFamily="82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dirty="0"/>
              <a:t>High-performance computers 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dirty="0"/>
              <a:t>Latest software tools 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dirty="0"/>
              <a:t>Career growth opportunities 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dirty="0"/>
              <a:t>Innovative projects 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dirty="0"/>
              <a:t>Good work-life balance</a:t>
            </a:r>
          </a:p>
        </p:txBody>
      </p:sp>
      <p:pic>
        <p:nvPicPr>
          <p:cNvPr id="4" name="Picture 3" descr="Department Home">
            <a:extLst>
              <a:ext uri="{FF2B5EF4-FFF2-40B4-BE49-F238E27FC236}">
                <a16:creationId xmlns:a16="http://schemas.microsoft.com/office/drawing/2014/main" id="{5C070120-AC54-7285-AB10-0460E77F04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6595053" y="1310640"/>
            <a:ext cx="4634132" cy="3881121"/>
          </a:xfrm>
          <a:prstGeom prst="rect">
            <a:avLst/>
          </a:prstGeom>
          <a:ln w="1270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456056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25253EF-0EED-8B03-DEB7-0611A69630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2671216"/>
              </p:ext>
            </p:extLst>
          </p:nvPr>
        </p:nvGraphicFramePr>
        <p:xfrm>
          <a:off x="887095" y="1442720"/>
          <a:ext cx="10233024" cy="2560320"/>
        </p:xfrm>
        <a:graphic>
          <a:graphicData uri="http://schemas.openxmlformats.org/drawingml/2006/table">
            <a:tbl>
              <a:tblPr/>
              <a:tblGrid>
                <a:gridCol w="5116512">
                  <a:extLst>
                    <a:ext uri="{9D8B030D-6E8A-4147-A177-3AD203B41FA5}">
                      <a16:colId xmlns:a16="http://schemas.microsoft.com/office/drawing/2014/main" val="1135456124"/>
                    </a:ext>
                  </a:extLst>
                </a:gridCol>
                <a:gridCol w="5116512">
                  <a:extLst>
                    <a:ext uri="{9D8B030D-6E8A-4147-A177-3AD203B41FA5}">
                      <a16:colId xmlns:a16="http://schemas.microsoft.com/office/drawing/2014/main" val="2701465171"/>
                    </a:ext>
                  </a:extLst>
                </a:gridCol>
              </a:tblGrid>
              <a:tr h="303054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019687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615333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05945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631037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366252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48306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557658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AD6D8E8F-3042-8143-2133-2E844D50A433}"/>
              </a:ext>
            </a:extLst>
          </p:cNvPr>
          <p:cNvSpPr txBox="1"/>
          <p:nvPr/>
        </p:nvSpPr>
        <p:spPr>
          <a:xfrm>
            <a:off x="762000" y="457200"/>
            <a:ext cx="576072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latin typeface="Algerian" panose="04020705040A02060702" pitchFamily="82" charset="0"/>
              </a:rPr>
              <a:t>Various Engineering Disciplines and Role of CSE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BBB1190-6995-CF1D-A594-64D88A1C6D44}"/>
              </a:ext>
            </a:extLst>
          </p:cNvPr>
          <p:cNvSpPr txBox="1"/>
          <p:nvPr/>
        </p:nvSpPr>
        <p:spPr>
          <a:xfrm>
            <a:off x="2072639" y="1737360"/>
            <a:ext cx="10119359" cy="3600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  <a:p>
            <a:r>
              <a:rPr lang="en-IN" sz="2400" u="sng" dirty="0">
                <a:latin typeface="Agency FB" panose="020B0503020202020204" pitchFamily="34" charset="0"/>
              </a:rPr>
              <a:t>Mechanical Engineering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dirty="0"/>
              <a:t>Develops robotics, automation software, and CAD applications</a:t>
            </a:r>
          </a:p>
          <a:p>
            <a:r>
              <a:rPr lang="en-IN" sz="2400" u="sng" dirty="0">
                <a:latin typeface="Agency FB" panose="020B0503020202020204" pitchFamily="34" charset="0"/>
              </a:rPr>
              <a:t>Civil Engineering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dirty="0"/>
              <a:t>Creates smart city systems and construction management software</a:t>
            </a:r>
          </a:p>
          <a:p>
            <a:r>
              <a:rPr lang="en-IN" sz="2400" u="sng" dirty="0">
                <a:latin typeface="Agency FB" panose="020B0503020202020204" pitchFamily="34" charset="0"/>
              </a:rPr>
              <a:t>Electrical Engineering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dirty="0"/>
              <a:t>Designs smart grid monitoring and control systems</a:t>
            </a:r>
          </a:p>
          <a:p>
            <a:r>
              <a:rPr lang="en-IN" sz="2400" u="sng" dirty="0">
                <a:latin typeface="Agency FB" panose="020B0503020202020204" pitchFamily="34" charset="0"/>
              </a:rPr>
              <a:t>Biomedical Engineering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dirty="0"/>
              <a:t>Creates healthcare applications, medical databases, and AI diagnostic systems</a:t>
            </a:r>
          </a:p>
          <a:p>
            <a:r>
              <a:rPr lang="en-IN" sz="2400" u="sng" dirty="0">
                <a:latin typeface="Agency FB" panose="020B0503020202020204" pitchFamily="34" charset="0"/>
              </a:rPr>
              <a:t>Aerospace Engineering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dirty="0"/>
              <a:t>Develops flight simulation, navigation, and control software</a:t>
            </a:r>
          </a:p>
        </p:txBody>
      </p:sp>
    </p:spTree>
    <p:extLst>
      <p:ext uri="{BB962C8B-B14F-4D97-AF65-F5344CB8AC3E}">
        <p14:creationId xmlns:p14="http://schemas.microsoft.com/office/powerpoint/2010/main" val="34125053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FD6AD5E-AC74-3E00-1A92-8922B486FD81}"/>
              </a:ext>
            </a:extLst>
          </p:cNvPr>
          <p:cNvSpPr txBox="1"/>
          <p:nvPr/>
        </p:nvSpPr>
        <p:spPr>
          <a:xfrm>
            <a:off x="589280" y="863600"/>
            <a:ext cx="10505440" cy="4462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>
                <a:latin typeface="Algerian" panose="04020705040A02060702" pitchFamily="82" charset="0"/>
              </a:rPr>
              <a:t>Case Study</a:t>
            </a:r>
            <a:r>
              <a:rPr lang="en-IN" sz="3200" dirty="0">
                <a:latin typeface="Algerian" panose="04020705040A02060702" pitchFamily="82" charset="0"/>
              </a:rPr>
              <a:t>;</a:t>
            </a:r>
          </a:p>
          <a:p>
            <a:endParaRPr lang="en-IN" sz="3200" dirty="0">
              <a:latin typeface="Algerian" panose="04020705040A02060702" pitchFamily="82" charset="0"/>
            </a:endParaRPr>
          </a:p>
          <a:p>
            <a:r>
              <a:rPr lang="en-IN" u="sng" dirty="0">
                <a:latin typeface="Algerian" panose="04020705040A02060702" pitchFamily="82" charset="0"/>
              </a:rPr>
              <a:t>Smart agriculture system;</a:t>
            </a:r>
          </a:p>
          <a:p>
            <a:endParaRPr lang="en-IN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2000" dirty="0"/>
              <a:t>A Smart Agriculture System combines different engineering disciplines to improve farming productivity and efficiency.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2000" dirty="0"/>
              <a:t>Agricultural Engineers develop modern farming techniques and irrigation methods.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2000" dirty="0"/>
              <a:t>Mechanical Engineers design tractors, harvesters, and automated farming equipment.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2000" dirty="0"/>
              <a:t>Electrical Engineers provide power systems for irrigation and farm machinery.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2000" dirty="0"/>
              <a:t>Electronics &amp; Communication Engineers develop sensors to monitor soil moisture, temperature, and weather conditions.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2000" dirty="0"/>
              <a:t>Computer Science Engineers create mobile applications, IoT platforms, AI-based crop monitoring systems, and data analytics tools.</a:t>
            </a:r>
          </a:p>
        </p:txBody>
      </p:sp>
    </p:spTree>
    <p:extLst>
      <p:ext uri="{BB962C8B-B14F-4D97-AF65-F5344CB8AC3E}">
        <p14:creationId xmlns:p14="http://schemas.microsoft.com/office/powerpoint/2010/main" val="14078548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17E4959-6640-0FA9-4E9A-47F9F81255EF}"/>
              </a:ext>
            </a:extLst>
          </p:cNvPr>
          <p:cNvSpPr txBox="1"/>
          <p:nvPr/>
        </p:nvSpPr>
        <p:spPr>
          <a:xfrm>
            <a:off x="487680" y="894080"/>
            <a:ext cx="658368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dirty="0">
                <a:latin typeface="Algerian" panose="04020705040A02060702" pitchFamily="82" charset="0"/>
              </a:rPr>
              <a:t>Role of Computer Science Engineering</a:t>
            </a:r>
          </a:p>
          <a:p>
            <a:endParaRPr lang="en-IN" sz="3200" dirty="0">
              <a:latin typeface="Algerian" panose="04020705040A02060702" pitchFamily="82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2800" dirty="0"/>
              <a:t>Smart irrigation control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2800" dirty="0"/>
              <a:t>Crop disease prediction using AI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2800" dirty="0"/>
              <a:t>Weather forecasting applications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2800" dirty="0"/>
              <a:t>Farm management software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2800" dirty="0"/>
              <a:t>IoT-based soil and water monitoring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2800" dirty="0"/>
              <a:t>Drone data analysis for crop health</a:t>
            </a:r>
          </a:p>
        </p:txBody>
      </p:sp>
      <p:pic>
        <p:nvPicPr>
          <p:cNvPr id="4" name="Picture 3" descr="Free Smart Farming Technology Image - Agriculture, Technology ...">
            <a:extLst>
              <a:ext uri="{FF2B5EF4-FFF2-40B4-BE49-F238E27FC236}">
                <a16:creationId xmlns:a16="http://schemas.microsoft.com/office/drawing/2014/main" id="{DD7AA78F-FE01-C13D-76B1-D37AEAD38C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380" y="1534616"/>
            <a:ext cx="4749700" cy="266192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42397738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>
            <a:extLst>
              <a:ext uri="{FF2B5EF4-FFF2-40B4-BE49-F238E27FC236}">
                <a16:creationId xmlns:a16="http://schemas.microsoft.com/office/drawing/2014/main" id="{E1A441DF-E30F-7772-6E8A-43E6988427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dirty="0">
                <a:latin typeface="Algerian" panose="04020705040A02060702" pitchFamily="82" charset="0"/>
              </a:rPr>
              <a:t>Misconception of about computer science engineer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9F50291-9E01-E49B-7DE1-2351A8F34BF1}"/>
              </a:ext>
            </a:extLst>
          </p:cNvPr>
          <p:cNvGraphicFramePr>
            <a:graphicFrameLocks noGrp="1"/>
          </p:cNvGraphicFramePr>
          <p:nvPr/>
        </p:nvGraphicFramePr>
        <p:xfrm>
          <a:off x="914400" y="2366963"/>
          <a:ext cx="10932633" cy="3727036"/>
        </p:xfrm>
        <a:graphic>
          <a:graphicData uri="http://schemas.openxmlformats.org/drawingml/2006/table">
            <a:tbl>
              <a:tblPr/>
              <a:tblGrid>
                <a:gridCol w="4600472">
                  <a:extLst>
                    <a:ext uri="{9D8B030D-6E8A-4147-A177-3AD203B41FA5}">
                      <a16:colId xmlns:a16="http://schemas.microsoft.com/office/drawing/2014/main" val="1957851270"/>
                    </a:ext>
                  </a:extLst>
                </a:gridCol>
                <a:gridCol w="6332161">
                  <a:extLst>
                    <a:ext uri="{9D8B030D-6E8A-4147-A177-3AD203B41FA5}">
                      <a16:colId xmlns:a16="http://schemas.microsoft.com/office/drawing/2014/main" val="3687220960"/>
                    </a:ext>
                  </a:extLst>
                </a:gridCol>
              </a:tblGrid>
              <a:tr h="715089">
                <a:tc>
                  <a:txBody>
                    <a:bodyPr/>
                    <a:lstStyle/>
                    <a:p>
                      <a:pPr marL="0" indent="0">
                        <a:buFont typeface="Wingdings" panose="05000000000000000000" pitchFamily="2" charset="2"/>
                        <a:buNone/>
                      </a:pPr>
                      <a:r>
                        <a:rPr lang="en-IN" sz="2000" dirty="0">
                          <a:latin typeface="Artifakt Element Black" panose="020B0A03050000020004" pitchFamily="34" charset="0"/>
                          <a:ea typeface="Artifakt Element Black" panose="020B0A03050000020004" pitchFamily="34" charset="0"/>
                        </a:rPr>
                        <a:t>         Myth</a:t>
                      </a:r>
                    </a:p>
                    <a:p>
                      <a:pPr marL="342900" indent="-342900">
                        <a:buFont typeface="Wingdings" panose="05000000000000000000" pitchFamily="2" charset="2"/>
                        <a:buChar char="v"/>
                      </a:pPr>
                      <a:endParaRPr lang="en-IN" sz="2000" dirty="0">
                        <a:latin typeface="Artifakt Element Black" panose="020B0A03050000020004" pitchFamily="34" charset="0"/>
                        <a:ea typeface="Artifakt Element Black" panose="020B0A030500000200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Wingdings" panose="05000000000000000000" pitchFamily="2" charset="2"/>
                        <a:buNone/>
                      </a:pPr>
                      <a:r>
                        <a:rPr lang="en-IN" sz="2000" dirty="0">
                          <a:latin typeface="Artifakt Element Black" panose="020B0A03050000020004" pitchFamily="34" charset="0"/>
                          <a:ea typeface="Artifakt Element Black" panose="020B0A03050000020004" pitchFamily="34" charset="0"/>
                        </a:rPr>
                        <a:t>         Reality</a:t>
                      </a:r>
                    </a:p>
                    <a:p>
                      <a:pPr marL="342900" indent="-342900">
                        <a:buFont typeface="Wingdings" panose="05000000000000000000" pitchFamily="2" charset="2"/>
                        <a:buChar char="v"/>
                      </a:pPr>
                      <a:endParaRPr lang="en-IN" sz="2000" dirty="0">
                        <a:latin typeface="Artifakt Element Black" panose="020B0A03050000020004" pitchFamily="34" charset="0"/>
                        <a:ea typeface="Artifakt Element Black" panose="020B0A030500000200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6697820"/>
                  </a:ext>
                </a:extLst>
              </a:tr>
              <a:tr h="422905">
                <a:tc>
                  <a:txBody>
                    <a:bodyPr/>
                    <a:lstStyle/>
                    <a:p>
                      <a:pPr marL="342900" indent="-342900">
                        <a:buFont typeface="Wingdings" panose="05000000000000000000" pitchFamily="2" charset="2"/>
                        <a:buChar char="v"/>
                      </a:pPr>
                      <a:r>
                        <a:rPr lang="en-IN" sz="2000" dirty="0">
                          <a:latin typeface="Artifakt Element Black" panose="020B0A03050000020004" pitchFamily="34" charset="0"/>
                          <a:ea typeface="Artifakt Element Black" panose="020B0A03050000020004" pitchFamily="34" charset="0"/>
                        </a:rPr>
                        <a:t>CSE is only coding.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Font typeface="Wingdings" panose="05000000000000000000" pitchFamily="2" charset="2"/>
                        <a:buChar char="v"/>
                      </a:pPr>
                      <a:r>
                        <a:rPr lang="en-US" sz="2000" dirty="0">
                          <a:latin typeface="Artifakt Element Black" panose="020B0A03050000020004" pitchFamily="34" charset="0"/>
                          <a:ea typeface="Artifakt Element Black" panose="020B0A03050000020004" pitchFamily="34" charset="0"/>
                        </a:rPr>
                        <a:t>CSE includes AI, Cybersecurity, and Data Science.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8517145"/>
                  </a:ext>
                </a:extLst>
              </a:tr>
              <a:tr h="814473">
                <a:tc>
                  <a:txBody>
                    <a:bodyPr/>
                    <a:lstStyle/>
                    <a:p>
                      <a:pPr marL="342900" indent="-342900">
                        <a:buFont typeface="Wingdings" panose="05000000000000000000" pitchFamily="2" charset="2"/>
                        <a:buChar char="v"/>
                      </a:pPr>
                      <a:r>
                        <a:rPr lang="en-US" sz="2000" dirty="0">
                          <a:latin typeface="Artifakt Element Black" panose="020B0A03050000020004" pitchFamily="34" charset="0"/>
                          <a:ea typeface="Artifakt Element Black" panose="020B0A03050000020004" pitchFamily="34" charset="0"/>
                        </a:rPr>
                        <a:t>CSE students work only in IT companies.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Font typeface="Wingdings" panose="05000000000000000000" pitchFamily="2" charset="2"/>
                        <a:buChar char="v"/>
                      </a:pPr>
                      <a:r>
                        <a:rPr lang="en-US" sz="2000" dirty="0">
                          <a:latin typeface="Artifakt Element Black" panose="020B0A03050000020004" pitchFamily="34" charset="0"/>
                          <a:ea typeface="Artifakt Element Black" panose="020B0A03050000020004" pitchFamily="34" charset="0"/>
                        </a:rPr>
                        <a:t>They work in many industries.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6864566"/>
                  </a:ext>
                </a:extLst>
              </a:tr>
              <a:tr h="748217">
                <a:tc>
                  <a:txBody>
                    <a:bodyPr/>
                    <a:lstStyle/>
                    <a:p>
                      <a:pPr marL="342900" indent="-342900">
                        <a:buFont typeface="Wingdings" panose="05000000000000000000" pitchFamily="2" charset="2"/>
                        <a:buChar char="v"/>
                      </a:pPr>
                      <a:r>
                        <a:rPr lang="en-IN" sz="2000" dirty="0">
                          <a:latin typeface="Artifakt Element Black" panose="020B0A03050000020004" pitchFamily="34" charset="0"/>
                          <a:ea typeface="Artifakt Element Black" panose="020B0A03050000020004" pitchFamily="34" charset="0"/>
                        </a:rPr>
                        <a:t>AI will replace programmers.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Font typeface="Wingdings" panose="05000000000000000000" pitchFamily="2" charset="2"/>
                        <a:buChar char="v"/>
                      </a:pPr>
                      <a:r>
                        <a:rPr lang="en-US" sz="2000" dirty="0">
                          <a:latin typeface="Artifakt Element Black" panose="020B0A03050000020004" pitchFamily="34" charset="0"/>
                          <a:ea typeface="Artifakt Element Black" panose="020B0A03050000020004" pitchFamily="34" charset="0"/>
                        </a:rPr>
                        <a:t>AI supports programmers, not replaces them.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2639613"/>
                  </a:ext>
                </a:extLst>
              </a:tr>
              <a:tr h="748217">
                <a:tc>
                  <a:txBody>
                    <a:bodyPr/>
                    <a:lstStyle/>
                    <a:p>
                      <a:pPr marL="342900" indent="-342900">
                        <a:buFont typeface="Wingdings" panose="05000000000000000000" pitchFamily="2" charset="2"/>
                        <a:buChar char="v"/>
                      </a:pPr>
                      <a:r>
                        <a:rPr lang="en-US" sz="2000" dirty="0">
                          <a:latin typeface="Artifakt Element Black" panose="020B0A03050000020004" pitchFamily="34" charset="0"/>
                          <a:ea typeface="Artifakt Element Black" panose="020B0A03050000020004" pitchFamily="34" charset="0"/>
                        </a:rPr>
                        <a:t>CSE does not require mathematics.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Font typeface="Wingdings" panose="05000000000000000000" pitchFamily="2" charset="2"/>
                        <a:buChar char="v"/>
                      </a:pPr>
                      <a:r>
                        <a:rPr lang="en-US" sz="2000" dirty="0">
                          <a:latin typeface="Artifakt Element Black" panose="020B0A03050000020004" pitchFamily="34" charset="0"/>
                          <a:ea typeface="Artifakt Element Black" panose="020B0A03050000020004" pitchFamily="34" charset="0"/>
                        </a:rPr>
                        <a:t>Mathematics is important in CSE.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86552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015257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5807EF3-797B-2EBF-0594-1187399B8460}"/>
              </a:ext>
            </a:extLst>
          </p:cNvPr>
          <p:cNvSpPr txBox="1"/>
          <p:nvPr/>
        </p:nvSpPr>
        <p:spPr>
          <a:xfrm>
            <a:off x="2336800" y="1280160"/>
            <a:ext cx="7955280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>
                <a:latin typeface="Algerian" panose="04020705040A02060702" pitchFamily="82" charset="0"/>
              </a:rPr>
              <a:t>Skills Required for a Computer Science Engineer in the 21st Century</a:t>
            </a:r>
          </a:p>
          <a:p>
            <a:endParaRPr lang="en-IN" sz="2800" dirty="0">
              <a:latin typeface="Algerian" panose="04020705040A02060702" pitchFamily="82" charset="0"/>
            </a:endParaRP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IN" sz="2800" dirty="0"/>
              <a:t>Programming Skills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IN" sz="2800" dirty="0"/>
              <a:t>Problem-Solving Ability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IN" sz="2800" dirty="0"/>
              <a:t>Communication Skills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IN" sz="2800" dirty="0"/>
              <a:t>Teamwork and Collaboration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IN" sz="2800" dirty="0"/>
              <a:t>Critical Thinking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IN" sz="2800" dirty="0"/>
              <a:t>Artificial Intelligence Knowledge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IN" sz="2800" dirty="0"/>
              <a:t>Cybersecurity Awareness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IN" sz="2800" dirty="0"/>
              <a:t>Continuous Learning</a:t>
            </a:r>
          </a:p>
        </p:txBody>
      </p:sp>
    </p:spTree>
    <p:extLst>
      <p:ext uri="{BB962C8B-B14F-4D97-AF65-F5344CB8AC3E}">
        <p14:creationId xmlns:p14="http://schemas.microsoft.com/office/powerpoint/2010/main" val="35692138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yber Security PowerPoint Theme thank you slide - SlideBazaar">
            <a:extLst>
              <a:ext uri="{FF2B5EF4-FFF2-40B4-BE49-F238E27FC236}">
                <a16:creationId xmlns:a16="http://schemas.microsoft.com/office/drawing/2014/main" id="{F3AD0708-DAC0-A890-D2AC-B161868C80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579727571"/>
      </p:ext>
    </p:extLst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TM04033925[[fn=Droplet]]</Template>
  <TotalTime>240</TotalTime>
  <Words>417</Words>
  <Application>Microsoft Office PowerPoint</Application>
  <PresentationFormat>Widescreen</PresentationFormat>
  <Paragraphs>96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Agency FB</vt:lpstr>
      <vt:lpstr>Algerian</vt:lpstr>
      <vt:lpstr>Arial</vt:lpstr>
      <vt:lpstr>Artifakt Element Black</vt:lpstr>
      <vt:lpstr>Tw Cen MT</vt:lpstr>
      <vt:lpstr>Wingdings</vt:lpstr>
      <vt:lpstr>Droplet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Misconception of about computer science engineer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Mahendran R</dc:creator>
  <cp:lastModifiedBy>Mahendran R</cp:lastModifiedBy>
  <cp:revision>2</cp:revision>
  <dcterms:created xsi:type="dcterms:W3CDTF">2026-07-15T15:25:11Z</dcterms:created>
  <dcterms:modified xsi:type="dcterms:W3CDTF">2026-07-15T19:28:04Z</dcterms:modified>
</cp:coreProperties>
</file>