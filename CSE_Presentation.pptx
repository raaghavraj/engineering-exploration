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502920"/>
            <a:ext cx="54864" cy="54864"/>
          </a:xfrm>
          <a:prstGeom prst="ellipse">
            <a:avLst/>
          </a:prstGeom>
          <a:solidFill>
            <a:srgbClr val="3A2760"/>
          </a:solidFill>
          <a:ln/>
        </p:spPr>
      </p:sp>
      <p:sp>
        <p:nvSpPr>
          <p:cNvPr id="3" name="Shape 1"/>
          <p:cNvSpPr/>
          <p:nvPr/>
        </p:nvSpPr>
        <p:spPr>
          <a:xfrm>
            <a:off x="9921240" y="502920"/>
            <a:ext cx="54864" cy="54864"/>
          </a:xfrm>
          <a:prstGeom prst="ellipse">
            <a:avLst/>
          </a:prstGeom>
          <a:solidFill>
            <a:srgbClr val="3A2760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502920"/>
            <a:ext cx="54864" cy="54864"/>
          </a:xfrm>
          <a:prstGeom prst="ellipse">
            <a:avLst/>
          </a:prstGeom>
          <a:solidFill>
            <a:srgbClr val="3A2760"/>
          </a:solidFill>
          <a:ln/>
        </p:spPr>
      </p:sp>
      <p:sp>
        <p:nvSpPr>
          <p:cNvPr id="5" name="Shape 3"/>
          <p:cNvSpPr/>
          <p:nvPr/>
        </p:nvSpPr>
        <p:spPr>
          <a:xfrm>
            <a:off x="9418320" y="1005840"/>
            <a:ext cx="54864" cy="54864"/>
          </a:xfrm>
          <a:prstGeom prst="ellipse">
            <a:avLst/>
          </a:prstGeom>
          <a:solidFill>
            <a:srgbClr val="3A2760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0" y="1005840"/>
            <a:ext cx="54864" cy="54864"/>
          </a:xfrm>
          <a:prstGeom prst="ellipse">
            <a:avLst/>
          </a:prstGeom>
          <a:solidFill>
            <a:srgbClr val="3A2760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0" y="1005840"/>
            <a:ext cx="54864" cy="54864"/>
          </a:xfrm>
          <a:prstGeom prst="ellipse">
            <a:avLst/>
          </a:prstGeom>
          <a:solidFill>
            <a:srgbClr val="3A2760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0" y="1508760"/>
            <a:ext cx="54864" cy="54864"/>
          </a:xfrm>
          <a:prstGeom prst="ellipse">
            <a:avLst/>
          </a:prstGeom>
          <a:solidFill>
            <a:srgbClr val="3A2760"/>
          </a:solidFill>
          <a:ln/>
        </p:spPr>
      </p:sp>
      <p:sp>
        <p:nvSpPr>
          <p:cNvPr id="9" name="Shape 7"/>
          <p:cNvSpPr/>
          <p:nvPr/>
        </p:nvSpPr>
        <p:spPr>
          <a:xfrm>
            <a:off x="9921240" y="1508760"/>
            <a:ext cx="54864" cy="54864"/>
          </a:xfrm>
          <a:prstGeom prst="ellipse">
            <a:avLst/>
          </a:prstGeom>
          <a:solidFill>
            <a:srgbClr val="3A2760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0" y="1508760"/>
            <a:ext cx="54864" cy="54864"/>
          </a:xfrm>
          <a:prstGeom prst="ellipse">
            <a:avLst/>
          </a:prstGeom>
          <a:solidFill>
            <a:srgbClr val="3A2760"/>
          </a:solidFill>
          <a:ln/>
        </p:spPr>
      </p:sp>
      <p:sp>
        <p:nvSpPr>
          <p:cNvPr id="11" name="Shape 9"/>
          <p:cNvSpPr/>
          <p:nvPr/>
        </p:nvSpPr>
        <p:spPr>
          <a:xfrm>
            <a:off x="9052560" y="3291840"/>
            <a:ext cx="2926080" cy="2926080"/>
          </a:xfrm>
          <a:prstGeom prst="ellipse">
            <a:avLst/>
          </a:prstGeom>
          <a:solidFill>
            <a:srgbClr val="24123F"/>
          </a:solidFill>
          <a:ln w="19050">
            <a:solidFill>
              <a:srgbClr val="3521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46920" y="3886200"/>
            <a:ext cx="1737360" cy="173736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13" name="Image 0" descr="/home/claude/ppt/icons/chi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4297680"/>
            <a:ext cx="914400" cy="914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2148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COMPUTER SCIENCE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251460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Engineering and the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the CS Engineer Today</a:t>
            </a:r>
            <a:endParaRPr lang="en-US" sz="4200" dirty="0"/>
          </a:p>
        </p:txBody>
      </p:sp>
      <p:sp>
        <p:nvSpPr>
          <p:cNvPr id="16" name="Text 13"/>
          <p:cNvSpPr/>
          <p:nvPr/>
        </p:nvSpPr>
        <p:spPr>
          <a:xfrm>
            <a:off x="822960" y="4343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6B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foundational definitions to the mindset and skills that define a computer</a:t>
            </a:r>
            <a:endParaRPr lang="en-US" sz="1450" dirty="0"/>
          </a:p>
          <a:p>
            <a:pPr indent="0" marL="0">
              <a:buNone/>
            </a:pPr>
            <a:r>
              <a:rPr lang="en-US" sz="1450" i="1" dirty="0">
                <a:solidFill>
                  <a:srgbClr val="C6B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engineer in the 21st century.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22960" y="4160520"/>
            <a:ext cx="1280160" cy="0"/>
          </a:xfrm>
          <a:prstGeom prst="line">
            <a:avLst/>
          </a:prstGeom>
          <a:noFill/>
          <a:ln w="38100">
            <a:solidFill>
              <a:srgbClr val="FFB8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6035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Engineering?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is the discipline of applying scientific and mathematical principles to design, build, and optimize systems, structures, and processes that solve real-world problems.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Science explains how the world works — Engineering uses that knowledge to create something useful.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37160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76200" dist="25400" dir="5400000">
              <a:srgbClr val="1E1B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0" y="1536192"/>
            <a:ext cx="731520" cy="73152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8" name="Image 0" descr="/home/claude/ppt/icons/solv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3875" y="1726387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52360" y="14813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5236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real, practical problems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0" y="260604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76200" dist="25400" dir="5400000">
              <a:srgbClr val="1E1B2E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770632"/>
            <a:ext cx="731520" cy="73152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13" name="Image 1" descr="/home/claude/ppt/icons/desig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875" y="2960827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27157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452360" y="3063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systems with constraints in mind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0" y="384048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76200" dist="25400" dir="5400000">
              <a:srgbClr val="1E1B2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0" y="4005072"/>
            <a:ext cx="731520" cy="73152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18" name="Image 2" descr="/home/claude/ppt/icons/bui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875" y="4195267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52360" y="39502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452360" y="42976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designs into working solutions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400800" y="507492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76200" dist="25400" dir="5400000">
              <a:srgbClr val="1E1B2E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83680" y="5239512"/>
            <a:ext cx="731520" cy="73152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23" name="Image 3" descr="/home/claude/ppt/icons/optimiz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875" y="5429707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52360" y="51846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452360" y="5532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efficiency, cost, and safety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Science vs. Engineering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4480560"/>
        </p:xfrm>
        <a:graphic>
          <a:graphicData uri="http://schemas.openxmlformats.org/drawingml/2006/table">
            <a:tbl>
              <a:tblPr/>
              <a:tblGrid>
                <a:gridCol w="2377440"/>
                <a:gridCol w="4434840"/>
                <a:gridCol w="443484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Goal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 &amp; explain nature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 problems &amp; build solutions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Driving Question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"Why does this happen?"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"How can I make this work?"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Observation, hypothesis, experiment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Design, prototype, test, iterate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Theories, laws, knowledge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Products, systems, structures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Discovering how electricity flows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Designing a circuit board using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Scientist vs. Engineer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4480560"/>
        </p:xfrm>
        <a:graphic>
          <a:graphicData uri="http://schemas.openxmlformats.org/drawingml/2006/table">
            <a:tbl>
              <a:tblPr/>
              <a:tblGrid>
                <a:gridCol w="2377440"/>
                <a:gridCol w="4434840"/>
                <a:gridCol w="443484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Scientist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of new knowledge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of known knowledge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Timeframe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Long-term, open-ended research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Project-based, deadline-driven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 &amp; accuracy of findings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Functionality, cost &amp; reliability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Researcher, academic, analyst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Developer, architect, designer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physicist studying semiconductors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CS engineer building a processor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MODERN CS ENGINEER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&amp; Wants of a CS Engineer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4C1D95"/>
          </a:solidFill>
          <a:ln w="12700">
            <a:solidFill>
              <a:srgbClr val="E7E1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NEED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128016" cy="128016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1762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programming &amp; problem-solving fundamentals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246120"/>
            <a:ext cx="128016" cy="128016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0906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modern tools, cloud &amp; compute resources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160520"/>
            <a:ext cx="128016" cy="128016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0050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to keep pace with fast-changing tech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5074920"/>
            <a:ext cx="128016" cy="128016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194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&amp; communication skills for cross-team work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WANT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83680" y="2331720"/>
            <a:ext cx="128016" cy="128016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1762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Meaningful, impactful projects to work 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3246120"/>
            <a:ext cx="128016" cy="128016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30906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— remote/hybrid work options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4160520"/>
            <a:ext cx="128016" cy="128016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40050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growth, mentorship &amp; upskilling paths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5074920"/>
            <a:ext cx="128016" cy="128016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49194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freedom to experiment with new ideas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BIGGER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Disciplines of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spans many specialized branches — each applying core principles to a different domain.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1984248"/>
            <a:ext cx="731520" cy="73152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7" name="Image 0" descr="/home/claude/ppt/icons/civi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095" y="2174443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788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construction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78308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29100" y="1984248"/>
            <a:ext cx="731520" cy="73152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12" name="Image 1" descr="/home/claude/ppt/icons/mechanica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295" y="2174443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788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Mechanical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42900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&amp; mechanical systems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35040" y="178308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72300" y="1984248"/>
            <a:ext cx="731520" cy="73152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17" name="Image 2" descr="/home/claude/ppt/icons/electric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2174443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2788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Electrical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17220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electrical systems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778240" y="178308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715500" y="1984248"/>
            <a:ext cx="731520" cy="73152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22" name="Image 3" descr="/home/claude/ppt/icons/chemic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695" y="2174443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869680" y="2788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91540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processes &amp; materials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384048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485900" y="4041648"/>
            <a:ext cx="731520" cy="73152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27" name="Image 4" descr="/home/claude/ppt/icons/computer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095" y="4231843"/>
            <a:ext cx="351130" cy="35113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0080" y="4846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Science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685800" y="5212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E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algorithms &amp; computation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291840" y="384048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229100" y="4041648"/>
            <a:ext cx="731520" cy="73152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32" name="Image 5" descr="/home/claude/ppt/icons/electronic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295" y="4231843"/>
            <a:ext cx="351130" cy="35113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383280" y="4846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&amp; Comm.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3429000" y="5212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Circuits &amp; communication systems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035040" y="384048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972300" y="4041648"/>
            <a:ext cx="731520" cy="73152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37" name="Image 6" descr="/home/claude/ppt/icons/aerospac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2495" y="4231843"/>
            <a:ext cx="351130" cy="35113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126480" y="4846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Aerospace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6172200" y="5212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&amp; spacecraft systems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778240" y="384048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715500" y="4041648"/>
            <a:ext cx="731520" cy="73152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42" name="Image 7" descr="/home/claude/ppt/icons/biomedical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5695" y="4231843"/>
            <a:ext cx="351130" cy="35113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869680" y="4846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Biomedical</a:t>
            </a:r>
            <a:endParaRPr lang="en-US" sz="1350" dirty="0"/>
          </a:p>
        </p:txBody>
      </p:sp>
      <p:sp>
        <p:nvSpPr>
          <p:cNvPr id="44" name="Text 34"/>
          <p:cNvSpPr/>
          <p:nvPr/>
        </p:nvSpPr>
        <p:spPr>
          <a:xfrm>
            <a:off x="8915400" y="5212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medical devices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CROSS-DISCIPLINARY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CSE Mapped to Other Branches — 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109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47088"/>
            <a:ext cx="731520" cy="73152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6" name="Image 0" descr="/home/claude/ppt/icons/civi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037283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7190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Civil + CSE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89320" y="1783080"/>
            <a:ext cx="0" cy="868680"/>
          </a:xfrm>
          <a:prstGeom prst="line">
            <a:avLst/>
          </a:prstGeom>
          <a:noFill/>
          <a:ln w="12700">
            <a:solidFill>
              <a:srgbClr val="E7E1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1719072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cities, Building Information Modeling (BIM), structural simulation software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063240"/>
            <a:ext cx="11109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355848"/>
            <a:ext cx="731520" cy="73152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12" name="Image 1" descr="/home/claude/ppt/icons/mechanica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" y="3546043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32278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Mechanical + CSE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989320" y="3291840"/>
            <a:ext cx="0" cy="868680"/>
          </a:xfrm>
          <a:prstGeom prst="line">
            <a:avLst/>
          </a:prstGeom>
          <a:noFill/>
          <a:ln w="12700">
            <a:solidFill>
              <a:srgbClr val="E7E1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63640" y="3227832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CAD/CAM systems, robotics, digital twins, predictive maintenance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572000"/>
            <a:ext cx="11109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864608"/>
            <a:ext cx="731520" cy="73152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18" name="Image 2" descr="/home/claude/ppt/icons/electric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5054803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47365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Electrical + CSE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989320" y="4800600"/>
            <a:ext cx="0" cy="868680"/>
          </a:xfrm>
          <a:prstGeom prst="line">
            <a:avLst/>
          </a:prstGeom>
          <a:noFill/>
          <a:ln w="12700">
            <a:solidFill>
              <a:srgbClr val="E7E1F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263640" y="4736592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systems, IoT devices, smart-grid software &amp; automation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CROSS-DISCIPLINARY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CSE Mapped to Other Branches — 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109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47088"/>
            <a:ext cx="731520" cy="73152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6" name="Image 0" descr="/home/claude/ppt/icons/biomedic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037283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7190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Biomedical + CSE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89320" y="1783080"/>
            <a:ext cx="0" cy="868680"/>
          </a:xfrm>
          <a:prstGeom prst="line">
            <a:avLst/>
          </a:prstGeom>
          <a:noFill/>
          <a:ln w="12700">
            <a:solidFill>
              <a:srgbClr val="E7E1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1719072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Health-tech platforms, medical imaging AI, wearable diagnostics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063240"/>
            <a:ext cx="11109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355848"/>
            <a:ext cx="731520" cy="73152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12" name="Image 1" descr="/home/claude/ppt/icons/aerospa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" y="3546043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32278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Aerospace + CSE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989320" y="3291840"/>
            <a:ext cx="0" cy="868680"/>
          </a:xfrm>
          <a:prstGeom prst="line">
            <a:avLst/>
          </a:prstGeom>
          <a:noFill/>
          <a:ln w="12700">
            <a:solidFill>
              <a:srgbClr val="E7E1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63640" y="3227832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simulation, avionics software, autonomous navigation systems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572000"/>
            <a:ext cx="11109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864608"/>
            <a:ext cx="731520" cy="73152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18" name="Image 2" descr="/home/claude/ppt/icons/chemic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5054803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47365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 + CSE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989320" y="4800600"/>
            <a:ext cx="0" cy="868680"/>
          </a:xfrm>
          <a:prstGeom prst="line">
            <a:avLst/>
          </a:prstGeom>
          <a:noFill/>
          <a:ln w="12700">
            <a:solidFill>
              <a:srgbClr val="E7E1F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263640" y="4736592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automation, plant monitoring dashboards, materials modeling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increasingly acts as the connective layer across every engineering discipline.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SETTING THE RECORD STRAIGHT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Misconceptions About CS Engineers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4480560"/>
        </p:xfrm>
        <a:graphic>
          <a:graphicData uri="http://schemas.openxmlformats.org/drawingml/2006/table">
            <a:tbl>
              <a:tblPr/>
              <a:tblGrid>
                <a:gridCol w="5029200"/>
                <a:gridCol w="608076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engineers just "code all day"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design systems, solve problems, and collaborate across teams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 be a math genius to succeed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thinking &amp; practice matter more than raw math talent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all about building apps &amp; websites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 spans AI, security, hardware, networks, data &amp; more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you learn a language, you're done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evolves fast — learning never really stops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a solitary, desk-only job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highly collaborative, involving teams, clients &amp; stakeholders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21ST-CENTURY SKILLSET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 for a CS Engineer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94360" cy="59436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6" name="Image 0" descr="/home/claude/ppt/icons/programm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4" y="18004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&amp; Data Structures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fundamentals in at least one language, algorithms &amp; problem-solving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14630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1645920"/>
            <a:ext cx="594360" cy="59436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11" name="Image 1" descr="/home/claude/ppt/icons/ai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094" y="18004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Machine Learning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8056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ML concepts, model building &amp; data-driven thinking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46720" y="14630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1645920"/>
            <a:ext cx="594360" cy="59436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16" name="Image 2" descr="/home/claude/ppt/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134" y="18004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2960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&amp; scaling applications on AWS, Azure or GCP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611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794760"/>
            <a:ext cx="594360" cy="59436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21" name="Image 3" descr="/home/claude/ppt/icons/securit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54" y="394929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Awareness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31520" y="4892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 practices &amp; understanding of common vulnerabilities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97680" y="3611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80560" y="3794760"/>
            <a:ext cx="594360" cy="59436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26" name="Image 4" descr="/home/claude/ppt/icons/data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094" y="394929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 &amp; Databases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480560" y="4892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SQL/NoSQL databases and interpreting data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46720" y="3611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29600" y="3794760"/>
            <a:ext cx="594360" cy="59436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31" name="Image 5" descr="/home/claude/ppt/icons/devop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4134" y="394929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2960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&amp; Version Control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29600" y="4892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CI/CD pipelines &amp; collaborative development workflows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21ST-CENTURY SKILLSET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Non-Technical Skills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94360" cy="59436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6" name="Image 0" descr="/home/claude/ppt/icons/comm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4" y="18004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complex ideas clearly to technical &amp; non-technical audiences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14630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1645920"/>
            <a:ext cx="594360" cy="59436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11" name="Image 1" descr="/home/claude/ppt/icons/teamwork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094" y="18004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Teamwork &amp; Collaboration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8056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effectively across cross-functional &amp; distributed teams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46720" y="14630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1645920"/>
            <a:ext cx="594360" cy="59436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16" name="Image 2" descr="/home/claude/ppt/icons/adapt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134" y="18004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Adaptability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2960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comfortable with rapidly changing tools &amp; requirements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611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794760"/>
            <a:ext cx="594360" cy="59436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21" name="Image 3" descr="/home/claude/ppt/icons/ethics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54" y="394929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&amp; Responsibility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31520" y="4892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technology that is fair, secure &amp; privacy-conscious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97680" y="3611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80560" y="3794760"/>
            <a:ext cx="594360" cy="59436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26" name="Image 4" descr="/home/claude/ppt/icons/time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094" y="394929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&amp; Project Management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480560" y="4892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Prioritizing tasks &amp; delivering under real-world deadlines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46720" y="3611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29600" y="3794760"/>
            <a:ext cx="594360" cy="59436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31" name="Image 5" descr="/home/claude/ppt/icons/critical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4134" y="394929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2960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Thinking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29600" y="4892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down ambiguous problems into solvable pieces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REAL-WORLD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UPI's Digital Payments Backbone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Payments Interface (UPI), launched by the National Payments Corporation of India (NPCI) in April 2016, shows CS engineering at national scale: a real-time payment system built on distributed systems, secure APIs, and high-availability architecture that lets any bank account instantly transact with any other.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case study in what CSE actually delivers: scalable back-end architecture, fraud detection &amp; security, and interoperability across hundreds of banks and apps — turning core engineering skills into everyday public infrastructure.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892040"/>
            <a:ext cx="5669280" cy="868680"/>
          </a:xfrm>
          <a:prstGeom prst="roundRect">
            <a:avLst>
              <a:gd name="adj" fmla="val 8421"/>
            </a:avLst>
          </a:prstGeom>
          <a:solidFill>
            <a:srgbClr val="24123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8920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D8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by the IMF as the world's largest real-time retail payments system by transaction volume.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92240" y="1417320"/>
            <a:ext cx="250088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417320"/>
            <a:ext cx="73152" cy="117043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527048"/>
            <a:ext cx="2089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23.2B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720840" y="1984248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in May 2026 — a single-month record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76004" y="1417320"/>
            <a:ext cx="250088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76004" y="1417320"/>
            <a:ext cx="73152" cy="117043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4" name="Text 12"/>
          <p:cNvSpPr/>
          <p:nvPr/>
        </p:nvSpPr>
        <p:spPr>
          <a:xfrm>
            <a:off x="9404604" y="1527048"/>
            <a:ext cx="2089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₹29.9L Cr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404604" y="1984248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processed that month (~US$312B)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2752344"/>
            <a:ext cx="250088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2752344"/>
            <a:ext cx="73152" cy="117043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2862072"/>
            <a:ext cx="2089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700M+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720840" y="3319272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transactions processed every single day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76004" y="2752344"/>
            <a:ext cx="250088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63500" dist="25400" dir="5400000">
              <a:srgbClr val="1E1B2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76004" y="2752344"/>
            <a:ext cx="73152" cy="117043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2" name="Text 20"/>
          <p:cNvSpPr/>
          <p:nvPr/>
        </p:nvSpPr>
        <p:spPr>
          <a:xfrm>
            <a:off x="9404604" y="2862072"/>
            <a:ext cx="2089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404604" y="3319272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where UPI now operates beyond India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4087368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4C1D95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251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for CSE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4636008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~373 transactions in its first month (2016) to over 23 billion a month today — proof that solid engineering fundamentals (scalability, security, uptime) can transform an entire economy.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C1D9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49047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applies scientific knowledge to build practical, real-world solutions.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C1D9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26771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asks "why"; Engineering asks "how can I build it."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C1D9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04495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Engineering today connects with almost every other engineering branch.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C1D9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82219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like UPI show how CSE fundamentals scale to national impact.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C1D9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59943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requires both strong technical depth and well-rounded soft skills.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5394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C1D9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537667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is non-negotiable in a fast-evolving tech landscape.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0"/>
            <a:ext cx="73152" cy="73152"/>
          </a:xfrm>
          <a:prstGeom prst="ellipse">
            <a:avLst/>
          </a:prstGeom>
          <a:solidFill>
            <a:srgbClr val="3A2760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5486400"/>
            <a:ext cx="73152" cy="73152"/>
          </a:xfrm>
          <a:prstGeom prst="ellipse">
            <a:avLst/>
          </a:prstGeom>
          <a:solidFill>
            <a:srgbClr val="3A2760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0" y="5486400"/>
            <a:ext cx="73152" cy="73152"/>
          </a:xfrm>
          <a:prstGeom prst="ellipse">
            <a:avLst/>
          </a:prstGeom>
          <a:solidFill>
            <a:srgbClr val="3A27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852160"/>
            <a:ext cx="73152" cy="73152"/>
          </a:xfrm>
          <a:prstGeom prst="ellipse">
            <a:avLst/>
          </a:prstGeom>
          <a:solidFill>
            <a:srgbClr val="3A2760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5852160"/>
            <a:ext cx="73152" cy="73152"/>
          </a:xfrm>
          <a:prstGeom prst="ellipse">
            <a:avLst/>
          </a:prstGeom>
          <a:solidFill>
            <a:srgbClr val="3A2760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852160"/>
            <a:ext cx="73152" cy="73152"/>
          </a:xfrm>
          <a:prstGeom prst="ellipse">
            <a:avLst/>
          </a:prstGeom>
          <a:solidFill>
            <a:srgbClr val="3A2760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0" y="640080"/>
            <a:ext cx="2377440" cy="2377440"/>
          </a:xfrm>
          <a:prstGeom prst="ellipse">
            <a:avLst/>
          </a:prstGeom>
          <a:solidFill>
            <a:srgbClr val="24123F"/>
          </a:solidFill>
          <a:ln w="19050">
            <a:solidFill>
              <a:srgbClr val="3521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0" y="1097280"/>
            <a:ext cx="1463040" cy="146304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10" name="Image 0" descr="/home/claude/ppt/icons/circuit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1417320"/>
            <a:ext cx="822960" cy="822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2651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3017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000" dirty="0"/>
          </a:p>
        </p:txBody>
      </p:sp>
      <p:sp>
        <p:nvSpPr>
          <p:cNvPr id="13" name="Shape 10"/>
          <p:cNvSpPr/>
          <p:nvPr/>
        </p:nvSpPr>
        <p:spPr>
          <a:xfrm>
            <a:off x="822960" y="3931920"/>
            <a:ext cx="1280160" cy="0"/>
          </a:xfrm>
          <a:prstGeom prst="line">
            <a:avLst/>
          </a:prstGeom>
          <a:noFill/>
          <a:ln w="38100">
            <a:solidFill>
              <a:srgbClr val="FFB8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B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Engineering, Computer Science &amp; the Future of Technology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2026-07-15T15:49:06Z</dcterms:created>
  <dcterms:modified xsi:type="dcterms:W3CDTF">2026-07-15T15:49:06Z</dcterms:modified>
</cp:coreProperties>
</file>