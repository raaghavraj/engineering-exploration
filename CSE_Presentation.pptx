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notesMaster" Target="notesMasters/notesMaster1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tableStyles" Target="tableStyles.xml" /><Relationship Id="rId2" Type="http://schemas.openxmlformats.org/officeDocument/2006/relationships/slide" Target="slides/slide1.xml" /><Relationship Id="rId1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5" Type="http://schemas.openxmlformats.org/officeDocument/2006/relationships/viewProps" Target="viewProps.xml" /><Relationship Id="rId10" Type="http://schemas.openxmlformats.org/officeDocument/2006/relationships/slide" Target="slides/slide9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1FCC08-55AE-FD45-AA72-383171466C60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7AACFB-F794-FC4F-9933-D8EDF3BC26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917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 /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 /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Relationship Id="rId5" Type="http://schemas.openxmlformats.org/officeDocument/2006/relationships/image" Target="../media/image4.png" /><Relationship Id="rId4" Type="http://schemas.openxmlformats.org/officeDocument/2006/relationships/image" Target="../media/image3.png" 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 /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Relationship Id="rId4" Type="http://schemas.openxmlformats.org/officeDocument/2006/relationships/image" Target="../media/image3.png" 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 /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Relationship Id="rId4" Type="http://schemas.openxmlformats.org/officeDocument/2006/relationships/image" Target="../media/image3.png" 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 /><Relationship Id="rId3" Type="http://schemas.openxmlformats.org/officeDocument/2006/relationships/image" Target="../media/image6.png" /><Relationship Id="rId7" Type="http://schemas.openxmlformats.org/officeDocument/2006/relationships/image" Target="../media/image10.png" /><Relationship Id="rId12" Type="http://schemas.openxmlformats.org/officeDocument/2006/relationships/image" Target="../media/image14.png" /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Relationship Id="rId6" Type="http://schemas.openxmlformats.org/officeDocument/2006/relationships/image" Target="../media/image9.png" /><Relationship Id="rId11" Type="http://schemas.openxmlformats.org/officeDocument/2006/relationships/image" Target="../media/image4.png" /><Relationship Id="rId5" Type="http://schemas.openxmlformats.org/officeDocument/2006/relationships/image" Target="../media/image8.png" /><Relationship Id="rId10" Type="http://schemas.openxmlformats.org/officeDocument/2006/relationships/image" Target="../media/image13.png" /><Relationship Id="rId4" Type="http://schemas.openxmlformats.org/officeDocument/2006/relationships/image" Target="../media/image7.png" /><Relationship Id="rId9" Type="http://schemas.openxmlformats.org/officeDocument/2006/relationships/image" Target="../media/image12.png" 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 /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 /><Relationship Id="rId3" Type="http://schemas.openxmlformats.org/officeDocument/2006/relationships/image" Target="../media/image16.png" /><Relationship Id="rId7" Type="http://schemas.openxmlformats.org/officeDocument/2006/relationships/image" Target="../media/image7.png" /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Relationship Id="rId6" Type="http://schemas.openxmlformats.org/officeDocument/2006/relationships/image" Target="../media/image6.png" /><Relationship Id="rId5" Type="http://schemas.openxmlformats.org/officeDocument/2006/relationships/image" Target="../media/image9.png" /><Relationship Id="rId10" Type="http://schemas.openxmlformats.org/officeDocument/2006/relationships/image" Target="../media/image4.png" /><Relationship Id="rId4" Type="http://schemas.openxmlformats.org/officeDocument/2006/relationships/image" Target="../media/image13.png" /><Relationship Id="rId9" Type="http://schemas.openxmlformats.org/officeDocument/2006/relationships/image" Target="../media/image17.png" 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 /><Relationship Id="rId3" Type="http://schemas.openxmlformats.org/officeDocument/2006/relationships/image" Target="../media/image1.png" /><Relationship Id="rId7" Type="http://schemas.openxmlformats.org/officeDocument/2006/relationships/image" Target="../media/image20.png" /><Relationship Id="rId2" Type="http://schemas.openxmlformats.org/officeDocument/2006/relationships/notesSlide" Target="../notesSlides/notesSlide8.xml" /><Relationship Id="rId1" Type="http://schemas.openxmlformats.org/officeDocument/2006/relationships/slideLayout" Target="../slideLayouts/slideLayout1.xml" /><Relationship Id="rId6" Type="http://schemas.openxmlformats.org/officeDocument/2006/relationships/image" Target="../media/image19.png" /><Relationship Id="rId5" Type="http://schemas.openxmlformats.org/officeDocument/2006/relationships/image" Target="../media/image3.png" /><Relationship Id="rId10" Type="http://schemas.openxmlformats.org/officeDocument/2006/relationships/image" Target="../media/image23.png" /><Relationship Id="rId4" Type="http://schemas.openxmlformats.org/officeDocument/2006/relationships/image" Target="../media/image18.png" /><Relationship Id="rId9" Type="http://schemas.openxmlformats.org/officeDocument/2006/relationships/image" Target="../media/image22.png" 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 /><Relationship Id="rId7" Type="http://schemas.openxmlformats.org/officeDocument/2006/relationships/image" Target="../media/image21.png" /><Relationship Id="rId2" Type="http://schemas.openxmlformats.org/officeDocument/2006/relationships/notesSlide" Target="../notesSlides/notesSlide9.xml" /><Relationship Id="rId1" Type="http://schemas.openxmlformats.org/officeDocument/2006/relationships/slideLayout" Target="../slideLayouts/slideLayout1.xml" /><Relationship Id="rId6" Type="http://schemas.openxmlformats.org/officeDocument/2006/relationships/image" Target="../media/image23.png" /><Relationship Id="rId5" Type="http://schemas.openxmlformats.org/officeDocument/2006/relationships/image" Target="../media/image19.png" /><Relationship Id="rId4" Type="http://schemas.openxmlformats.org/officeDocument/2006/relationships/image" Target="../media/image3.png" 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 /><Relationship Id="rId3" Type="http://schemas.openxmlformats.org/officeDocument/2006/relationships/image" Target="../media/image21.png" /><Relationship Id="rId7" Type="http://schemas.openxmlformats.org/officeDocument/2006/relationships/image" Target="../media/image19.png" /><Relationship Id="rId2" Type="http://schemas.openxmlformats.org/officeDocument/2006/relationships/notesSlide" Target="../notesSlides/notesSlide10.xml" /><Relationship Id="rId1" Type="http://schemas.openxmlformats.org/officeDocument/2006/relationships/slideLayout" Target="../slideLayouts/slideLayout1.xml" /><Relationship Id="rId6" Type="http://schemas.openxmlformats.org/officeDocument/2006/relationships/image" Target="../media/image3.png" /><Relationship Id="rId5" Type="http://schemas.openxmlformats.org/officeDocument/2006/relationships/image" Target="../media/image18.png" /><Relationship Id="rId4" Type="http://schemas.openxmlformats.org/officeDocument/2006/relationships/image" Target="../media/image1.png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 /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13294B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389120"/>
            <a:ext cx="2926080" cy="2926080"/>
          </a:xfrm>
          <a:prstGeom prst="ellipse">
            <a:avLst/>
          </a:prstGeom>
          <a:solidFill>
            <a:srgbClr val="13294B"/>
          </a:solidFill>
          <a:ln/>
        </p:spPr>
      </p:sp>
      <p:pic>
        <p:nvPicPr>
          <p:cNvPr id="4" name="Image 0" descr="/home/claude/cse_ppt/icons/microchip.png"/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11430000" y="50292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331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31520" y="265176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Engineering, Explained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engineering really is, how CSE fits among the branches, and the skills that define it in the 21st century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4572000"/>
            <a:ext cx="1280160" cy="0"/>
          </a:xfrm>
          <a:prstGeom prst="line">
            <a:avLst/>
          </a:prstGeom>
          <a:noFill/>
          <a:ln w="38100">
            <a:solidFill>
              <a:srgbClr val="00C2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Engineering?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of scientific and mathematical principles to design, build, and improve solutions for real-world problems.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429000" cy="246888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/>
          <a:effectLst>
            <a:outerShdw blurRad="101600" dist="38100" dir="5400000" algn="bl" rotWithShape="0">
              <a:srgbClr val="9AA5B1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743200"/>
            <a:ext cx="685800" cy="68580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7" name="Image 0" descr="/home/claude/cse_ppt/icons/puzz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2898648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6118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Problem-Solving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400507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with a human need or constraint, not curiosity alone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2468880"/>
            <a:ext cx="3429000" cy="246888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/>
          <a:effectLst>
            <a:outerShdw blurRad="101600" dist="38100" dir="5400000" algn="bl" rotWithShape="0">
              <a:srgbClr val="9AA5B1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2743200"/>
            <a:ext cx="685800" cy="68580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12" name="Image 1" descr="/home/claude/cse_ppt/icons/too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289864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72000" y="36118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&amp; Build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572000" y="400507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theory into working systems, structures, and products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46720" y="2468880"/>
            <a:ext cx="3429000" cy="246888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/>
          <a:effectLst>
            <a:outerShdw blurRad="101600" dist="38100" dir="5400000" algn="bl" rotWithShape="0">
              <a:srgbClr val="9AA5B1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21040" y="2743200"/>
            <a:ext cx="685800" cy="68580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17" name="Image 2" descr="/home/claude/cse_ppt/icons/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488" y="2898648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21040" y="36118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Optimization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321040" y="400507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cost, safety, performance, and time within limits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0B1F3A"/>
          </a:solidFill>
          <a:ln/>
        </p:spPr>
      </p:sp>
      <p:sp>
        <p:nvSpPr>
          <p:cNvPr id="21" name="Text 16"/>
          <p:cNvSpPr/>
          <p:nvPr/>
        </p:nvSpPr>
        <p:spPr>
          <a:xfrm>
            <a:off x="868680" y="5212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short: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asks "why does this happen?" — Engineering asks "how can I use this to build something useful?"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Science vs. Engineering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03520" cy="4480560"/>
          </a:xfrm>
          <a:prstGeom prst="roundRect">
            <a:avLst>
              <a:gd name="adj" fmla="val 2449"/>
            </a:avLst>
          </a:prstGeom>
          <a:solidFill>
            <a:srgbClr val="EA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57400"/>
            <a:ext cx="640080" cy="64008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6" name="Image 0" descr="/home/claude/cse_ppt/icons/fl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1945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Science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68680" y="3044952"/>
            <a:ext cx="91440" cy="91440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9" name="Text 6"/>
          <p:cNvSpPr/>
          <p:nvPr/>
        </p:nvSpPr>
        <p:spPr>
          <a:xfrm>
            <a:off x="1143000" y="2898648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Seeks to understand and explain natural phenomena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68680" y="3703320"/>
            <a:ext cx="91440" cy="91440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11" name="Text 8"/>
          <p:cNvSpPr/>
          <p:nvPr/>
        </p:nvSpPr>
        <p:spPr>
          <a:xfrm>
            <a:off x="1143000" y="3557016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curiosity and discovery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8680" y="4361688"/>
            <a:ext cx="91440" cy="91440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13" name="Text 10"/>
          <p:cNvSpPr/>
          <p:nvPr/>
        </p:nvSpPr>
        <p:spPr>
          <a:xfrm>
            <a:off x="1143000" y="4215384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knowledge — theories, laws, and models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68680" y="5020056"/>
            <a:ext cx="91440" cy="91440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" y="4873752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observation, hypothesis, experiment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68680" y="5678424"/>
            <a:ext cx="91440" cy="91440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17" name="Text 14"/>
          <p:cNvSpPr/>
          <p:nvPr/>
        </p:nvSpPr>
        <p:spPr>
          <a:xfrm>
            <a:off x="1143000" y="55321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= truth that matches reality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09360" y="1737360"/>
            <a:ext cx="5303520" cy="4480560"/>
          </a:xfrm>
          <a:prstGeom prst="roundRect">
            <a:avLst>
              <a:gd name="adj" fmla="val 2449"/>
            </a:avLst>
          </a:prstGeom>
          <a:solidFill>
            <a:srgbClr val="0B1F3A"/>
          </a:solidFill>
          <a:ln/>
        </p:spPr>
      </p:sp>
      <p:sp>
        <p:nvSpPr>
          <p:cNvPr id="19" name="Shape 16"/>
          <p:cNvSpPr/>
          <p:nvPr/>
        </p:nvSpPr>
        <p:spPr>
          <a:xfrm>
            <a:off x="6629400" y="2057400"/>
            <a:ext cx="640080" cy="64008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20" name="Image 1" descr="/home/claude/cse_ppt/icons/tools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2194560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452360" y="20574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6629400" y="3044952"/>
            <a:ext cx="91440" cy="91440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23" name="Text 19"/>
          <p:cNvSpPr/>
          <p:nvPr/>
        </p:nvSpPr>
        <p:spPr>
          <a:xfrm>
            <a:off x="6903720" y="2898648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D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known science to design practical solutions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629400" y="3703320"/>
            <a:ext cx="91440" cy="91440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25" name="Text 21"/>
          <p:cNvSpPr/>
          <p:nvPr/>
        </p:nvSpPr>
        <p:spPr>
          <a:xfrm>
            <a:off x="6903720" y="3557016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D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need, constraint, and purpose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629400" y="4361688"/>
            <a:ext cx="91440" cy="91440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27" name="Text 23"/>
          <p:cNvSpPr/>
          <p:nvPr/>
        </p:nvSpPr>
        <p:spPr>
          <a:xfrm>
            <a:off x="6903720" y="4215384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D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working products — systems, tools, structures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629400" y="5020056"/>
            <a:ext cx="91440" cy="91440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29" name="Text 25"/>
          <p:cNvSpPr/>
          <p:nvPr/>
        </p:nvSpPr>
        <p:spPr>
          <a:xfrm>
            <a:off x="6903720" y="4873752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D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design, prototype, test, iterate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629400" y="5678424"/>
            <a:ext cx="91440" cy="91440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31" name="Text 27"/>
          <p:cNvSpPr/>
          <p:nvPr/>
        </p:nvSpPr>
        <p:spPr>
          <a:xfrm>
            <a:off x="6903720" y="55321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D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= a solution that works reliably, safely, affordably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Scientist vs. Engineer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91840" y="1737360"/>
            <a:ext cx="4434840" cy="594360"/>
          </a:xfrm>
          <a:prstGeom prst="roundRect">
            <a:avLst>
              <a:gd name="adj" fmla="val 12308"/>
            </a:avLst>
          </a:prstGeom>
          <a:solidFill>
            <a:srgbClr val="0B1F3A"/>
          </a:solidFill>
          <a:ln/>
        </p:spPr>
      </p:sp>
      <p:pic>
        <p:nvPicPr>
          <p:cNvPr id="5" name="Image 0" descr="/home/claude/cse_ppt/icons/flask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856232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31920" y="1737360"/>
            <a:ext cx="3703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Scientist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818120" y="1737360"/>
            <a:ext cx="4434840" cy="594360"/>
          </a:xfrm>
          <a:prstGeom prst="roundRect">
            <a:avLst>
              <a:gd name="adj" fmla="val 12308"/>
            </a:avLst>
          </a:prstGeom>
          <a:solidFill>
            <a:srgbClr val="00C2CB"/>
          </a:solidFill>
          <a:ln/>
        </p:spPr>
      </p:sp>
      <p:pic>
        <p:nvPicPr>
          <p:cNvPr id="8" name="Image 1" descr="/home/claude/cse_ppt/icons/tools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856232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58200" y="1737360"/>
            <a:ext cx="3703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2468880"/>
            <a:ext cx="11064240" cy="777240"/>
          </a:xfrm>
          <a:prstGeom prst="rect">
            <a:avLst/>
          </a:prstGeom>
          <a:solidFill>
            <a:srgbClr val="EAF1FB"/>
          </a:solidFill>
          <a:ln/>
        </p:spPr>
      </p:sp>
      <p:sp>
        <p:nvSpPr>
          <p:cNvPr id="11" name="Text 7"/>
          <p:cNvSpPr/>
          <p:nvPr/>
        </p:nvSpPr>
        <p:spPr>
          <a:xfrm>
            <a:off x="685800" y="246888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question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474720" y="246888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this happen?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001000" y="246888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I build this?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85800" y="324612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474720" y="324612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Discovery-driven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001000" y="324612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Solution-driven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48640" y="4023360"/>
            <a:ext cx="11064240" cy="777240"/>
          </a:xfrm>
          <a:prstGeom prst="rect">
            <a:avLst/>
          </a:prstGeom>
          <a:solidFill>
            <a:srgbClr val="EAF1FB"/>
          </a:solidFill>
          <a:ln/>
        </p:spPr>
      </p:sp>
      <p:sp>
        <p:nvSpPr>
          <p:cNvPr id="18" name="Text 14"/>
          <p:cNvSpPr/>
          <p:nvPr/>
        </p:nvSpPr>
        <p:spPr>
          <a:xfrm>
            <a:off x="685800" y="402336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3474720" y="402336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Papers, theories, data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8001000" y="402336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systems, prototypes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685800" y="48006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Timeframe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474720" y="48006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Open-ended exploration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8001000" y="48006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by deadlines &amp; budgets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solidFill>
            <a:srgbClr val="EAF1FB"/>
          </a:solidFill>
          <a:ln/>
        </p:spPr>
      </p:sp>
      <p:sp>
        <p:nvSpPr>
          <p:cNvPr id="25" name="Text 21"/>
          <p:cNvSpPr/>
          <p:nvPr/>
        </p:nvSpPr>
        <p:spPr>
          <a:xfrm>
            <a:off x="685800" y="55778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of success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3474720" y="557784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true?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8001000" y="557784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work, safely and affordably?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CS IN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&amp; Wants of CS in Today's World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03520" cy="4480560"/>
          </a:xfrm>
          <a:prstGeom prst="roundRect">
            <a:avLst>
              <a:gd name="adj" fmla="val 2449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011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B9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society genuinely requires from computing</a:t>
            </a:r>
            <a:endParaRPr lang="en-US" sz="1150" dirty="0"/>
          </a:p>
        </p:txBody>
      </p:sp>
      <p:pic>
        <p:nvPicPr>
          <p:cNvPr id="7" name="Image 0" descr="/home/claude/cse_ppt/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063240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2944368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&amp; data privacy at scale</a:t>
            </a:r>
            <a:endParaRPr lang="en-US" sz="1250" dirty="0"/>
          </a:p>
        </p:txBody>
      </p:sp>
      <p:pic>
        <p:nvPicPr>
          <p:cNvPr id="9" name="Image 1" descr="/home/claude/cse_ppt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685032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56616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systems for healthcare, finance, governance</a:t>
            </a:r>
            <a:endParaRPr lang="en-US" sz="1250" dirty="0"/>
          </a:p>
        </p:txBody>
      </p:sp>
      <p:pic>
        <p:nvPicPr>
          <p:cNvPr id="11" name="Image 2" descr="/home/claude/cse_ppt/icons/netwo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06824"/>
            <a:ext cx="310896" cy="31089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1600" y="418795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access &amp; infrastructure for all regions</a:t>
            </a:r>
            <a:endParaRPr lang="en-US" sz="1250" dirty="0"/>
          </a:p>
        </p:txBody>
      </p:sp>
      <p:pic>
        <p:nvPicPr>
          <p:cNvPr id="13" name="Image 3" descr="/home/claude/cse_ppt/icons/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928616"/>
            <a:ext cx="310896" cy="31089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4809744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Responsible, explainable AI</a:t>
            </a:r>
            <a:endParaRPr lang="en-US" sz="1250" dirty="0"/>
          </a:p>
        </p:txBody>
      </p:sp>
      <p:pic>
        <p:nvPicPr>
          <p:cNvPr id="15" name="Image 4" descr="/home/claude/cse_ppt/icons/gr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550408"/>
            <a:ext cx="310896" cy="31089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371600" y="5431536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skilled, adaptable tech workforce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6309360" y="1737360"/>
            <a:ext cx="5303520" cy="4480560"/>
          </a:xfrm>
          <a:prstGeom prst="roundRect">
            <a:avLst>
              <a:gd name="adj" fmla="val 2449"/>
            </a:avLst>
          </a:prstGeom>
          <a:solidFill>
            <a:srgbClr val="EAF1FB"/>
          </a:solidFill>
          <a:ln/>
        </p:spPr>
      </p:sp>
      <p:sp>
        <p:nvSpPr>
          <p:cNvPr id="18" name="Text 11"/>
          <p:cNvSpPr/>
          <p:nvPr/>
        </p:nvSpPr>
        <p:spPr>
          <a:xfrm>
            <a:off x="6675120" y="2011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6675120" y="24231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users and industry are chasing</a:t>
            </a:r>
            <a:endParaRPr lang="en-US" sz="1150" dirty="0"/>
          </a:p>
        </p:txBody>
      </p:sp>
      <p:pic>
        <p:nvPicPr>
          <p:cNvPr id="20" name="Image 5" descr="/home/claude/cse_ppt/icons/robo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3063240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2944368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automation and generative AI tools</a:t>
            </a:r>
            <a:endParaRPr lang="en-US" sz="1250" dirty="0"/>
          </a:p>
        </p:txBody>
      </p:sp>
      <p:pic>
        <p:nvPicPr>
          <p:cNvPr id="22" name="Image 6" descr="/home/claude/cse_ppt/icons/mobi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685032"/>
            <a:ext cx="310896" cy="310896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32320" y="356616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Seamless, instant digital experiences</a:t>
            </a:r>
            <a:endParaRPr lang="en-US" sz="1250" dirty="0"/>
          </a:p>
        </p:txBody>
      </p:sp>
      <p:pic>
        <p:nvPicPr>
          <p:cNvPr id="24" name="Image 7" descr="/home/claude/cse_ppt/icons/clou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75120" y="4306824"/>
            <a:ext cx="310896" cy="310896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132320" y="418795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cloud &amp; edge computing</a:t>
            </a:r>
            <a:endParaRPr lang="en-US" sz="1250" dirty="0"/>
          </a:p>
        </p:txBody>
      </p:sp>
      <p:pic>
        <p:nvPicPr>
          <p:cNvPr id="26" name="Image 8" descr="/home/claude/cse_ppt/icons/char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75120" y="4928616"/>
            <a:ext cx="310896" cy="310896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7132320" y="4809744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products, shorter release cycles</a:t>
            </a:r>
            <a:endParaRPr lang="en-US" sz="1250" dirty="0"/>
          </a:p>
        </p:txBody>
      </p:sp>
      <p:pic>
        <p:nvPicPr>
          <p:cNvPr id="28" name="Image 9" descr="/home/claude/cse_ppt/icons/bul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75120" y="5550408"/>
            <a:ext cx="310896" cy="310896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7132320" y="5431536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Novel, disruptive ideas and startups</a:t>
            </a:r>
            <a:endParaRPr lang="en-US" sz="1250" dirty="0"/>
          </a:p>
        </p:txBody>
      </p:sp>
      <p:sp>
        <p:nvSpPr>
          <p:cNvPr id="30" name="Text 18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19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PERCEPTION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Misconceptions About CSE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EAF1FB"/>
          </a:solidFill>
          <a:ln/>
        </p:spPr>
      </p:sp>
      <p:pic>
        <p:nvPicPr>
          <p:cNvPr id="5" name="Image 0" descr="/home/claude/cse_ppt/icons/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38528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70432" y="19019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77240" y="22128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CSE is only about coding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257860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is a tool — the discipline covers systems design, algorithms, security, hardware interfaces, and problem-solving.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63640" y="173736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EAF1FB"/>
          </a:solidFill>
          <a:ln/>
        </p:spPr>
      </p:sp>
      <p:pic>
        <p:nvPicPr>
          <p:cNvPr id="10" name="Image 1" descr="/home/claude/cse_ppt/icons/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93852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85432" y="19019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492240" y="22128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must be a "genius" or math prodigy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logical thinking helps, but consistency, curiosity, and practice matter more than raw genius.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33756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EAF1FB"/>
          </a:solidFill>
          <a:ln/>
        </p:spPr>
      </p:sp>
      <p:pic>
        <p:nvPicPr>
          <p:cNvPr id="15" name="Image 2" descr="/home/claude/cse_ppt/icons/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38728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70432" y="35021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77240" y="3813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language or framework is enough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777240" y="417880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change every few years; the durable skill is learning to learn new stacks quickly.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63640" y="333756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EAF1FB"/>
          </a:solidFill>
          <a:ln/>
        </p:spPr>
      </p:sp>
      <p:pic>
        <p:nvPicPr>
          <p:cNvPr id="20" name="Image 3" descr="/home/claude/cse_ppt/icons/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538728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885432" y="35021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492240" y="3813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CSE work is solitary, screen-only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492240" y="417880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 projects involve teams, client communication, and cross-discipline collaboration.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493776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EAF1FB"/>
          </a:solidFill>
          <a:ln/>
        </p:spPr>
      </p:sp>
      <p:pic>
        <p:nvPicPr>
          <p:cNvPr id="25" name="Image 4" descr="/home/claude/cse_ppt/icons/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138928"/>
            <a:ext cx="292608" cy="29260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170432" y="51023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777240" y="54132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CS degree guarantees a job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777240" y="577900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Employability depends on applied skills, projects, and adaptability — not the degree alone.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263640" y="493776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EAF1FB"/>
          </a:solidFill>
          <a:ln/>
        </p:spPr>
      </p:sp>
      <p:pic>
        <p:nvPicPr>
          <p:cNvPr id="30" name="Image 5" descr="/home/claude/cse_ppt/icons/t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5138928"/>
            <a:ext cx="292608" cy="29260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85432" y="51023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32" name="Text 24"/>
          <p:cNvSpPr/>
          <p:nvPr/>
        </p:nvSpPr>
        <p:spPr>
          <a:xfrm>
            <a:off x="6492240" y="54132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will make CSE careers obsolete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6492240" y="577900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reshaping the work, but demand is shifting toward AI-literate engineers, not disappearing.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CAPABILITY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for 21st-Century CSE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13294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6" name="Image 0" descr="/home/claude/cse_ppt/icons/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2093976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65176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Programming &amp; DSA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30632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across languages, strong data structures &amp; algorithms base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55848" y="173736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13294B"/>
          </a:solidFill>
          <a:ln/>
        </p:spPr>
      </p:sp>
      <p:sp>
        <p:nvSpPr>
          <p:cNvPr id="10" name="Shape 7"/>
          <p:cNvSpPr/>
          <p:nvPr/>
        </p:nvSpPr>
        <p:spPr>
          <a:xfrm>
            <a:off x="3584448" y="1965960"/>
            <a:ext cx="548640" cy="54864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11" name="Image 1" descr="/home/claude/cse_ppt/icons/clo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464" y="2093976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84448" y="265176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&amp; DevOps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584448" y="30632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scaling, CI/CD, containers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63056" y="173736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13294B"/>
          </a:solidFill>
          <a:ln/>
        </p:spPr>
      </p:sp>
      <p:sp>
        <p:nvSpPr>
          <p:cNvPr id="15" name="Shape 11"/>
          <p:cNvSpPr/>
          <p:nvPr/>
        </p:nvSpPr>
        <p:spPr>
          <a:xfrm>
            <a:off x="6391656" y="1965960"/>
            <a:ext cx="548640" cy="54864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16" name="Image 2" descr="/home/claude/cse_ppt/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2093976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91656" y="265176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/ ML Literacy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91656" y="30632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and evaluating machine learning models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970264" y="173736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13294B"/>
          </a:solidFill>
          <a:ln/>
        </p:spPr>
      </p:sp>
      <p:sp>
        <p:nvSpPr>
          <p:cNvPr id="20" name="Shape 15"/>
          <p:cNvSpPr/>
          <p:nvPr/>
        </p:nvSpPr>
        <p:spPr>
          <a:xfrm>
            <a:off x="9198864" y="1965960"/>
            <a:ext cx="548640" cy="54864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21" name="Image 3" descr="/home/claude/cse_ppt/icons/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2093976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98864" y="265176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Mindset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9198864" y="30632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Secure-by-design thinking, threat awareness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411480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13294B"/>
          </a:solidFill>
          <a:ln/>
        </p:spPr>
      </p:sp>
      <p:sp>
        <p:nvSpPr>
          <p:cNvPr id="25" name="Shape 19"/>
          <p:cNvSpPr/>
          <p:nvPr/>
        </p:nvSpPr>
        <p:spPr>
          <a:xfrm>
            <a:off x="777240" y="4343400"/>
            <a:ext cx="548640" cy="54864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26" name="Image 4" descr="/home/claude/cse_ppt/icons/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" y="4471416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77240" y="50292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Engineering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777240" y="54406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Handling, modeling, and reasoning about data at scale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3355848" y="411480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13294B"/>
          </a:solidFill>
          <a:ln/>
        </p:spPr>
      </p:sp>
      <p:sp>
        <p:nvSpPr>
          <p:cNvPr id="30" name="Shape 23"/>
          <p:cNvSpPr/>
          <p:nvPr/>
        </p:nvSpPr>
        <p:spPr>
          <a:xfrm>
            <a:off x="3584448" y="4343400"/>
            <a:ext cx="548640" cy="54864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31" name="Image 5" descr="/home/claude/cse_ppt/icons/puzz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2464" y="4471416"/>
            <a:ext cx="292608" cy="29260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584448" y="50292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Thinking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3584448" y="54406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how components interact end-to-end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6163056" y="411480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13294B"/>
          </a:solidFill>
          <a:ln/>
        </p:spPr>
      </p:sp>
      <p:sp>
        <p:nvSpPr>
          <p:cNvPr id="35" name="Shape 27"/>
          <p:cNvSpPr/>
          <p:nvPr/>
        </p:nvSpPr>
        <p:spPr>
          <a:xfrm>
            <a:off x="6391656" y="4343400"/>
            <a:ext cx="548640" cy="54864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36" name="Image 6" descr="/home/claude/cse_ppt/icons/handshak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9672" y="4471416"/>
            <a:ext cx="292608" cy="292608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391656" y="50292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Collaboration</a:t>
            </a:r>
            <a:endParaRPr lang="en-US" sz="1300" dirty="0"/>
          </a:p>
        </p:txBody>
      </p:sp>
      <p:sp>
        <p:nvSpPr>
          <p:cNvPr id="38" name="Text 29"/>
          <p:cNvSpPr/>
          <p:nvPr/>
        </p:nvSpPr>
        <p:spPr>
          <a:xfrm>
            <a:off x="6391656" y="54406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across disciplines and teams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8970264" y="411480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13294B"/>
          </a:solidFill>
          <a:ln/>
        </p:spPr>
      </p:sp>
      <p:sp>
        <p:nvSpPr>
          <p:cNvPr id="40" name="Shape 31"/>
          <p:cNvSpPr/>
          <p:nvPr/>
        </p:nvSpPr>
        <p:spPr>
          <a:xfrm>
            <a:off x="9198864" y="4343400"/>
            <a:ext cx="548640" cy="54864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41" name="Image 7" descr="/home/claude/cse_ppt/icons/cha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6880" y="4471416"/>
            <a:ext cx="292608" cy="292608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9198864" y="50292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Adaptability</a:t>
            </a:r>
            <a:endParaRPr lang="en-US" sz="1300" dirty="0"/>
          </a:p>
        </p:txBody>
      </p:sp>
      <p:sp>
        <p:nvSpPr>
          <p:cNvPr id="43" name="Text 33"/>
          <p:cNvSpPr/>
          <p:nvPr/>
        </p:nvSpPr>
        <p:spPr>
          <a:xfrm>
            <a:off x="9198864" y="54406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 as tools and paradigms shift</a:t>
            </a:r>
            <a:endParaRPr lang="en-US" sz="1000" dirty="0"/>
          </a:p>
        </p:txBody>
      </p:sp>
      <p:sp>
        <p:nvSpPr>
          <p:cNvPr id="44" name="Text 34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5" name="Text 35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THE WIDER FIELD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Disciplines of Engineering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branch designs solutions within its own domain — CSE increasingly threads through all of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0B1F3A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2304288"/>
            <a:ext cx="502920" cy="50292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7" name="Image 0" descr="/home/claude/cse_ppt/icons/microc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42316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" y="290779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Computer Science &amp; Engineering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49808" y="3474720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Software, algorithms, systems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55848" y="210312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EA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3557016" y="230428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12" name="Image 1" descr="/home/claude/cse_ppt/icons/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5888" y="24231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57016" y="290779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Electrical Engineering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3557016" y="3474720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circuits, signals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163056" y="210312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EA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6364224" y="230428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17" name="Image 2" descr="/home/claude/cse_ppt/icons/too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242316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64224" y="290779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Mechanical Engineering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364224" y="3474720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Machines, motion, thermodynamics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970264" y="210312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EAF1FB"/>
          </a:solidFill>
          <a:ln/>
        </p:spPr>
      </p:sp>
      <p:sp>
        <p:nvSpPr>
          <p:cNvPr id="21" name="Shape 16"/>
          <p:cNvSpPr/>
          <p:nvPr/>
        </p:nvSpPr>
        <p:spPr>
          <a:xfrm>
            <a:off x="9171432" y="230428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22" name="Image 3" descr="/home/claude/cse_ppt/icons/buil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0304" y="242316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71432" y="290779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Civil Engineering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9171432" y="3474720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Structures, infrastructure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548640" y="434340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EAF1FB"/>
          </a:solidFill>
          <a:ln/>
        </p:spPr>
      </p:sp>
      <p:sp>
        <p:nvSpPr>
          <p:cNvPr id="26" name="Shape 20"/>
          <p:cNvSpPr/>
          <p:nvPr/>
        </p:nvSpPr>
        <p:spPr>
          <a:xfrm>
            <a:off x="749808" y="454456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27" name="Image 4" descr="/home/claude/cse_ppt/icons/industr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663440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49808" y="514807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Chemical Engineering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749808" y="5715000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process design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3355848" y="434340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EAF1FB"/>
          </a:solidFill>
          <a:ln/>
        </p:spPr>
      </p:sp>
      <p:sp>
        <p:nvSpPr>
          <p:cNvPr id="31" name="Shape 24"/>
          <p:cNvSpPr/>
          <p:nvPr/>
        </p:nvSpPr>
        <p:spPr>
          <a:xfrm>
            <a:off x="3557016" y="454456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2" name="Image 5" descr="/home/claude/cse_ppt/icons/c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75888" y="4663440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557016" y="514807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Automobile Engineering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3557016" y="5715000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systems &amp; design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6163056" y="434340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EAF1FB"/>
          </a:solidFill>
          <a:ln/>
        </p:spPr>
      </p:sp>
      <p:sp>
        <p:nvSpPr>
          <p:cNvPr id="36" name="Shape 28"/>
          <p:cNvSpPr/>
          <p:nvPr/>
        </p:nvSpPr>
        <p:spPr>
          <a:xfrm>
            <a:off x="6364224" y="454456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7" name="Image 6" descr="/home/claude/cse_ppt/icons/pla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3096" y="4663440"/>
            <a:ext cx="274320" cy="27432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364224" y="514807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 Engineering</a:t>
            </a:r>
            <a:endParaRPr lang="en-US" sz="1150" dirty="0"/>
          </a:p>
        </p:txBody>
      </p:sp>
      <p:sp>
        <p:nvSpPr>
          <p:cNvPr id="39" name="Text 30"/>
          <p:cNvSpPr/>
          <p:nvPr/>
        </p:nvSpPr>
        <p:spPr>
          <a:xfrm>
            <a:off x="6364224" y="5715000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Aircraft &amp; spacecraft systems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8970264" y="434340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EAF1FB"/>
          </a:solidFill>
          <a:ln/>
        </p:spPr>
      </p:sp>
      <p:sp>
        <p:nvSpPr>
          <p:cNvPr id="41" name="Shape 32"/>
          <p:cNvSpPr/>
          <p:nvPr/>
        </p:nvSpPr>
        <p:spPr>
          <a:xfrm>
            <a:off x="9171432" y="454456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42" name="Image 7" descr="/home/claude/cse_ppt/icons/seedl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90304" y="4663440"/>
            <a:ext cx="274320" cy="27432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9171432" y="5148072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Biomedical Engineering</a:t>
            </a:r>
            <a:endParaRPr lang="en-US" sz="1150" dirty="0"/>
          </a:p>
        </p:txBody>
      </p:sp>
      <p:sp>
        <p:nvSpPr>
          <p:cNvPr id="44" name="Text 34"/>
          <p:cNvSpPr/>
          <p:nvPr/>
        </p:nvSpPr>
        <p:spPr>
          <a:xfrm>
            <a:off x="9171432" y="5715000"/>
            <a:ext cx="2203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Health-tech &amp; medical devices</a:t>
            </a:r>
            <a:endParaRPr lang="en-US" sz="950" dirty="0"/>
          </a:p>
        </p:txBody>
      </p:sp>
      <p:sp>
        <p:nvSpPr>
          <p:cNvPr id="45" name="Text 35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6" name="Text 36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CONVERGENCE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CSE Meets Other Branches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896112"/>
          </a:xfrm>
          <a:prstGeom prst="rect">
            <a:avLst/>
          </a:prstGeom>
          <a:solidFill>
            <a:srgbClr val="EAF1F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888236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6" name="Image 0" descr="/home/claude/cse_ppt/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2002536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9164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Electrical Engineering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26280" y="2084832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9" name="Text 6"/>
          <p:cNvSpPr/>
          <p:nvPr/>
        </p:nvSpPr>
        <p:spPr>
          <a:xfrm>
            <a:off x="4709160" y="1691640"/>
            <a:ext cx="10058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role: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1691640"/>
            <a:ext cx="5760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systems, IoT firmware, signal processing software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" y="2857500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12" name="Image 1" descr="/home/claude/cse_ppt/icons/too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" y="29718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63040" y="2660904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Mechanical Engineering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526280" y="3054096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15" name="Text 11"/>
          <p:cNvSpPr/>
          <p:nvPr/>
        </p:nvSpPr>
        <p:spPr>
          <a:xfrm>
            <a:off x="4709160" y="2660904"/>
            <a:ext cx="10058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role: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669280" y="2660904"/>
            <a:ext cx="5760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 control software, CAD/simulation tools, digital twins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8640" y="3630168"/>
            <a:ext cx="11064240" cy="896112"/>
          </a:xfrm>
          <a:prstGeom prst="rect">
            <a:avLst/>
          </a:prstGeom>
          <a:solidFill>
            <a:srgbClr val="EAF1FB"/>
          </a:solidFill>
          <a:ln/>
        </p:spPr>
      </p:sp>
      <p:sp>
        <p:nvSpPr>
          <p:cNvPr id="18" name="Shape 14"/>
          <p:cNvSpPr/>
          <p:nvPr/>
        </p:nvSpPr>
        <p:spPr>
          <a:xfrm>
            <a:off x="731520" y="3826764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19" name="Image 2" descr="/home/claude/cse_ppt/icons/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" y="3941064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63040" y="3630168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Civil Engineering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526280" y="4023360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22" name="Text 17"/>
          <p:cNvSpPr/>
          <p:nvPr/>
        </p:nvSpPr>
        <p:spPr>
          <a:xfrm>
            <a:off x="4709160" y="3630168"/>
            <a:ext cx="10058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role: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5669280" y="3630168"/>
            <a:ext cx="5760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Smart-city sensors, structural monitoring software, BIM platforms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31520" y="479602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25" name="Image 3" descr="/home/claude/cse_ppt/icons/seedl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" y="4910328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463040" y="459943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Biomedical Engineering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4526280" y="4992624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28" name="Text 22"/>
          <p:cNvSpPr/>
          <p:nvPr/>
        </p:nvSpPr>
        <p:spPr>
          <a:xfrm>
            <a:off x="4709160" y="4599432"/>
            <a:ext cx="10058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role: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5669280" y="4599432"/>
            <a:ext cx="5760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imaging software, diagnostic AI, wearable health devices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548640" y="5568696"/>
            <a:ext cx="11064240" cy="896112"/>
          </a:xfrm>
          <a:prstGeom prst="rect">
            <a:avLst/>
          </a:prstGeom>
          <a:solidFill>
            <a:srgbClr val="EAF1FB"/>
          </a:solidFill>
          <a:ln/>
        </p:spPr>
      </p:sp>
      <p:sp>
        <p:nvSpPr>
          <p:cNvPr id="31" name="Shape 25"/>
          <p:cNvSpPr/>
          <p:nvPr/>
        </p:nvSpPr>
        <p:spPr>
          <a:xfrm>
            <a:off x="731520" y="5765292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2" name="Image 4" descr="/home/claude/cse_ppt/icons/c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" y="5879592"/>
            <a:ext cx="274320" cy="27432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463040" y="556869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Automobile Engineering</a:t>
            </a:r>
            <a:endParaRPr lang="en-US" sz="1300" dirty="0"/>
          </a:p>
        </p:txBody>
      </p:sp>
      <p:sp>
        <p:nvSpPr>
          <p:cNvPr id="34" name="Shape 27"/>
          <p:cNvSpPr/>
          <p:nvPr/>
        </p:nvSpPr>
        <p:spPr>
          <a:xfrm>
            <a:off x="4526280" y="5961888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35" name="Text 28"/>
          <p:cNvSpPr/>
          <p:nvPr/>
        </p:nvSpPr>
        <p:spPr>
          <a:xfrm>
            <a:off x="4709160" y="5568696"/>
            <a:ext cx="10058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role: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5669280" y="5568696"/>
            <a:ext cx="5760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driving stacks, in-vehicle infotainment, telematics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— CASE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The Self-Driving Car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real-world product built at the intersection of every engineering branch.</a:t>
            </a:r>
            <a:endParaRPr lang="en-US" sz="1300" dirty="0"/>
          </a:p>
        </p:txBody>
      </p:sp>
      <p:pic>
        <p:nvPicPr>
          <p:cNvPr id="5" name="Image 0" descr="/home/claude/cse_ppt/icons/c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502920"/>
            <a:ext cx="1828800" cy="1828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14884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13294B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2350008"/>
            <a:ext cx="502920" cy="50292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8" name="Image 1" descr="/home/claude/cse_ppt/icons/micro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688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35000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CSE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749808" y="301752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AI, path planning, sensor fusion, control software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297680" y="214884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13294B"/>
          </a:solidFill>
          <a:ln/>
        </p:spPr>
      </p:sp>
      <p:sp>
        <p:nvSpPr>
          <p:cNvPr id="12" name="Shape 8"/>
          <p:cNvSpPr/>
          <p:nvPr/>
        </p:nvSpPr>
        <p:spPr>
          <a:xfrm>
            <a:off x="4498848" y="2350008"/>
            <a:ext cx="502920" cy="50292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13" name="Image 2" descr="/home/claude/cse_ppt/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2468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20640" y="235000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Electrical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498848" y="301752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arrays (LiDAR, radar, cameras), power electronics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46720" y="214884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13294B"/>
          </a:solidFill>
          <a:ln/>
        </p:spPr>
      </p:sp>
      <p:sp>
        <p:nvSpPr>
          <p:cNvPr id="17" name="Shape 12"/>
          <p:cNvSpPr/>
          <p:nvPr/>
        </p:nvSpPr>
        <p:spPr>
          <a:xfrm>
            <a:off x="8247888" y="2350008"/>
            <a:ext cx="502920" cy="50292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18" name="Image 3" descr="/home/claude/cse_ppt/icons/too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24688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69680" y="235000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Mechanical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247888" y="301752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Chassis, steering &amp; braking actuation, aerodynamics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48640" y="429768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13294B"/>
          </a:solidFill>
          <a:ln/>
        </p:spPr>
      </p:sp>
      <p:sp>
        <p:nvSpPr>
          <p:cNvPr id="22" name="Shape 16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23" name="Image 4" descr="/home/claude/cse_ppt/icons/c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61772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371600" y="449884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Automobile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749808" y="516636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Drivetrain integration, vehicle dynamics, safety systems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4297680" y="429768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13294B"/>
          </a:solidFill>
          <a:ln/>
        </p:spPr>
      </p:sp>
      <p:sp>
        <p:nvSpPr>
          <p:cNvPr id="27" name="Shape 20"/>
          <p:cNvSpPr/>
          <p:nvPr/>
        </p:nvSpPr>
        <p:spPr>
          <a:xfrm>
            <a:off x="4498848" y="4498848"/>
            <a:ext cx="502920" cy="50292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28" name="Image 5" descr="/home/claude/cse_ppt/icons/build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7720" y="461772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120640" y="449884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Civil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4498848" y="516636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infrastructure &amp; signal compatibility standards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8046720" y="429768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13294B"/>
          </a:solidFill>
          <a:ln/>
        </p:spPr>
      </p:sp>
      <p:sp>
        <p:nvSpPr>
          <p:cNvPr id="32" name="Shape 24"/>
          <p:cNvSpPr/>
          <p:nvPr/>
        </p:nvSpPr>
        <p:spPr>
          <a:xfrm>
            <a:off x="8247888" y="4498848"/>
            <a:ext cx="502920" cy="50292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33" name="Image 6" descr="/home/claude/cse_ppt/icons/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6760" y="4617720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8869680" y="449884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Materials/Chem</a:t>
            </a:r>
            <a:endParaRPr lang="en-US" sz="1400" dirty="0"/>
          </a:p>
        </p:txBody>
      </p:sp>
      <p:sp>
        <p:nvSpPr>
          <p:cNvPr id="35" name="Text 26"/>
          <p:cNvSpPr/>
          <p:nvPr/>
        </p:nvSpPr>
        <p:spPr>
          <a:xfrm>
            <a:off x="8247888" y="516636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chemistry, lightweight composite materials</a:t>
            </a:r>
            <a:endParaRPr lang="en-US" sz="1050" dirty="0"/>
          </a:p>
        </p:txBody>
      </p:sp>
      <p:sp>
        <p:nvSpPr>
          <p:cNvPr id="36" name="Text 27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7" name="Text 28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1329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builds on science —</a:t>
            </a:r>
            <a:endParaRPr lang="en-US" sz="3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CSE now builds every other branch.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this connection is the first step toward becoming an engineer who can work across domains, not just within one.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&amp; Engineering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11</Slides>
  <Notes>11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Wapongtemsu Jamir</cp:lastModifiedBy>
  <cp:revision>2</cp:revision>
  <dcterms:created xsi:type="dcterms:W3CDTF">2026-07-16T07:52:14Z</dcterms:created>
  <dcterms:modified xsi:type="dcterms:W3CDTF">2026-07-23T04:48:16Z</dcterms:modified>
</cp:coreProperties>
</file>