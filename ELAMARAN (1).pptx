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</p:sld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hi Senguttuvan" userId="07cf25898775e4f9" providerId="LiveId" clId="{246788FC-24F8-4127-8058-876E6BE747B0}"/>
    <pc:docChg chg="modSld">
      <pc:chgData name="Aadhi Senguttuvan" userId="07cf25898775e4f9" providerId="LiveId" clId="{246788FC-24F8-4127-8058-876E6BE747B0}" dt="2026-07-15T18:16:03.291" v="2" actId="2711"/>
      <pc:docMkLst>
        <pc:docMk/>
      </pc:docMkLst>
      <pc:sldChg chg="modSp mod">
        <pc:chgData name="Aadhi Senguttuvan" userId="07cf25898775e4f9" providerId="LiveId" clId="{246788FC-24F8-4127-8058-876E6BE747B0}" dt="2026-07-14T12:33:24.542" v="0" actId="1076"/>
        <pc:sldMkLst>
          <pc:docMk/>
          <pc:sldMk cId="619110008" sldId="262"/>
        </pc:sldMkLst>
        <pc:spChg chg="mod">
          <ac:chgData name="Aadhi Senguttuvan" userId="07cf25898775e4f9" providerId="LiveId" clId="{246788FC-24F8-4127-8058-876E6BE747B0}" dt="2026-07-14T12:33:24.542" v="0" actId="1076"/>
          <ac:spMkLst>
            <pc:docMk/>
            <pc:sldMk cId="619110008" sldId="262"/>
            <ac:spMk id="8" creationId="{FC88B76B-3A68-3779-AD79-6A3F3DF1962E}"/>
          </ac:spMkLst>
        </pc:spChg>
      </pc:sldChg>
      <pc:sldChg chg="modSp mod">
        <pc:chgData name="Aadhi Senguttuvan" userId="07cf25898775e4f9" providerId="LiveId" clId="{246788FC-24F8-4127-8058-876E6BE747B0}" dt="2026-07-14T12:44:07.091" v="1" actId="1076"/>
        <pc:sldMkLst>
          <pc:docMk/>
          <pc:sldMk cId="2948346610" sldId="265"/>
        </pc:sldMkLst>
        <pc:spChg chg="mod">
          <ac:chgData name="Aadhi Senguttuvan" userId="07cf25898775e4f9" providerId="LiveId" clId="{246788FC-24F8-4127-8058-876E6BE747B0}" dt="2026-07-14T12:44:07.091" v="1" actId="1076"/>
          <ac:spMkLst>
            <pc:docMk/>
            <pc:sldMk cId="2948346610" sldId="265"/>
            <ac:spMk id="2" creationId="{15FC2BF8-A058-62B0-FA20-C05107F64D27}"/>
          </ac:spMkLst>
        </pc:spChg>
      </pc:sldChg>
      <pc:sldChg chg="modSp mod">
        <pc:chgData name="Aadhi Senguttuvan" userId="07cf25898775e4f9" providerId="LiveId" clId="{246788FC-24F8-4127-8058-876E6BE747B0}" dt="2026-07-15T18:16:03.291" v="2" actId="2711"/>
        <pc:sldMkLst>
          <pc:docMk/>
          <pc:sldMk cId="213446237" sldId="267"/>
        </pc:sldMkLst>
        <pc:spChg chg="mod">
          <ac:chgData name="Aadhi Senguttuvan" userId="07cf25898775e4f9" providerId="LiveId" clId="{246788FC-24F8-4127-8058-876E6BE747B0}" dt="2026-07-15T18:16:03.291" v="2" actId="2711"/>
          <ac:spMkLst>
            <pc:docMk/>
            <pc:sldMk cId="213446237" sldId="267"/>
            <ac:spMk id="3" creationId="{8B5DF691-09DF-9CAC-DB10-7769AC513F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4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73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1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2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0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2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6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6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4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98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4711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61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31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88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85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06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3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324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661" r:id="rId18"/>
    <p:sldLayoutId id="2147483663" r:id="rId19"/>
    <p:sldLayoutId id="2147483664" r:id="rId20"/>
    <p:sldLayoutId id="2147483665" r:id="rId21"/>
    <p:sldLayoutId id="2147483666" r:id="rId22"/>
    <p:sldLayoutId id="2147483671" r:id="rId23"/>
    <p:sldLayoutId id="2147483672" r:id="rId24"/>
    <p:sldLayoutId id="2147483709" r:id="rId25"/>
    <p:sldLayoutId id="2147483710" r:id="rId26"/>
    <p:sldLayoutId id="2147483712" r:id="rId27"/>
    <p:sldLayoutId id="2147483713" r:id="rId28"/>
    <p:sldLayoutId id="2147483714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299ED-3671-7A8B-4219-4A476907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8703"/>
            <a:ext cx="9905998" cy="22071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ENGINEERING EXPLORATION FOR COMPUTER </a:t>
            </a:r>
            <a:br>
              <a:rPr lang="en-US" sz="28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</a:br>
            <a:br>
              <a:rPr lang="en-US" sz="28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               SCIENCE AND ENGINEERING </a:t>
            </a:r>
            <a:endParaRPr lang="en-IN" sz="280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037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3476-06F4-BD14-85A5-93516E686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52248"/>
            <a:ext cx="9574922" cy="167141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Impact" panose="020B0806030902050204" pitchFamily="34" charset="0"/>
              </a:rPr>
              <a:t>WHAT IS ENGINEERING?</a:t>
            </a:r>
            <a:endParaRPr lang="en-IN" sz="4800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8D69A-6CB2-8976-8E85-3060EB4D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Engineering is the application of scientific and mathematical principles to design, build, and improve machines, structures, systems, and processes to solve real-world problems</a:t>
            </a:r>
            <a:endParaRPr lang="en-IN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467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4726-D204-13A7-3C83-35C69A645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793606"/>
          </a:xfrm>
        </p:spPr>
        <p:txBody>
          <a:bodyPr/>
          <a:lstStyle/>
          <a:p>
            <a:r>
              <a:rPr lang="en-US" dirty="0">
                <a:latin typeface="Impact" panose="020B0806030902050204" pitchFamily="34" charset="0"/>
              </a:rPr>
              <a:t>DIFFERENCE BETWEEN SCIENCE AND ENGINEERING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11CA1-8433-3F82-4E91-D0DEF7206B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>
                <a:latin typeface="Arial Black" panose="020B0A04020102020204" pitchFamily="34" charset="0"/>
              </a:rPr>
              <a:t>Science</a:t>
            </a:r>
          </a:p>
          <a:p>
            <a:r>
              <a:rPr lang="en-US" sz="2600" dirty="0">
                <a:solidFill>
                  <a:schemeClr val="bg1"/>
                </a:solidFill>
                <a:latin typeface="+mj-lt"/>
              </a:rPr>
              <a:t>Studies natural laws and facts.</a:t>
            </a:r>
          </a:p>
          <a:p>
            <a:r>
              <a:rPr lang="en-US" sz="2600" dirty="0">
                <a:solidFill>
                  <a:schemeClr val="bg1"/>
                </a:solidFill>
                <a:latin typeface="+mj-lt"/>
              </a:rPr>
              <a:t>Focuses on discovery and research</a:t>
            </a:r>
          </a:p>
          <a:p>
            <a:r>
              <a:rPr lang="en-US" sz="2600" dirty="0">
                <a:solidFill>
                  <a:schemeClr val="bg1"/>
                </a:solidFill>
                <a:latin typeface="+mj-lt"/>
              </a:rPr>
              <a:t>.Asks "Why does it happen?“</a:t>
            </a:r>
          </a:p>
          <a:p>
            <a:r>
              <a:rPr lang="en-US" sz="2600" dirty="0">
                <a:solidFill>
                  <a:schemeClr val="bg1"/>
                </a:solidFill>
                <a:latin typeface="+mj-lt"/>
              </a:rPr>
              <a:t>Example: Discovering electricity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20374-472B-8E41-15F7-D257A8C8B7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>
                <a:latin typeface="Arial Black" panose="020B0A04020102020204" pitchFamily="34" charset="0"/>
              </a:rPr>
              <a:t>Engineering</a:t>
            </a: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Applies scientific knowledge to solve problems.</a:t>
            </a: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Focuses on design and development.</a:t>
            </a: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Asks "How can we use it?“</a:t>
            </a: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Example: Designing an electric motor</a:t>
            </a: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.</a:t>
            </a:r>
            <a:endParaRPr lang="en-IN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440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E49A-6092-A0B3-8046-211A1884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mpact" panose="020B0806030902050204" pitchFamily="34" charset="0"/>
              </a:rPr>
              <a:t>DIFFERRENCE BETWEEN SCIENTIST AND ENGINEER.</a:t>
            </a:r>
            <a:endParaRPr lang="en-IN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0A206-D810-1402-E592-ACA0FD7A81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800" dirty="0">
                <a:latin typeface="Arial Black" panose="020B0A04020102020204" pitchFamily="34" charset="0"/>
              </a:rPr>
              <a:t>Scientist</a:t>
            </a:r>
          </a:p>
          <a:p>
            <a:r>
              <a:rPr lang="en-US" sz="3800" dirty="0">
                <a:solidFill>
                  <a:schemeClr val="bg1"/>
                </a:solidFill>
              </a:rPr>
              <a:t>Conducts research and experiments.</a:t>
            </a:r>
          </a:p>
          <a:p>
            <a:r>
              <a:rPr lang="en-US" sz="3800" dirty="0">
                <a:solidFill>
                  <a:schemeClr val="bg1"/>
                </a:solidFill>
              </a:rPr>
              <a:t>Discovers new knowledge.</a:t>
            </a:r>
          </a:p>
          <a:p>
            <a:r>
              <a:rPr lang="en-US" sz="3800" dirty="0">
                <a:solidFill>
                  <a:schemeClr val="bg1"/>
                </a:solidFill>
              </a:rPr>
              <a:t>Focuses on theories.</a:t>
            </a:r>
          </a:p>
          <a:p>
            <a:r>
              <a:rPr lang="en-US" sz="3800" dirty="0">
                <a:solidFill>
                  <a:schemeClr val="bg1"/>
                </a:solidFill>
              </a:rPr>
              <a:t>Example: Physicist.</a:t>
            </a:r>
            <a:endParaRPr lang="en-IN" sz="38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FB6FD-094D-7B04-6F3F-A6972F0BB0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800" dirty="0">
                <a:latin typeface="Arial Black" panose="020B0A04020102020204" pitchFamily="34" charset="0"/>
              </a:rPr>
              <a:t>Engineer</a:t>
            </a:r>
          </a:p>
          <a:p>
            <a:r>
              <a:rPr lang="en-US" sz="3800" dirty="0">
                <a:solidFill>
                  <a:schemeClr val="bg1"/>
                </a:solidFill>
              </a:rPr>
              <a:t>Designs and develops products and systems.</a:t>
            </a:r>
          </a:p>
          <a:p>
            <a:r>
              <a:rPr lang="en-US" sz="3800" dirty="0">
                <a:solidFill>
                  <a:schemeClr val="bg1"/>
                </a:solidFill>
              </a:rPr>
              <a:t>Uses existing knowledge practically.</a:t>
            </a:r>
          </a:p>
          <a:p>
            <a:r>
              <a:rPr lang="en-US" sz="3800" dirty="0">
                <a:solidFill>
                  <a:schemeClr val="bg1"/>
                </a:solidFill>
              </a:rPr>
              <a:t>Focuses on applications.</a:t>
            </a:r>
          </a:p>
          <a:p>
            <a:r>
              <a:rPr lang="en-US" sz="3800" dirty="0">
                <a:solidFill>
                  <a:schemeClr val="bg1"/>
                </a:solidFill>
              </a:rPr>
              <a:t>Example: Software Engineer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11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C88B76B-3A68-3779-AD79-6A3F3DF1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5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>
                <a:latin typeface="Impact" panose="020B0806030902050204" pitchFamily="34" charset="0"/>
              </a:rPr>
              <a:t>Explain the needs and wants of today's engineers (or modern engineers).</a:t>
            </a:r>
            <a:endParaRPr lang="en-IN" dirty="0">
              <a:latin typeface="Impact" panose="020B080603090205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6DB832-D0CB-D35F-D09A-A8754B6C48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3100" dirty="0">
                <a:latin typeface="Arial Black" panose="020B0A04020102020204" pitchFamily="34" charset="0"/>
              </a:rPr>
              <a:t>Needs:</a:t>
            </a:r>
          </a:p>
          <a:p>
            <a:r>
              <a:rPr lang="en-IN" sz="3400" dirty="0">
                <a:solidFill>
                  <a:schemeClr val="bg1"/>
                </a:solidFill>
              </a:rPr>
              <a:t>Automation of tasks</a:t>
            </a:r>
          </a:p>
          <a:p>
            <a:r>
              <a:rPr lang="en-IN" sz="3400" dirty="0">
                <a:solidFill>
                  <a:schemeClr val="bg1"/>
                </a:solidFill>
              </a:rPr>
              <a:t>Fast communication</a:t>
            </a:r>
          </a:p>
          <a:p>
            <a:r>
              <a:rPr lang="en-IN" sz="3400" dirty="0">
                <a:solidFill>
                  <a:schemeClr val="bg1"/>
                </a:solidFill>
              </a:rPr>
              <a:t>Data storage and processing</a:t>
            </a:r>
          </a:p>
          <a:p>
            <a:r>
              <a:rPr lang="en-IN" sz="3400" dirty="0">
                <a:solidFill>
                  <a:schemeClr val="bg1"/>
                </a:solidFill>
              </a:rPr>
              <a:t>Cybersecurity</a:t>
            </a:r>
          </a:p>
          <a:p>
            <a:r>
              <a:rPr lang="en-IN" sz="3400" dirty="0">
                <a:solidFill>
                  <a:schemeClr val="bg1"/>
                </a:solidFill>
              </a:rPr>
              <a:t>Healthcare and education support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27042B5-3DFF-BB7C-03DA-1E6052280F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3100" dirty="0">
                <a:latin typeface="Arial Black" panose="020B0A04020102020204" pitchFamily="34" charset="0"/>
              </a:rPr>
              <a:t>Wants:</a:t>
            </a:r>
          </a:p>
          <a:p>
            <a:r>
              <a:rPr lang="en-IN" sz="3400" dirty="0">
                <a:solidFill>
                  <a:schemeClr val="bg1"/>
                </a:solidFill>
              </a:rPr>
              <a:t>Artificial Intelligence (AI)</a:t>
            </a:r>
          </a:p>
          <a:p>
            <a:r>
              <a:rPr lang="en-IN" sz="3400" dirty="0">
                <a:solidFill>
                  <a:schemeClr val="bg1"/>
                </a:solidFill>
              </a:rPr>
              <a:t>Smart devices</a:t>
            </a:r>
          </a:p>
          <a:p>
            <a:r>
              <a:rPr lang="en-IN" sz="3400" dirty="0">
                <a:solidFill>
                  <a:schemeClr val="bg1"/>
                </a:solidFill>
              </a:rPr>
              <a:t>Online shopping</a:t>
            </a:r>
          </a:p>
          <a:p>
            <a:r>
              <a:rPr lang="en-IN" sz="3400" dirty="0">
                <a:solidFill>
                  <a:schemeClr val="bg1"/>
                </a:solidFill>
              </a:rPr>
              <a:t>Entertainment and gaming</a:t>
            </a:r>
          </a:p>
          <a:p>
            <a:r>
              <a:rPr lang="en-IN" sz="3400" dirty="0">
                <a:solidFill>
                  <a:schemeClr val="bg1"/>
                </a:solidFill>
              </a:rPr>
              <a:t>Social media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11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EEA8FD4-7F27-E3F8-730E-03AB3CFA02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1413" y="425240"/>
            <a:ext cx="9905998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Impact" panose="020B0806030902050204" pitchFamily="34" charset="0"/>
              </a:rPr>
              <a:t>List and explain the various disciplines of engineering. Also, map the role of computer science engineering with other branches of engineering using real-world products as case studies</a:t>
            </a:r>
            <a:r>
              <a:rPr lang="en-US" sz="4000" dirty="0">
                <a:latin typeface="Impact" panose="020B0806030902050204" pitchFamily="34" charset="0"/>
              </a:rPr>
              <a:t>.</a:t>
            </a:r>
            <a:endParaRPr lang="en-IN" sz="4400" dirty="0">
              <a:latin typeface="Impact" panose="020B080603090205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BA6579-49CF-16E4-4BCF-070401E1CB7A}"/>
              </a:ext>
            </a:extLst>
          </p:cNvPr>
          <p:cNvSpPr txBox="1"/>
          <p:nvPr/>
        </p:nvSpPr>
        <p:spPr>
          <a:xfrm>
            <a:off x="1141413" y="2290366"/>
            <a:ext cx="799470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Computer Science Engineering (CSE)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Mechanical Engineering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Civil Engineering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Electrical Engineering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Electronics and Communication Engineering (ECE)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Information Technology (IT)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Chemical Engineering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Aerospace Engineering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Biomedical Engineering</a:t>
            </a:r>
          </a:p>
          <a:p>
            <a:r>
              <a:rPr lang="en-IN" sz="2400" dirty="0">
                <a:solidFill>
                  <a:schemeClr val="bg1"/>
                </a:solidFill>
                <a:latin typeface="+mj-lt"/>
              </a:rPr>
              <a:t>Automobile Engineering</a:t>
            </a:r>
          </a:p>
        </p:txBody>
      </p:sp>
    </p:spTree>
    <p:extLst>
      <p:ext uri="{BB962C8B-B14F-4D97-AF65-F5344CB8AC3E}">
        <p14:creationId xmlns:p14="http://schemas.microsoft.com/office/powerpoint/2010/main" val="252157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ADECF0-B79F-1D8F-22B3-1831C825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mpact" panose="020B0806030902050204" pitchFamily="34" charset="0"/>
              </a:rPr>
              <a:t>Write short notes on the misconceptions about Computer Science (CS) engineering.</a:t>
            </a:r>
            <a:endParaRPr lang="en-IN" dirty="0">
              <a:latin typeface="Impact" panose="020B080603090205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060AF7-FCF2-B967-9E24-47DFCF348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CSE is only about coding. </a:t>
            </a:r>
          </a:p>
          <a:p>
            <a:r>
              <a:rPr lang="en-US" dirty="0">
                <a:solidFill>
                  <a:schemeClr val="bg1"/>
                </a:solidFill>
              </a:rPr>
              <a:t>Engineers only repair computers. </a:t>
            </a:r>
          </a:p>
          <a:p>
            <a:r>
              <a:rPr lang="en-US" dirty="0">
                <a:solidFill>
                  <a:schemeClr val="bg1"/>
                </a:solidFill>
              </a:rPr>
              <a:t>Mathematics alone is enough. </a:t>
            </a:r>
          </a:p>
          <a:p>
            <a:r>
              <a:rPr lang="en-US" dirty="0">
                <a:solidFill>
                  <a:schemeClr val="bg1"/>
                </a:solidFill>
              </a:rPr>
              <a:t>CSE jobs are only in IT companies. </a:t>
            </a:r>
          </a:p>
          <a:p>
            <a:r>
              <a:rPr lang="en-US" dirty="0">
                <a:solidFill>
                  <a:schemeClr val="bg1"/>
                </a:solidFill>
              </a:rPr>
              <a:t>AI will replace all programmers.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32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2BF8-A058-62B0-FA20-C05107F6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99" y="357350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>
                <a:latin typeface="Impact" panose="020B0806030902050204" pitchFamily="34" charset="0"/>
              </a:rPr>
              <a:t>What skills are required for a Computer Science (CS) engineering student?</a:t>
            </a:r>
            <a:endParaRPr lang="en-IN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FB9A-BB75-7EC7-1861-4CF0486DD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565" y="2097088"/>
            <a:ext cx="9905999" cy="4403562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Programming skills</a:t>
            </a:r>
          </a:p>
          <a:p>
            <a:r>
              <a:rPr lang="en-IN" sz="1600" dirty="0">
                <a:solidFill>
                  <a:schemeClr val="bg1"/>
                </a:solidFill>
              </a:rPr>
              <a:t>Problem-solving ability</a:t>
            </a:r>
          </a:p>
          <a:p>
            <a:r>
              <a:rPr lang="en-IN" sz="1600" dirty="0">
                <a:solidFill>
                  <a:schemeClr val="bg1"/>
                </a:solidFill>
              </a:rPr>
              <a:t>Logical thinking</a:t>
            </a:r>
          </a:p>
          <a:p>
            <a:r>
              <a:rPr lang="en-IN" sz="1600" dirty="0">
                <a:solidFill>
                  <a:schemeClr val="bg1"/>
                </a:solidFill>
              </a:rPr>
              <a:t>Communication skills</a:t>
            </a:r>
          </a:p>
          <a:p>
            <a:r>
              <a:rPr lang="en-IN" sz="1600" dirty="0">
                <a:solidFill>
                  <a:schemeClr val="bg1"/>
                </a:solidFill>
              </a:rPr>
              <a:t>Teamwork</a:t>
            </a:r>
          </a:p>
          <a:p>
            <a:r>
              <a:rPr lang="en-IN" sz="1600" dirty="0">
                <a:solidFill>
                  <a:schemeClr val="bg1"/>
                </a:solidFill>
              </a:rPr>
              <a:t>Creativity</a:t>
            </a:r>
          </a:p>
          <a:p>
            <a:r>
              <a:rPr lang="en-IN" sz="1600" dirty="0">
                <a:solidFill>
                  <a:schemeClr val="bg1"/>
                </a:solidFill>
              </a:rPr>
              <a:t>Knowledge of databases and</a:t>
            </a:r>
          </a:p>
          <a:p>
            <a:r>
              <a:rPr lang="en-IN" sz="1600" dirty="0">
                <a:solidFill>
                  <a:schemeClr val="bg1"/>
                </a:solidFill>
              </a:rPr>
              <a:t> networks</a:t>
            </a:r>
          </a:p>
          <a:p>
            <a:r>
              <a:rPr lang="en-IN" sz="1600" dirty="0">
                <a:solidFill>
                  <a:schemeClr val="bg1"/>
                </a:solidFill>
              </a:rPr>
              <a:t>Time management</a:t>
            </a:r>
          </a:p>
          <a:p>
            <a:r>
              <a:rPr lang="en-IN" sz="1600" dirty="0">
                <a:solidFill>
                  <a:schemeClr val="bg1"/>
                </a:solidFill>
              </a:rPr>
              <a:t>Continuous learning</a:t>
            </a:r>
          </a:p>
        </p:txBody>
      </p:sp>
    </p:spTree>
    <p:extLst>
      <p:ext uri="{BB962C8B-B14F-4D97-AF65-F5344CB8AC3E}">
        <p14:creationId xmlns:p14="http://schemas.microsoft.com/office/powerpoint/2010/main" val="294834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B495-4E12-C051-6DED-C16D6056F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1213944"/>
            <a:ext cx="9905998" cy="3373821"/>
          </a:xfrm>
        </p:spPr>
        <p:txBody>
          <a:bodyPr/>
          <a:lstStyle/>
          <a:p>
            <a:r>
              <a:rPr lang="en-IN" dirty="0"/>
              <a:t>                   </a:t>
            </a:r>
            <a:r>
              <a:rPr lang="en-IN" sz="7200" dirty="0">
                <a:latin typeface="Forte" panose="03060902040502070203" pitchFamily="66" charset="0"/>
              </a:rPr>
              <a:t>thank  you</a:t>
            </a:r>
            <a:endParaRPr lang="en-IN" dirty="0">
              <a:latin typeface="Forte" panose="0306090204050207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DF691-09DF-9CAC-DB10-7769AC513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8428" y="4587765"/>
            <a:ext cx="2612859" cy="1345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Forte" panose="03060902040502070203" pitchFamily="66" charset="0"/>
              </a:rPr>
              <a:t>BY MARAN</a:t>
            </a:r>
          </a:p>
        </p:txBody>
      </p:sp>
    </p:spTree>
    <p:extLst>
      <p:ext uri="{BB962C8B-B14F-4D97-AF65-F5344CB8AC3E}">
        <p14:creationId xmlns:p14="http://schemas.microsoft.com/office/powerpoint/2010/main" val="2134462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65</TotalTime>
  <Words>340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 Display</vt:lpstr>
      <vt:lpstr>Arial</vt:lpstr>
      <vt:lpstr>Arial Black</vt:lpstr>
      <vt:lpstr>Arial Rounded MT Bold</vt:lpstr>
      <vt:lpstr>Forte</vt:lpstr>
      <vt:lpstr>Impact</vt:lpstr>
      <vt:lpstr>Tw Cen MT</vt:lpstr>
      <vt:lpstr>Circuit</vt:lpstr>
      <vt:lpstr> ENGINEERING EXPLORATION FOR COMPUTER                   SCIENCE AND ENGINEERING </vt:lpstr>
      <vt:lpstr>WHAT IS ENGINEERING?</vt:lpstr>
      <vt:lpstr>DIFFERENCE BETWEEN SCIENCE AND ENGINEERING.</vt:lpstr>
      <vt:lpstr>DIFFERRENCE BETWEEN SCIENTIST AND ENGINEER.</vt:lpstr>
      <vt:lpstr>Explain the needs and wants of today's engineers (or modern engineers).</vt:lpstr>
      <vt:lpstr>List and explain the various disciplines of engineering. Also, map the role of computer science engineering with other branches of engineering using real-world products as case studies.</vt:lpstr>
      <vt:lpstr>Write short notes on the misconceptions about Computer Science (CS) engineering.</vt:lpstr>
      <vt:lpstr>What skills are required for a Computer Science (CS) engineering student?</vt:lpstr>
      <vt:lpstr>                   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Aadhi Senguttuvan</dc:creator>
  <cp:lastModifiedBy>Aadhi Senguttuvan</cp:lastModifiedBy>
  <cp:revision>1</cp:revision>
  <dcterms:created xsi:type="dcterms:W3CDTF">2026-07-14T10:02:57Z</dcterms:created>
  <dcterms:modified xsi:type="dcterms:W3CDTF">2026-07-15T18:16:14Z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