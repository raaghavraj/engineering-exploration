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Hertical Serif" charset="1" panose="00000000000000000000"/>
      <p:regular r:id="rId18"/>
    </p:embeddedFont>
    <p:embeddedFont>
      <p:font typeface="Bree Serif" charset="1" panose="02000503040000020004"/>
      <p:regular r:id="rId19"/>
    </p:embeddedFont>
    <p:embeddedFont>
      <p:font typeface="PL Benguiat Frisky" charset="1" panose="02000606060000020003"/>
      <p:regular r:id="rId20"/>
    </p:embeddedFont>
    <p:embeddedFont>
      <p:font typeface="Proxima Nova Condensed" charset="1" panose="02000506030000020004"/>
      <p:regular r:id="rId21"/>
    </p:embeddedFont>
    <p:embeddedFont>
      <p:font typeface="Proxima Nova Condensed Bold" charset="1" panose="02000506030000020004"/>
      <p:regular r:id="rId22"/>
    </p:embeddedFont>
    <p:embeddedFont>
      <p:font typeface="Quando" charset="1" panose="02020603060000060704"/>
      <p:regular r:id="rId23"/>
    </p:embeddedFont>
    <p:embeddedFont>
      <p:font typeface="Trochut" charset="1" panose="02000503070000020003"/>
      <p:regular r:id="rId24"/>
    </p:embeddedFont>
    <p:embeddedFont>
      <p:font typeface="Forum" charset="1" panose="02000000000000000000"/>
      <p:regular r:id="rId25"/>
    </p:embeddedFont>
    <p:embeddedFont>
      <p:font typeface="Poppins" charset="1" panose="00000500000000000000"/>
      <p:regular r:id="rId26"/>
    </p:embeddedFont>
    <p:embeddedFont>
      <p:font typeface="Della Respira" charset="1" panose="02000603000000000000"/>
      <p:regular r:id="rId27"/>
    </p:embeddedFont>
    <p:embeddedFont>
      <p:font typeface="Allerta Stencil" charset="1" panose="00000000000000000000"/>
      <p:regular r:id="rId28"/>
    </p:embeddedFont>
    <p:embeddedFont>
      <p:font typeface="Girassol" charset="1" panose="00000000000000000000"/>
      <p:regular r:id="rId29"/>
    </p:embeddedFont>
    <p:embeddedFont>
      <p:font typeface="Maragsa" charset="1" panose="00000000000000000000"/>
      <p:regular r:id="rId30"/>
    </p:embeddedFont>
    <p:embeddedFont>
      <p:font typeface="Zenaida" charset="1" panose="000005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jpeg" Type="http://schemas.openxmlformats.org/officeDocument/2006/relationships/image"/><Relationship Id="rId6" Target="../media/image4.pn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8.jpe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jpeg" Type="http://schemas.openxmlformats.org/officeDocument/2006/relationships/image"/><Relationship Id="rId4" Target="../media/image4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.png" Type="http://schemas.openxmlformats.org/officeDocument/2006/relationships/image"/><Relationship Id="rId8" Target="../media/image6.svg" Type="http://schemas.openxmlformats.org/officeDocument/2006/relationships/image"/><Relationship Id="rId9" Target="../media/image1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14.png" Type="http://schemas.openxmlformats.org/officeDocument/2006/relationships/image"/><Relationship Id="rId9" Target="../media/image15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jpe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.png" Type="http://schemas.openxmlformats.org/officeDocument/2006/relationships/image"/><Relationship Id="rId8" Target="../media/image16.jpe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4.png" Type="http://schemas.openxmlformats.org/officeDocument/2006/relationships/image"/><Relationship Id="rId8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41072" y="5429832"/>
            <a:ext cx="8405857" cy="1285293"/>
            <a:chOff x="0" y="0"/>
            <a:chExt cx="2213888" cy="33851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13888" cy="338513"/>
            </a:xfrm>
            <a:custGeom>
              <a:avLst/>
              <a:gdLst/>
              <a:ahLst/>
              <a:cxnLst/>
              <a:rect r="r" b="b" t="t" l="l"/>
              <a:pathLst>
                <a:path h="338513" w="2213888">
                  <a:moveTo>
                    <a:pt x="0" y="0"/>
                  </a:moveTo>
                  <a:lnTo>
                    <a:pt x="2213888" y="0"/>
                  </a:lnTo>
                  <a:lnTo>
                    <a:pt x="2213888" y="338513"/>
                  </a:lnTo>
                  <a:lnTo>
                    <a:pt x="0" y="338513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13888" cy="376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641140" y="489445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23338" y="-2334836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006457" y="8067675"/>
            <a:ext cx="5913216" cy="3212553"/>
          </a:xfrm>
          <a:custGeom>
            <a:avLst/>
            <a:gdLst/>
            <a:ahLst/>
            <a:cxnLst/>
            <a:rect r="r" b="b" t="t" l="l"/>
            <a:pathLst>
              <a:path h="3212553" w="5913216">
                <a:moveTo>
                  <a:pt x="0" y="0"/>
                </a:moveTo>
                <a:lnTo>
                  <a:pt x="5913216" y="0"/>
                </a:lnTo>
                <a:lnTo>
                  <a:pt x="5913216" y="3212553"/>
                </a:lnTo>
                <a:lnTo>
                  <a:pt x="0" y="3212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7978507" y="-701274"/>
            <a:ext cx="5913216" cy="3212553"/>
          </a:xfrm>
          <a:custGeom>
            <a:avLst/>
            <a:gdLst/>
            <a:ahLst/>
            <a:cxnLst/>
            <a:rect r="r" b="b" t="t" l="l"/>
            <a:pathLst>
              <a:path h="3212553" w="5913216">
                <a:moveTo>
                  <a:pt x="5913216" y="3212553"/>
                </a:moveTo>
                <a:lnTo>
                  <a:pt x="0" y="3212553"/>
                </a:lnTo>
                <a:lnTo>
                  <a:pt x="0" y="0"/>
                </a:lnTo>
                <a:lnTo>
                  <a:pt x="5913216" y="0"/>
                </a:lnTo>
                <a:lnTo>
                  <a:pt x="5913216" y="3212553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4822" y="-957648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3891723" y="6715125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9" y="4565103"/>
                </a:moveTo>
                <a:lnTo>
                  <a:pt x="0" y="4565103"/>
                </a:lnTo>
                <a:lnTo>
                  <a:pt x="0" y="0"/>
                </a:lnTo>
                <a:lnTo>
                  <a:pt x="2513539" y="0"/>
                </a:lnTo>
                <a:lnTo>
                  <a:pt x="2513539" y="456510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323553" y="5657125"/>
            <a:ext cx="7640895" cy="8783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8"/>
              </a:lnSpc>
            </a:pPr>
            <a:r>
              <a:rPr lang="en-US" sz="6099" spc="689">
                <a:solidFill>
                  <a:srgbClr val="FFFFFF"/>
                </a:solidFill>
                <a:latin typeface="Hertical Serif"/>
                <a:ea typeface="Hertical Serif"/>
                <a:cs typeface="Hertical Serif"/>
                <a:sym typeface="Hertical Serif"/>
              </a:rPr>
              <a:t>EXPLORATION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362101" y="4197204"/>
            <a:ext cx="13563797" cy="1198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10104" spc="-232">
                <a:solidFill>
                  <a:srgbClr val="85553D"/>
                </a:solidFill>
                <a:latin typeface="Bree Serif"/>
                <a:ea typeface="Bree Serif"/>
                <a:cs typeface="Bree Serif"/>
                <a:sym typeface="Bree Serif"/>
              </a:rPr>
              <a:t>ENGINEERING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78542" y="3957345"/>
            <a:ext cx="8095760" cy="5300955"/>
            <a:chOff x="0" y="0"/>
            <a:chExt cx="1906754" cy="12485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6754" cy="1248508"/>
            </a:xfrm>
            <a:custGeom>
              <a:avLst/>
              <a:gdLst/>
              <a:ahLst/>
              <a:cxnLst/>
              <a:rect r="r" b="b" t="t" l="l"/>
              <a:pathLst>
                <a:path h="1248508" w="1906754">
                  <a:moveTo>
                    <a:pt x="8607" y="0"/>
                  </a:moveTo>
                  <a:lnTo>
                    <a:pt x="1898148" y="0"/>
                  </a:lnTo>
                  <a:cubicBezTo>
                    <a:pt x="1900430" y="0"/>
                    <a:pt x="1902620" y="907"/>
                    <a:pt x="1904234" y="2521"/>
                  </a:cubicBezTo>
                  <a:cubicBezTo>
                    <a:pt x="1905848" y="4135"/>
                    <a:pt x="1906754" y="6324"/>
                    <a:pt x="1906754" y="8607"/>
                  </a:cubicBezTo>
                  <a:lnTo>
                    <a:pt x="1906754" y="1239901"/>
                  </a:lnTo>
                  <a:cubicBezTo>
                    <a:pt x="1906754" y="1244654"/>
                    <a:pt x="1902901" y="1248508"/>
                    <a:pt x="1898148" y="1248508"/>
                  </a:cubicBezTo>
                  <a:lnTo>
                    <a:pt x="8607" y="1248508"/>
                  </a:lnTo>
                  <a:cubicBezTo>
                    <a:pt x="6324" y="1248508"/>
                    <a:pt x="4135" y="1247601"/>
                    <a:pt x="2521" y="1245987"/>
                  </a:cubicBezTo>
                  <a:cubicBezTo>
                    <a:pt x="907" y="1244373"/>
                    <a:pt x="0" y="1242184"/>
                    <a:pt x="0" y="1239901"/>
                  </a:cubicBezTo>
                  <a:lnTo>
                    <a:pt x="0" y="8607"/>
                  </a:lnTo>
                  <a:cubicBezTo>
                    <a:pt x="0" y="6324"/>
                    <a:pt x="907" y="4135"/>
                    <a:pt x="2521" y="2521"/>
                  </a:cubicBezTo>
                  <a:cubicBezTo>
                    <a:pt x="4135" y="907"/>
                    <a:pt x="6324" y="0"/>
                    <a:pt x="8607" y="0"/>
                  </a:cubicBezTo>
                  <a:close/>
                </a:path>
              </a:pathLst>
            </a:custGeom>
            <a:solidFill>
              <a:srgbClr val="ACCDDB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906754" cy="1305658"/>
            </a:xfrm>
            <a:prstGeom prst="rect">
              <a:avLst/>
            </a:prstGeom>
          </p:spPr>
          <p:txBody>
            <a:bodyPr anchor="ctr" rtlCol="false" tIns="546100" lIns="546100" bIns="546100" rIns="546100"/>
            <a:lstStyle/>
            <a:p>
              <a:pPr algn="l" marL="669289" indent="-334645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2B0934"/>
                  </a:solidFill>
                  <a:latin typeface="Bree Serif"/>
                  <a:ea typeface="Bree Serif"/>
                  <a:cs typeface="Bree Serif"/>
                  <a:sym typeface="Bree Serif"/>
                </a:rPr>
                <a:t>Engineering is the application of science and mathematics to design, build, and improve machines, structures, and systems.</a:t>
              </a:r>
            </a:p>
            <a:p>
              <a:pPr algn="l">
                <a:lnSpc>
                  <a:spcPts val="4339"/>
                </a:lnSpc>
              </a:pPr>
              <a:r>
                <a:rPr lang="en-US" sz="3099">
                  <a:solidFill>
                    <a:srgbClr val="2B0934"/>
                  </a:solidFill>
                  <a:latin typeface="Bree Serif"/>
                  <a:ea typeface="Bree Serif"/>
                  <a:cs typeface="Bree Serif"/>
                  <a:sym typeface="Bree Serif"/>
                </a:rPr>
                <a:t>                                                    </a:t>
              </a:r>
            </a:p>
            <a:p>
              <a:pPr algn="l" marL="669289" indent="-334645" lvl="1">
                <a:lnSpc>
                  <a:spcPts val="4339"/>
                </a:lnSpc>
                <a:buFont typeface="Arial"/>
                <a:buChar char="•"/>
              </a:pPr>
              <a:r>
                <a:rPr lang="en-US" sz="3099">
                  <a:solidFill>
                    <a:srgbClr val="2B0934"/>
                  </a:solidFill>
                  <a:latin typeface="Bree Serif"/>
                  <a:ea typeface="Bree Serif"/>
                  <a:cs typeface="Bree Serif"/>
                  <a:sym typeface="Bree Serif"/>
                </a:rPr>
                <a:t>Engineers identify real-world problems and develop practical, efficient, and innovative solutions.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595935" y="-957648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true" rot="0">
            <a:off x="8322557" y="6975749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8" y="4565102"/>
                </a:moveTo>
                <a:lnTo>
                  <a:pt x="0" y="4565102"/>
                </a:lnTo>
                <a:lnTo>
                  <a:pt x="0" y="0"/>
                </a:lnTo>
                <a:lnTo>
                  <a:pt x="2513538" y="0"/>
                </a:lnTo>
                <a:lnTo>
                  <a:pt x="2513538" y="456510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1593702" y="3607455"/>
            <a:ext cx="5263528" cy="5420893"/>
            <a:chOff x="0" y="0"/>
            <a:chExt cx="6294437" cy="64826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-1159" y="622"/>
              <a:ext cx="6295787" cy="6480651"/>
            </a:xfrm>
            <a:custGeom>
              <a:avLst/>
              <a:gdLst/>
              <a:ahLst/>
              <a:cxnLst/>
              <a:rect r="r" b="b" t="t" l="l"/>
              <a:pathLst>
                <a:path h="6480651" w="6295787">
                  <a:moveTo>
                    <a:pt x="6215027" y="3048992"/>
                  </a:moveTo>
                  <a:cubicBezTo>
                    <a:pt x="6242723" y="2959893"/>
                    <a:pt x="6326076" y="2113453"/>
                    <a:pt x="6284266" y="1998704"/>
                  </a:cubicBezTo>
                  <a:cubicBezTo>
                    <a:pt x="6242723" y="1883956"/>
                    <a:pt x="5780711" y="1447911"/>
                    <a:pt x="5661117" y="1410111"/>
                  </a:cubicBezTo>
                  <a:cubicBezTo>
                    <a:pt x="5411857" y="1331812"/>
                    <a:pt x="4759753" y="1445211"/>
                    <a:pt x="4759753" y="1445211"/>
                  </a:cubicBezTo>
                  <a:cubicBezTo>
                    <a:pt x="4759753" y="1445211"/>
                    <a:pt x="4873053" y="944367"/>
                    <a:pt x="4854170" y="756719"/>
                  </a:cubicBezTo>
                  <a:cubicBezTo>
                    <a:pt x="4835286" y="569071"/>
                    <a:pt x="4375792" y="220775"/>
                    <a:pt x="4275081" y="110077"/>
                  </a:cubicBezTo>
                  <a:cubicBezTo>
                    <a:pt x="4175629" y="728"/>
                    <a:pt x="3300703" y="-32372"/>
                    <a:pt x="3106834" y="34478"/>
                  </a:cubicBezTo>
                  <a:cubicBezTo>
                    <a:pt x="2912965" y="101977"/>
                    <a:pt x="2561736" y="683820"/>
                    <a:pt x="2561736" y="683820"/>
                  </a:cubicBezTo>
                  <a:cubicBezTo>
                    <a:pt x="2561736" y="683820"/>
                    <a:pt x="1934810" y="228875"/>
                    <a:pt x="1779967" y="176226"/>
                  </a:cubicBezTo>
                  <a:cubicBezTo>
                    <a:pt x="1623865" y="123577"/>
                    <a:pt x="1140452" y="409773"/>
                    <a:pt x="925182" y="573121"/>
                  </a:cubicBezTo>
                  <a:cubicBezTo>
                    <a:pt x="709913" y="736469"/>
                    <a:pt x="529892" y="1651759"/>
                    <a:pt x="518562" y="1862356"/>
                  </a:cubicBezTo>
                  <a:cubicBezTo>
                    <a:pt x="507232" y="2072953"/>
                    <a:pt x="826989" y="2645347"/>
                    <a:pt x="826989" y="2645347"/>
                  </a:cubicBezTo>
                  <a:cubicBezTo>
                    <a:pt x="826989" y="2645347"/>
                    <a:pt x="264266" y="2888344"/>
                    <a:pt x="178662" y="3023342"/>
                  </a:cubicBezTo>
                  <a:cubicBezTo>
                    <a:pt x="93058" y="3158341"/>
                    <a:pt x="-31861" y="4339577"/>
                    <a:pt x="7453" y="4497525"/>
                  </a:cubicBezTo>
                  <a:cubicBezTo>
                    <a:pt x="46479" y="4655473"/>
                    <a:pt x="411556" y="5060468"/>
                    <a:pt x="670887" y="5149567"/>
                  </a:cubicBezTo>
                  <a:cubicBezTo>
                    <a:pt x="931477" y="5238666"/>
                    <a:pt x="1620088" y="5164417"/>
                    <a:pt x="1620088" y="5164417"/>
                  </a:cubicBezTo>
                  <a:cubicBezTo>
                    <a:pt x="1620088" y="5164417"/>
                    <a:pt x="1615053" y="5801609"/>
                    <a:pt x="1664149" y="5935258"/>
                  </a:cubicBezTo>
                  <a:cubicBezTo>
                    <a:pt x="1713246" y="6068906"/>
                    <a:pt x="2219318" y="6480651"/>
                    <a:pt x="2457248" y="6480651"/>
                  </a:cubicBezTo>
                  <a:cubicBezTo>
                    <a:pt x="2695178" y="6480651"/>
                    <a:pt x="3622978" y="6390202"/>
                    <a:pt x="3726206" y="6295703"/>
                  </a:cubicBezTo>
                  <a:cubicBezTo>
                    <a:pt x="3829435" y="6201204"/>
                    <a:pt x="4078695" y="5651761"/>
                    <a:pt x="4078695" y="5651761"/>
                  </a:cubicBezTo>
                  <a:cubicBezTo>
                    <a:pt x="4078695" y="5651761"/>
                    <a:pt x="4637641" y="5856958"/>
                    <a:pt x="4821438" y="5890708"/>
                  </a:cubicBezTo>
                  <a:cubicBezTo>
                    <a:pt x="5005236" y="5924458"/>
                    <a:pt x="5794558" y="5514063"/>
                    <a:pt x="5873868" y="5391214"/>
                  </a:cubicBezTo>
                  <a:cubicBezTo>
                    <a:pt x="5953178" y="5268365"/>
                    <a:pt x="6189849" y="4303127"/>
                    <a:pt x="6134458" y="4200529"/>
                  </a:cubicBezTo>
                  <a:cubicBezTo>
                    <a:pt x="6080326" y="4099280"/>
                    <a:pt x="5719025" y="3559286"/>
                    <a:pt x="5719025" y="3559286"/>
                  </a:cubicBezTo>
                  <a:cubicBezTo>
                    <a:pt x="5719025" y="3559286"/>
                    <a:pt x="6160895" y="3216390"/>
                    <a:pt x="6213768" y="3047642"/>
                  </a:cubicBezTo>
                  <a:close/>
                </a:path>
              </a:pathLst>
            </a:custGeom>
            <a:blipFill>
              <a:blip r:embed="rId5"/>
              <a:stretch>
                <a:fillRect l="-42663" t="-17" r="-42661" b="-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203621" y="2621935"/>
            <a:ext cx="8445603" cy="985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4"/>
              </a:lnSpc>
            </a:pPr>
            <a:r>
              <a:rPr lang="en-US" sz="6699" spc="-33">
                <a:solidFill>
                  <a:srgbClr val="7A0000"/>
                </a:solidFill>
                <a:latin typeface="PL Benguiat Frisky"/>
                <a:ea typeface="PL Benguiat Frisky"/>
                <a:cs typeface="PL Benguiat Frisky"/>
                <a:sym typeface="PL Benguiat Frisky"/>
              </a:rPr>
              <a:t>What is Engineering?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918315">
            <a:off x="10394690" y="-265453"/>
            <a:ext cx="4764191" cy="2588307"/>
          </a:xfrm>
          <a:custGeom>
            <a:avLst/>
            <a:gdLst/>
            <a:ahLst/>
            <a:cxnLst/>
            <a:rect r="r" b="b" t="t" l="l"/>
            <a:pathLst>
              <a:path h="2588307" w="4764191">
                <a:moveTo>
                  <a:pt x="4764191" y="2588306"/>
                </a:moveTo>
                <a:lnTo>
                  <a:pt x="0" y="2588306"/>
                </a:lnTo>
                <a:lnTo>
                  <a:pt x="0" y="0"/>
                </a:lnTo>
                <a:lnTo>
                  <a:pt x="4764191" y="0"/>
                </a:lnTo>
                <a:lnTo>
                  <a:pt x="4764191" y="2588306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730728" y="489445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4109" y="-228501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070930" y="3404561"/>
            <a:ext cx="9718211" cy="5151805"/>
            <a:chOff x="0" y="0"/>
            <a:chExt cx="2159597" cy="11448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59597" cy="1144843"/>
            </a:xfrm>
            <a:custGeom>
              <a:avLst/>
              <a:gdLst/>
              <a:ahLst/>
              <a:cxnLst/>
              <a:rect r="r" b="b" t="t" l="l"/>
              <a:pathLst>
                <a:path h="1144843" w="2159597">
                  <a:moveTo>
                    <a:pt x="0" y="0"/>
                  </a:moveTo>
                  <a:lnTo>
                    <a:pt x="2159597" y="0"/>
                  </a:lnTo>
                  <a:lnTo>
                    <a:pt x="2159597" y="1144843"/>
                  </a:lnTo>
                  <a:lnTo>
                    <a:pt x="0" y="1144843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159597" cy="11829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164127" y="4320614"/>
            <a:ext cx="9625014" cy="3406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34"/>
              </a:lnSpc>
            </a:pPr>
            <a:r>
              <a:rPr lang="en-US" sz="2231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             SCIENCE                                                                           ENGINEERING </a:t>
            </a:r>
          </a:p>
          <a:p>
            <a:pPr algn="just">
              <a:lnSpc>
                <a:spcPts val="3034"/>
              </a:lnSpc>
            </a:pPr>
          </a:p>
          <a:p>
            <a:pPr algn="l">
              <a:lnSpc>
                <a:spcPts val="3034"/>
              </a:lnSpc>
            </a:pPr>
            <a:r>
              <a:rPr lang="en-US" sz="2231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Science studies how nature works.                    Engineering uses science to solve problems.</a:t>
            </a:r>
          </a:p>
          <a:p>
            <a:pPr algn="l">
              <a:lnSpc>
                <a:spcPts val="3034"/>
              </a:lnSpc>
            </a:pPr>
          </a:p>
          <a:p>
            <a:pPr algn="just">
              <a:lnSpc>
                <a:spcPts val="3034"/>
              </a:lnSpc>
            </a:pPr>
            <a:r>
              <a:rPr lang="en-US" sz="2231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It focuses on finding new knowledge.               It focuses on making useful products.</a:t>
            </a:r>
          </a:p>
          <a:p>
            <a:pPr algn="just">
              <a:lnSpc>
                <a:spcPts val="3034"/>
              </a:lnSpc>
            </a:pPr>
          </a:p>
          <a:p>
            <a:pPr algn="just">
              <a:lnSpc>
                <a:spcPts val="3034"/>
              </a:lnSpc>
            </a:pPr>
            <a:r>
              <a:rPr lang="en-US" sz="2231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Scientists do research and experiments.          Engineers design, build, and improve things.</a:t>
            </a:r>
          </a:p>
          <a:p>
            <a:pPr algn="just">
              <a:lnSpc>
                <a:spcPts val="3034"/>
              </a:lnSpc>
            </a:pPr>
          </a:p>
          <a:p>
            <a:pPr algn="just">
              <a:lnSpc>
                <a:spcPts val="3034"/>
              </a:lnSpc>
            </a:pPr>
            <a:r>
              <a:rPr lang="en-US" sz="2231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Example: Studying gravity or electricity.           Example: Building bridges, machines.</a:t>
            </a:r>
          </a:p>
        </p:txBody>
      </p:sp>
      <p:sp>
        <p:nvSpPr>
          <p:cNvPr name="Freeform 7" id="7"/>
          <p:cNvSpPr/>
          <p:nvPr/>
        </p:nvSpPr>
        <p:spPr>
          <a:xfrm flipH="true" flipV="true" rot="918315">
            <a:off x="8838388" y="-74171"/>
            <a:ext cx="2430141" cy="1320256"/>
          </a:xfrm>
          <a:custGeom>
            <a:avLst/>
            <a:gdLst/>
            <a:ahLst/>
            <a:cxnLst/>
            <a:rect r="r" b="b" t="t" l="l"/>
            <a:pathLst>
              <a:path h="1320256" w="2430141">
                <a:moveTo>
                  <a:pt x="2430141" y="1320256"/>
                </a:moveTo>
                <a:lnTo>
                  <a:pt x="0" y="1320256"/>
                </a:lnTo>
                <a:lnTo>
                  <a:pt x="0" y="0"/>
                </a:lnTo>
                <a:lnTo>
                  <a:pt x="2430141" y="0"/>
                </a:lnTo>
                <a:lnTo>
                  <a:pt x="2430141" y="132025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730728" y="489445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504109" y="-228501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31443" y="1720164"/>
            <a:ext cx="7046760" cy="6836203"/>
            <a:chOff x="0" y="0"/>
            <a:chExt cx="6350000" cy="616026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6"/>
              <a:stretch>
                <a:fillRect l="0" t="-1540" r="0" b="-154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0" y="-206389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true" rot="0">
            <a:off x="5860754" y="6788165"/>
            <a:ext cx="1947138" cy="3536403"/>
          </a:xfrm>
          <a:custGeom>
            <a:avLst/>
            <a:gdLst/>
            <a:ahLst/>
            <a:cxnLst/>
            <a:rect r="r" b="b" t="t" l="l"/>
            <a:pathLst>
              <a:path h="3536403" w="1947138">
                <a:moveTo>
                  <a:pt x="1947138" y="3536403"/>
                </a:moveTo>
                <a:lnTo>
                  <a:pt x="0" y="3536403"/>
                </a:lnTo>
                <a:lnTo>
                  <a:pt x="0" y="0"/>
                </a:lnTo>
                <a:lnTo>
                  <a:pt x="1947138" y="0"/>
                </a:lnTo>
                <a:lnTo>
                  <a:pt x="1947138" y="353640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245377" y="8474869"/>
            <a:ext cx="2557618" cy="1389512"/>
          </a:xfrm>
          <a:custGeom>
            <a:avLst/>
            <a:gdLst/>
            <a:ahLst/>
            <a:cxnLst/>
            <a:rect r="r" b="b" t="t" l="l"/>
            <a:pathLst>
              <a:path h="1389512" w="2557618">
                <a:moveTo>
                  <a:pt x="0" y="0"/>
                </a:moveTo>
                <a:lnTo>
                  <a:pt x="2557618" y="0"/>
                </a:lnTo>
                <a:lnTo>
                  <a:pt x="2557618" y="1389512"/>
                </a:lnTo>
                <a:lnTo>
                  <a:pt x="0" y="13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707234" y="1485051"/>
            <a:ext cx="8445603" cy="1548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95"/>
              </a:lnSpc>
            </a:pPr>
            <a:r>
              <a:rPr lang="en-US" sz="5300" spc="-402">
                <a:solidFill>
                  <a:srgbClr val="7A0000"/>
                </a:solidFill>
                <a:latin typeface="PL Benguiat Frisky"/>
                <a:ea typeface="PL Benguiat Frisky"/>
                <a:cs typeface="PL Benguiat Frisky"/>
                <a:sym typeface="PL Benguiat Frisky"/>
              </a:rPr>
              <a:t>Difference between </a:t>
            </a:r>
          </a:p>
          <a:p>
            <a:pPr algn="ctr">
              <a:lnSpc>
                <a:spcPts val="6095"/>
              </a:lnSpc>
            </a:pPr>
            <a:r>
              <a:rPr lang="en-US" sz="5300" spc="-402">
                <a:solidFill>
                  <a:srgbClr val="7A0000"/>
                </a:solidFill>
                <a:latin typeface="PL Benguiat Frisky"/>
                <a:ea typeface="PL Benguiat Frisky"/>
                <a:cs typeface="PL Benguiat Frisky"/>
                <a:sym typeface="PL Benguiat Frisky"/>
              </a:rPr>
              <a:t>Science and Engineering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736973" y="3552855"/>
            <a:ext cx="6116514" cy="3925165"/>
            <a:chOff x="0" y="0"/>
            <a:chExt cx="1610934" cy="1033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0934" cy="1033788"/>
            </a:xfrm>
            <a:custGeom>
              <a:avLst/>
              <a:gdLst/>
              <a:ahLst/>
              <a:cxnLst/>
              <a:rect r="r" b="b" t="t" l="l"/>
              <a:pathLst>
                <a:path h="1033788" w="1610934">
                  <a:moveTo>
                    <a:pt x="0" y="0"/>
                  </a:moveTo>
                  <a:lnTo>
                    <a:pt x="1610934" y="0"/>
                  </a:lnTo>
                  <a:lnTo>
                    <a:pt x="1610934" y="1033788"/>
                  </a:lnTo>
                  <a:lnTo>
                    <a:pt x="0" y="1033788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0934" cy="107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434512" y="3552855"/>
            <a:ext cx="6116514" cy="3925165"/>
            <a:chOff x="0" y="0"/>
            <a:chExt cx="1610934" cy="10337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10934" cy="1033788"/>
            </a:xfrm>
            <a:custGeom>
              <a:avLst/>
              <a:gdLst/>
              <a:ahLst/>
              <a:cxnLst/>
              <a:rect r="r" b="b" t="t" l="l"/>
              <a:pathLst>
                <a:path h="1033788" w="1610934">
                  <a:moveTo>
                    <a:pt x="0" y="0"/>
                  </a:moveTo>
                  <a:lnTo>
                    <a:pt x="1610934" y="0"/>
                  </a:lnTo>
                  <a:lnTo>
                    <a:pt x="1610934" y="1033788"/>
                  </a:lnTo>
                  <a:lnTo>
                    <a:pt x="0" y="1033788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610934" cy="107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062812" y="3828751"/>
            <a:ext cx="5464837" cy="273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2B0934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                                         </a:t>
            </a:r>
            <a:r>
              <a:rPr lang="en-US" sz="1800" b="true">
                <a:solidFill>
                  <a:srgbClr val="00167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SCIENTIST</a:t>
            </a:r>
            <a:r>
              <a:rPr lang="en-US" sz="1800">
                <a:solidFill>
                  <a:srgbClr val="2B0934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</a:t>
            </a:r>
          </a:p>
          <a:p>
            <a:pPr algn="just">
              <a:lnSpc>
                <a:spcPts val="2448"/>
              </a:lnSpc>
            </a:pPr>
          </a:p>
          <a:p>
            <a:pPr algn="just" marL="388620" indent="-194310" lvl="1">
              <a:lnSpc>
                <a:spcPts val="2448"/>
              </a:lnSpc>
              <a:buFont typeface="Arial"/>
              <a:buChar char="•"/>
            </a:pPr>
            <a:r>
              <a:rPr lang="en-US" sz="1800">
                <a:solidFill>
                  <a:srgbClr val="2B0934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 scientist studies and discovers new knowledge.</a:t>
            </a:r>
          </a:p>
          <a:p>
            <a:pPr algn="just">
              <a:lnSpc>
                <a:spcPts val="2448"/>
              </a:lnSpc>
            </a:pPr>
          </a:p>
          <a:p>
            <a:pPr algn="just" marL="388620" indent="-194310" lvl="1">
              <a:lnSpc>
                <a:spcPts val="2448"/>
              </a:lnSpc>
              <a:buFont typeface="Arial"/>
              <a:buChar char="•"/>
            </a:pPr>
            <a:r>
              <a:rPr lang="en-US" sz="1800">
                <a:solidFill>
                  <a:srgbClr val="2B0934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Scientists perform research and experiments.</a:t>
            </a:r>
          </a:p>
          <a:p>
            <a:pPr algn="just">
              <a:lnSpc>
                <a:spcPts val="2448"/>
              </a:lnSpc>
            </a:pPr>
          </a:p>
          <a:p>
            <a:pPr algn="just" marL="388620" indent="-194310" lvl="1">
              <a:lnSpc>
                <a:spcPts val="2448"/>
              </a:lnSpc>
              <a:buFont typeface="Arial"/>
              <a:buChar char="•"/>
            </a:pPr>
            <a:r>
              <a:rPr lang="en-US" sz="1800">
                <a:solidFill>
                  <a:srgbClr val="2B0934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Their goal is to understand how things work.</a:t>
            </a:r>
          </a:p>
          <a:p>
            <a:pPr algn="just">
              <a:lnSpc>
                <a:spcPts val="2448"/>
              </a:lnSpc>
            </a:pPr>
          </a:p>
          <a:p>
            <a:pPr algn="just" marL="388620" indent="-194310" lvl="1">
              <a:lnSpc>
                <a:spcPts val="2448"/>
              </a:lnSpc>
              <a:buFont typeface="Arial"/>
              <a:buChar char="•"/>
            </a:pPr>
            <a:r>
              <a:rPr lang="en-US" sz="1800">
                <a:solidFill>
                  <a:srgbClr val="2B0934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Example: A physicist studying gravity.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46380" y="3935812"/>
            <a:ext cx="5464837" cy="262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12"/>
              </a:lnSpc>
            </a:pPr>
            <a:r>
              <a:rPr lang="en-US" sz="17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                                              </a:t>
            </a:r>
            <a:r>
              <a:rPr lang="en-US" sz="1700" b="true">
                <a:solidFill>
                  <a:srgbClr val="00167A"/>
                </a:solidFill>
                <a:latin typeface="Proxima Nova Condensed Bold"/>
                <a:ea typeface="Proxima Nova Condensed Bold"/>
                <a:cs typeface="Proxima Nova Condensed Bold"/>
                <a:sym typeface="Proxima Nova Condensed Bold"/>
              </a:rPr>
              <a:t>ENGINEER</a:t>
            </a:r>
            <a:r>
              <a:rPr lang="en-US" sz="17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</a:t>
            </a:r>
          </a:p>
          <a:p>
            <a:pPr algn="just">
              <a:lnSpc>
                <a:spcPts val="2312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An engineer uses scientific knowledge to solve problems.</a:t>
            </a:r>
          </a:p>
          <a:p>
            <a:pPr algn="l">
              <a:lnSpc>
                <a:spcPts val="2380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Engineers design, build, and improve products and systems.</a:t>
            </a:r>
          </a:p>
          <a:p>
            <a:pPr algn="l">
              <a:lnSpc>
                <a:spcPts val="2380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Their goal is to create useful solutions for people.</a:t>
            </a:r>
          </a:p>
          <a:p>
            <a:pPr algn="l">
              <a:lnSpc>
                <a:spcPts val="2380"/>
              </a:lnSpc>
            </a:pPr>
          </a:p>
          <a:p>
            <a:pPr algn="l" marL="367031" indent="-183515" lvl="1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 Example: A civil engineer designing a bridge.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918315">
            <a:off x="12989732" y="1326019"/>
            <a:ext cx="2430141" cy="1320256"/>
          </a:xfrm>
          <a:custGeom>
            <a:avLst/>
            <a:gdLst/>
            <a:ahLst/>
            <a:cxnLst/>
            <a:rect r="r" b="b" t="t" l="l"/>
            <a:pathLst>
              <a:path h="1320256" w="2430141">
                <a:moveTo>
                  <a:pt x="2430141" y="1320256"/>
                </a:moveTo>
                <a:lnTo>
                  <a:pt x="0" y="1320256"/>
                </a:lnTo>
                <a:lnTo>
                  <a:pt x="0" y="0"/>
                </a:lnTo>
                <a:lnTo>
                  <a:pt x="2430141" y="0"/>
                </a:lnTo>
                <a:lnTo>
                  <a:pt x="2430141" y="132025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730728" y="489445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6504109" y="-228501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6535" y="1270304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true" rot="0">
            <a:off x="14745761" y="5106997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9" y="4565103"/>
                </a:moveTo>
                <a:lnTo>
                  <a:pt x="0" y="4565103"/>
                </a:lnTo>
                <a:lnTo>
                  <a:pt x="0" y="0"/>
                </a:lnTo>
                <a:lnTo>
                  <a:pt x="2513539" y="0"/>
                </a:lnTo>
                <a:lnTo>
                  <a:pt x="2513539" y="456510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334181" y="8282588"/>
            <a:ext cx="2557618" cy="1389512"/>
          </a:xfrm>
          <a:custGeom>
            <a:avLst/>
            <a:gdLst/>
            <a:ahLst/>
            <a:cxnLst/>
            <a:rect r="r" b="b" t="t" l="l"/>
            <a:pathLst>
              <a:path h="1389512" w="2557618">
                <a:moveTo>
                  <a:pt x="0" y="0"/>
                </a:moveTo>
                <a:lnTo>
                  <a:pt x="2557617" y="0"/>
                </a:lnTo>
                <a:lnTo>
                  <a:pt x="2557617" y="1389512"/>
                </a:lnTo>
                <a:lnTo>
                  <a:pt x="0" y="13895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921199" y="1745984"/>
            <a:ext cx="8445603" cy="1197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5"/>
              </a:lnSpc>
            </a:pPr>
            <a:r>
              <a:rPr lang="en-US" sz="4100" spc="-463">
                <a:solidFill>
                  <a:srgbClr val="7A0000"/>
                </a:solidFill>
                <a:latin typeface="Quando"/>
                <a:ea typeface="Quando"/>
                <a:cs typeface="Quando"/>
                <a:sym typeface="Quando"/>
              </a:rPr>
              <a:t>Difference between </a:t>
            </a:r>
          </a:p>
          <a:p>
            <a:pPr algn="ctr">
              <a:lnSpc>
                <a:spcPts val="4715"/>
              </a:lnSpc>
            </a:pPr>
            <a:r>
              <a:rPr lang="en-US" sz="4100" spc="-463">
                <a:solidFill>
                  <a:srgbClr val="7A0000"/>
                </a:solidFill>
                <a:latin typeface="Quando"/>
                <a:ea typeface="Quando"/>
                <a:cs typeface="Quando"/>
                <a:sym typeface="Quando"/>
              </a:rPr>
              <a:t>Scientist and Engineer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36973" y="7824463"/>
            <a:ext cx="1843977" cy="93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5"/>
              </a:lnSpc>
            </a:pPr>
            <a:r>
              <a:rPr lang="en-US" sz="6291" spc="-710">
                <a:solidFill>
                  <a:srgbClr val="85553D"/>
                </a:solidFill>
                <a:latin typeface="Trochut"/>
                <a:ea typeface="Trochut"/>
                <a:cs typeface="Trochut"/>
                <a:sym typeface="Trochut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34512" y="7824463"/>
            <a:ext cx="1843977" cy="93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35"/>
              </a:lnSpc>
            </a:pPr>
            <a:r>
              <a:rPr lang="en-US" sz="6291" spc="-710">
                <a:solidFill>
                  <a:srgbClr val="85553D"/>
                </a:solidFill>
                <a:latin typeface="Trochut"/>
                <a:ea typeface="Trochut"/>
                <a:cs typeface="Trochut"/>
                <a:sym typeface="Trochut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674721"/>
            <a:ext cx="6116514" cy="3925165"/>
            <a:chOff x="0" y="0"/>
            <a:chExt cx="1610934" cy="10337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10934" cy="1033788"/>
            </a:xfrm>
            <a:custGeom>
              <a:avLst/>
              <a:gdLst/>
              <a:ahLst/>
              <a:cxnLst/>
              <a:rect r="r" b="b" t="t" l="l"/>
              <a:pathLst>
                <a:path h="1033788" w="1610934">
                  <a:moveTo>
                    <a:pt x="0" y="0"/>
                  </a:moveTo>
                  <a:lnTo>
                    <a:pt x="1610934" y="0"/>
                  </a:lnTo>
                  <a:lnTo>
                    <a:pt x="1610934" y="1033788"/>
                  </a:lnTo>
                  <a:lnTo>
                    <a:pt x="0" y="1033788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610934" cy="107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610051" y="650944"/>
            <a:ext cx="4325399" cy="4154113"/>
            <a:chOff x="0" y="0"/>
            <a:chExt cx="6350000" cy="60985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-1083" y="-249"/>
              <a:ext cx="6351175" cy="6097519"/>
            </a:xfrm>
            <a:custGeom>
              <a:avLst/>
              <a:gdLst/>
              <a:ahLst/>
              <a:cxnLst/>
              <a:rect r="r" b="b" t="t" l="l"/>
              <a:pathLst>
                <a:path h="6097519" w="6351175">
                  <a:moveTo>
                    <a:pt x="6269803" y="2869179"/>
                  </a:moveTo>
                  <a:cubicBezTo>
                    <a:pt x="6297743" y="2785359"/>
                    <a:pt x="6381563" y="1989069"/>
                    <a:pt x="6339653" y="1881119"/>
                  </a:cubicBezTo>
                  <a:cubicBezTo>
                    <a:pt x="6297743" y="1773169"/>
                    <a:pt x="5831653" y="1362959"/>
                    <a:pt x="5711003" y="1327399"/>
                  </a:cubicBezTo>
                  <a:cubicBezTo>
                    <a:pt x="5459543" y="1253739"/>
                    <a:pt x="4801683" y="1360419"/>
                    <a:pt x="4801683" y="1360419"/>
                  </a:cubicBezTo>
                  <a:cubicBezTo>
                    <a:pt x="4801683" y="1360419"/>
                    <a:pt x="4915983" y="889249"/>
                    <a:pt x="4896933" y="712719"/>
                  </a:cubicBezTo>
                  <a:cubicBezTo>
                    <a:pt x="4877883" y="536189"/>
                    <a:pt x="4414333" y="208529"/>
                    <a:pt x="4312733" y="104389"/>
                  </a:cubicBezTo>
                  <a:cubicBezTo>
                    <a:pt x="4212403" y="1519"/>
                    <a:pt x="3329753" y="-31501"/>
                    <a:pt x="3134173" y="33269"/>
                  </a:cubicBezTo>
                  <a:cubicBezTo>
                    <a:pt x="2938593" y="96769"/>
                    <a:pt x="2584263" y="644139"/>
                    <a:pt x="2584263" y="644139"/>
                  </a:cubicBezTo>
                  <a:cubicBezTo>
                    <a:pt x="2584263" y="644139"/>
                    <a:pt x="1951803" y="216149"/>
                    <a:pt x="1795593" y="166619"/>
                  </a:cubicBezTo>
                  <a:cubicBezTo>
                    <a:pt x="1638113" y="117089"/>
                    <a:pt x="1150433" y="386329"/>
                    <a:pt x="933263" y="539999"/>
                  </a:cubicBezTo>
                  <a:cubicBezTo>
                    <a:pt x="716093" y="693669"/>
                    <a:pt x="534483" y="1554729"/>
                    <a:pt x="523053" y="1752849"/>
                  </a:cubicBezTo>
                  <a:cubicBezTo>
                    <a:pt x="511623" y="1950969"/>
                    <a:pt x="834203" y="2489449"/>
                    <a:pt x="834203" y="2489449"/>
                  </a:cubicBezTo>
                  <a:cubicBezTo>
                    <a:pt x="834203" y="2489449"/>
                    <a:pt x="266513" y="2718049"/>
                    <a:pt x="180153" y="2845049"/>
                  </a:cubicBezTo>
                  <a:cubicBezTo>
                    <a:pt x="93793" y="2972049"/>
                    <a:pt x="-31937" y="4083299"/>
                    <a:pt x="7433" y="4231889"/>
                  </a:cubicBezTo>
                  <a:cubicBezTo>
                    <a:pt x="46803" y="4380479"/>
                    <a:pt x="415103" y="4761479"/>
                    <a:pt x="676723" y="4845299"/>
                  </a:cubicBezTo>
                  <a:cubicBezTo>
                    <a:pt x="939613" y="4929119"/>
                    <a:pt x="1634303" y="4859269"/>
                    <a:pt x="1634303" y="4859269"/>
                  </a:cubicBezTo>
                  <a:cubicBezTo>
                    <a:pt x="1634303" y="4859269"/>
                    <a:pt x="1629223" y="5458709"/>
                    <a:pt x="1678753" y="5584439"/>
                  </a:cubicBezTo>
                  <a:cubicBezTo>
                    <a:pt x="1728283" y="5710169"/>
                    <a:pt x="2238823" y="6097519"/>
                    <a:pt x="2478853" y="6097519"/>
                  </a:cubicBezTo>
                  <a:cubicBezTo>
                    <a:pt x="2718883" y="6097519"/>
                    <a:pt x="3654873" y="6012429"/>
                    <a:pt x="3759013" y="5923529"/>
                  </a:cubicBezTo>
                  <a:cubicBezTo>
                    <a:pt x="3863153" y="5834629"/>
                    <a:pt x="4114613" y="5317739"/>
                    <a:pt x="4114613" y="5317739"/>
                  </a:cubicBezTo>
                  <a:cubicBezTo>
                    <a:pt x="4114613" y="5317739"/>
                    <a:pt x="4678493" y="5510779"/>
                    <a:pt x="4863913" y="5542529"/>
                  </a:cubicBezTo>
                  <a:cubicBezTo>
                    <a:pt x="5049333" y="5574279"/>
                    <a:pt x="5845623" y="5188199"/>
                    <a:pt x="5925633" y="5072629"/>
                  </a:cubicBezTo>
                  <a:cubicBezTo>
                    <a:pt x="6005643" y="4957059"/>
                    <a:pt x="6244403" y="4049009"/>
                    <a:pt x="6188523" y="3952489"/>
                  </a:cubicBezTo>
                  <a:cubicBezTo>
                    <a:pt x="6133913" y="3857239"/>
                    <a:pt x="5769423" y="3349239"/>
                    <a:pt x="5769423" y="3349239"/>
                  </a:cubicBezTo>
                  <a:cubicBezTo>
                    <a:pt x="5769423" y="3349239"/>
                    <a:pt x="6215193" y="3026659"/>
                    <a:pt x="6268533" y="2867909"/>
                  </a:cubicBezTo>
                  <a:close/>
                </a:path>
              </a:pathLst>
            </a:custGeom>
            <a:blipFill>
              <a:blip r:embed="rId3"/>
              <a:stretch>
                <a:fillRect l="0" t="-2079" r="0" b="-207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819376" y="3920770"/>
            <a:ext cx="6116514" cy="3925165"/>
            <a:chOff x="0" y="0"/>
            <a:chExt cx="1610934" cy="103378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10934" cy="1033788"/>
            </a:xfrm>
            <a:custGeom>
              <a:avLst/>
              <a:gdLst/>
              <a:ahLst/>
              <a:cxnLst/>
              <a:rect r="r" b="b" t="t" l="l"/>
              <a:pathLst>
                <a:path h="1033788" w="1610934">
                  <a:moveTo>
                    <a:pt x="0" y="0"/>
                  </a:moveTo>
                  <a:lnTo>
                    <a:pt x="1610934" y="0"/>
                  </a:lnTo>
                  <a:lnTo>
                    <a:pt x="1610934" y="1033788"/>
                  </a:lnTo>
                  <a:lnTo>
                    <a:pt x="0" y="1033788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10934" cy="10718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354539" y="2083967"/>
            <a:ext cx="5464837" cy="3399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000">
                <a:solidFill>
                  <a:srgbClr val="6B1FAD"/>
                </a:solidFill>
                <a:latin typeface="Forum"/>
                <a:ea typeface="Forum"/>
                <a:cs typeface="Forum"/>
                <a:sym typeface="Forum"/>
              </a:rPr>
              <a:t>Needs of CSE :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1. Solve real-world problems using computers and software.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2. Store and protect data securely and efficiently.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3. Develop reliable software and computer systems for various applications</a:t>
            </a: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algn="just">
              <a:lnSpc>
                <a:spcPts val="2448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7202364" y="4292706"/>
            <a:ext cx="5464837" cy="3704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000">
                <a:solidFill>
                  <a:srgbClr val="6B1FAD"/>
                </a:solidFill>
                <a:latin typeface="Forum"/>
                <a:ea typeface="Forum"/>
                <a:cs typeface="Forum"/>
                <a:sym typeface="Forum"/>
              </a:rPr>
              <a:t>Wants of CSE :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1. Create smart technologies like Artificial Intelligence (AI) and Robotics.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2. Develop faster and user-friendly applications to improve daily life.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Forum"/>
                <a:ea typeface="Forum"/>
                <a:cs typeface="Forum"/>
                <a:sym typeface="Forum"/>
              </a:rPr>
              <a:t>3. Innovate new technologies to make work easier and more efficient</a:t>
            </a: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FFFFFF"/>
                </a:solidFill>
                <a:latin typeface="Forum"/>
                <a:ea typeface="Forum"/>
                <a:cs typeface="Forum"/>
                <a:sym typeface="Forum"/>
              </a:rPr>
              <a:t>.</a:t>
            </a:r>
          </a:p>
          <a:p>
            <a:pPr algn="just">
              <a:lnSpc>
                <a:spcPts val="2448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true" flipV="true" rot="918315">
            <a:off x="8975401" y="-385925"/>
            <a:ext cx="2430141" cy="1320256"/>
          </a:xfrm>
          <a:custGeom>
            <a:avLst/>
            <a:gdLst/>
            <a:ahLst/>
            <a:cxnLst/>
            <a:rect r="r" b="b" t="t" l="l"/>
            <a:pathLst>
              <a:path h="1320256" w="2430141">
                <a:moveTo>
                  <a:pt x="2430141" y="1320256"/>
                </a:moveTo>
                <a:lnTo>
                  <a:pt x="0" y="1320256"/>
                </a:lnTo>
                <a:lnTo>
                  <a:pt x="0" y="0"/>
                </a:lnTo>
                <a:lnTo>
                  <a:pt x="2430141" y="0"/>
                </a:lnTo>
                <a:lnTo>
                  <a:pt x="2430141" y="1320256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935962" y="4225240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5975600" y="592315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5" y="0"/>
                </a:lnTo>
                <a:lnTo>
                  <a:pt x="3871925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3205" y="-1709916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8" y="0"/>
                </a:lnTo>
                <a:lnTo>
                  <a:pt x="2513538" y="4565102"/>
                </a:lnTo>
                <a:lnTo>
                  <a:pt x="0" y="4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true" flipV="true" rot="5400000">
            <a:off x="3542526" y="4422034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8" y="4565103"/>
                </a:moveTo>
                <a:lnTo>
                  <a:pt x="0" y="4565103"/>
                </a:lnTo>
                <a:lnTo>
                  <a:pt x="0" y="0"/>
                </a:lnTo>
                <a:lnTo>
                  <a:pt x="2513538" y="0"/>
                </a:lnTo>
                <a:lnTo>
                  <a:pt x="2513538" y="456510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0">
            <a:off x="12667201" y="6306538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9" y="0"/>
                </a:moveTo>
                <a:lnTo>
                  <a:pt x="0" y="0"/>
                </a:lnTo>
                <a:lnTo>
                  <a:pt x="0" y="4565103"/>
                </a:lnTo>
                <a:lnTo>
                  <a:pt x="2513539" y="4565103"/>
                </a:lnTo>
                <a:lnTo>
                  <a:pt x="251353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6912308" y="8733504"/>
            <a:ext cx="1931940" cy="1049591"/>
          </a:xfrm>
          <a:custGeom>
            <a:avLst/>
            <a:gdLst/>
            <a:ahLst/>
            <a:cxnLst/>
            <a:rect r="r" b="b" t="t" l="l"/>
            <a:pathLst>
              <a:path h="1049591" w="1931940">
                <a:moveTo>
                  <a:pt x="0" y="0"/>
                </a:moveTo>
                <a:lnTo>
                  <a:pt x="1931940" y="0"/>
                </a:lnTo>
                <a:lnTo>
                  <a:pt x="1931940" y="1049592"/>
                </a:lnTo>
                <a:lnTo>
                  <a:pt x="0" y="1049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35171" y="5882037"/>
            <a:ext cx="3948501" cy="3792141"/>
            <a:chOff x="0" y="0"/>
            <a:chExt cx="6350000" cy="60985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-1083" y="-249"/>
              <a:ext cx="6351175" cy="6097519"/>
            </a:xfrm>
            <a:custGeom>
              <a:avLst/>
              <a:gdLst/>
              <a:ahLst/>
              <a:cxnLst/>
              <a:rect r="r" b="b" t="t" l="l"/>
              <a:pathLst>
                <a:path h="6097519" w="6351175">
                  <a:moveTo>
                    <a:pt x="6269803" y="2869179"/>
                  </a:moveTo>
                  <a:cubicBezTo>
                    <a:pt x="6297743" y="2785359"/>
                    <a:pt x="6381563" y="1989069"/>
                    <a:pt x="6339653" y="1881119"/>
                  </a:cubicBezTo>
                  <a:cubicBezTo>
                    <a:pt x="6297743" y="1773169"/>
                    <a:pt x="5831653" y="1362959"/>
                    <a:pt x="5711003" y="1327399"/>
                  </a:cubicBezTo>
                  <a:cubicBezTo>
                    <a:pt x="5459543" y="1253739"/>
                    <a:pt x="4801683" y="1360419"/>
                    <a:pt x="4801683" y="1360419"/>
                  </a:cubicBezTo>
                  <a:cubicBezTo>
                    <a:pt x="4801683" y="1360419"/>
                    <a:pt x="4915983" y="889249"/>
                    <a:pt x="4896933" y="712719"/>
                  </a:cubicBezTo>
                  <a:cubicBezTo>
                    <a:pt x="4877883" y="536189"/>
                    <a:pt x="4414333" y="208529"/>
                    <a:pt x="4312733" y="104389"/>
                  </a:cubicBezTo>
                  <a:cubicBezTo>
                    <a:pt x="4212403" y="1519"/>
                    <a:pt x="3329753" y="-31501"/>
                    <a:pt x="3134173" y="33269"/>
                  </a:cubicBezTo>
                  <a:cubicBezTo>
                    <a:pt x="2938593" y="96769"/>
                    <a:pt x="2584263" y="644139"/>
                    <a:pt x="2584263" y="644139"/>
                  </a:cubicBezTo>
                  <a:cubicBezTo>
                    <a:pt x="2584263" y="644139"/>
                    <a:pt x="1951803" y="216149"/>
                    <a:pt x="1795593" y="166619"/>
                  </a:cubicBezTo>
                  <a:cubicBezTo>
                    <a:pt x="1638113" y="117089"/>
                    <a:pt x="1150433" y="386329"/>
                    <a:pt x="933263" y="539999"/>
                  </a:cubicBezTo>
                  <a:cubicBezTo>
                    <a:pt x="716093" y="693669"/>
                    <a:pt x="534483" y="1554729"/>
                    <a:pt x="523053" y="1752849"/>
                  </a:cubicBezTo>
                  <a:cubicBezTo>
                    <a:pt x="511623" y="1950969"/>
                    <a:pt x="834203" y="2489449"/>
                    <a:pt x="834203" y="2489449"/>
                  </a:cubicBezTo>
                  <a:cubicBezTo>
                    <a:pt x="834203" y="2489449"/>
                    <a:pt x="266513" y="2718049"/>
                    <a:pt x="180153" y="2845049"/>
                  </a:cubicBezTo>
                  <a:cubicBezTo>
                    <a:pt x="93793" y="2972049"/>
                    <a:pt x="-31937" y="4083299"/>
                    <a:pt x="7433" y="4231889"/>
                  </a:cubicBezTo>
                  <a:cubicBezTo>
                    <a:pt x="46803" y="4380479"/>
                    <a:pt x="415103" y="4761479"/>
                    <a:pt x="676723" y="4845299"/>
                  </a:cubicBezTo>
                  <a:cubicBezTo>
                    <a:pt x="939613" y="4929119"/>
                    <a:pt x="1634303" y="4859269"/>
                    <a:pt x="1634303" y="4859269"/>
                  </a:cubicBezTo>
                  <a:cubicBezTo>
                    <a:pt x="1634303" y="4859269"/>
                    <a:pt x="1629223" y="5458709"/>
                    <a:pt x="1678753" y="5584439"/>
                  </a:cubicBezTo>
                  <a:cubicBezTo>
                    <a:pt x="1728283" y="5710169"/>
                    <a:pt x="2238823" y="6097519"/>
                    <a:pt x="2478853" y="6097519"/>
                  </a:cubicBezTo>
                  <a:cubicBezTo>
                    <a:pt x="2718883" y="6097519"/>
                    <a:pt x="3654873" y="6012429"/>
                    <a:pt x="3759013" y="5923529"/>
                  </a:cubicBezTo>
                  <a:cubicBezTo>
                    <a:pt x="3863153" y="5834629"/>
                    <a:pt x="4114613" y="5317739"/>
                    <a:pt x="4114613" y="5317739"/>
                  </a:cubicBezTo>
                  <a:cubicBezTo>
                    <a:pt x="4114613" y="5317739"/>
                    <a:pt x="4678493" y="5510779"/>
                    <a:pt x="4863913" y="5542529"/>
                  </a:cubicBezTo>
                  <a:cubicBezTo>
                    <a:pt x="5049333" y="5574279"/>
                    <a:pt x="5845623" y="5188199"/>
                    <a:pt x="5925633" y="5072629"/>
                  </a:cubicBezTo>
                  <a:cubicBezTo>
                    <a:pt x="6005643" y="4957059"/>
                    <a:pt x="6244403" y="4049009"/>
                    <a:pt x="6188523" y="3952489"/>
                  </a:cubicBezTo>
                  <a:cubicBezTo>
                    <a:pt x="6133913" y="3857239"/>
                    <a:pt x="5769423" y="3349239"/>
                    <a:pt x="5769423" y="3349239"/>
                  </a:cubicBezTo>
                  <a:cubicBezTo>
                    <a:pt x="5769423" y="3349239"/>
                    <a:pt x="6215193" y="3026659"/>
                    <a:pt x="6268533" y="2867909"/>
                  </a:cubicBezTo>
                  <a:close/>
                </a:path>
              </a:pathLst>
            </a:custGeom>
            <a:blipFill>
              <a:blip r:embed="rId9"/>
              <a:stretch>
                <a:fillRect l="-46947" t="0" r="-46947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878278" y="1693771"/>
            <a:ext cx="3318126" cy="1674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55"/>
              </a:lnSpc>
            </a:pPr>
            <a:r>
              <a:rPr lang="en-US" sz="5700" spc="-256">
                <a:solidFill>
                  <a:srgbClr val="7A0000"/>
                </a:solidFill>
                <a:latin typeface="Trochut"/>
                <a:ea typeface="Trochut"/>
                <a:cs typeface="Trochut"/>
                <a:sym typeface="Trochut"/>
              </a:rPr>
              <a:t>N</a:t>
            </a:r>
            <a:r>
              <a:rPr lang="en-US" sz="5700" spc="-256">
                <a:solidFill>
                  <a:srgbClr val="7A0000"/>
                </a:solidFill>
                <a:latin typeface="Trochut"/>
                <a:ea typeface="Trochut"/>
                <a:cs typeface="Trochut"/>
                <a:sym typeface="Trochut"/>
              </a:rPr>
              <a:t>eeds and Wants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699791" y="1683313"/>
            <a:ext cx="4414658" cy="4239838"/>
            <a:chOff x="0" y="0"/>
            <a:chExt cx="6350000" cy="60985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-1083" y="-249"/>
              <a:ext cx="6351175" cy="6097519"/>
            </a:xfrm>
            <a:custGeom>
              <a:avLst/>
              <a:gdLst/>
              <a:ahLst/>
              <a:cxnLst/>
              <a:rect r="r" b="b" t="t" l="l"/>
              <a:pathLst>
                <a:path h="6097519" w="6351175">
                  <a:moveTo>
                    <a:pt x="6269803" y="2869179"/>
                  </a:moveTo>
                  <a:cubicBezTo>
                    <a:pt x="6297743" y="2785359"/>
                    <a:pt x="6381563" y="1989069"/>
                    <a:pt x="6339653" y="1881119"/>
                  </a:cubicBezTo>
                  <a:cubicBezTo>
                    <a:pt x="6297743" y="1773169"/>
                    <a:pt x="5831653" y="1362959"/>
                    <a:pt x="5711003" y="1327399"/>
                  </a:cubicBezTo>
                  <a:cubicBezTo>
                    <a:pt x="5459543" y="1253739"/>
                    <a:pt x="4801683" y="1360419"/>
                    <a:pt x="4801683" y="1360419"/>
                  </a:cubicBezTo>
                  <a:cubicBezTo>
                    <a:pt x="4801683" y="1360419"/>
                    <a:pt x="4915983" y="889249"/>
                    <a:pt x="4896933" y="712719"/>
                  </a:cubicBezTo>
                  <a:cubicBezTo>
                    <a:pt x="4877883" y="536189"/>
                    <a:pt x="4414333" y="208529"/>
                    <a:pt x="4312733" y="104389"/>
                  </a:cubicBezTo>
                  <a:cubicBezTo>
                    <a:pt x="4212403" y="1519"/>
                    <a:pt x="3329753" y="-31501"/>
                    <a:pt x="3134173" y="33269"/>
                  </a:cubicBezTo>
                  <a:cubicBezTo>
                    <a:pt x="2938593" y="96769"/>
                    <a:pt x="2584263" y="644139"/>
                    <a:pt x="2584263" y="644139"/>
                  </a:cubicBezTo>
                  <a:cubicBezTo>
                    <a:pt x="2584263" y="644139"/>
                    <a:pt x="1951803" y="216149"/>
                    <a:pt x="1795593" y="166619"/>
                  </a:cubicBezTo>
                  <a:cubicBezTo>
                    <a:pt x="1638113" y="117089"/>
                    <a:pt x="1150433" y="386329"/>
                    <a:pt x="933263" y="539999"/>
                  </a:cubicBezTo>
                  <a:cubicBezTo>
                    <a:pt x="716093" y="693669"/>
                    <a:pt x="534483" y="1554729"/>
                    <a:pt x="523053" y="1752849"/>
                  </a:cubicBezTo>
                  <a:cubicBezTo>
                    <a:pt x="511623" y="1950969"/>
                    <a:pt x="834203" y="2489449"/>
                    <a:pt x="834203" y="2489449"/>
                  </a:cubicBezTo>
                  <a:cubicBezTo>
                    <a:pt x="834203" y="2489449"/>
                    <a:pt x="266513" y="2718049"/>
                    <a:pt x="180153" y="2845049"/>
                  </a:cubicBezTo>
                  <a:cubicBezTo>
                    <a:pt x="93793" y="2972049"/>
                    <a:pt x="-31937" y="4083299"/>
                    <a:pt x="7433" y="4231889"/>
                  </a:cubicBezTo>
                  <a:cubicBezTo>
                    <a:pt x="46803" y="4380479"/>
                    <a:pt x="415103" y="4761479"/>
                    <a:pt x="676723" y="4845299"/>
                  </a:cubicBezTo>
                  <a:cubicBezTo>
                    <a:pt x="939613" y="4929119"/>
                    <a:pt x="1634303" y="4859269"/>
                    <a:pt x="1634303" y="4859269"/>
                  </a:cubicBezTo>
                  <a:cubicBezTo>
                    <a:pt x="1634303" y="4859269"/>
                    <a:pt x="1629223" y="5458709"/>
                    <a:pt x="1678753" y="5584439"/>
                  </a:cubicBezTo>
                  <a:cubicBezTo>
                    <a:pt x="1728283" y="5710169"/>
                    <a:pt x="2238823" y="6097519"/>
                    <a:pt x="2478853" y="6097519"/>
                  </a:cubicBezTo>
                  <a:cubicBezTo>
                    <a:pt x="2718883" y="6097519"/>
                    <a:pt x="3654873" y="6012429"/>
                    <a:pt x="3759013" y="5923529"/>
                  </a:cubicBezTo>
                  <a:cubicBezTo>
                    <a:pt x="3863153" y="5834629"/>
                    <a:pt x="4114613" y="5317739"/>
                    <a:pt x="4114613" y="5317739"/>
                  </a:cubicBezTo>
                  <a:cubicBezTo>
                    <a:pt x="4114613" y="5317739"/>
                    <a:pt x="4678493" y="5510779"/>
                    <a:pt x="4863913" y="5542529"/>
                  </a:cubicBezTo>
                  <a:cubicBezTo>
                    <a:pt x="5049333" y="5574279"/>
                    <a:pt x="5845623" y="5188199"/>
                    <a:pt x="5925633" y="5072629"/>
                  </a:cubicBezTo>
                  <a:cubicBezTo>
                    <a:pt x="6005643" y="4957059"/>
                    <a:pt x="6244403" y="4049009"/>
                    <a:pt x="6188523" y="3952489"/>
                  </a:cubicBezTo>
                  <a:cubicBezTo>
                    <a:pt x="6133913" y="3857239"/>
                    <a:pt x="5769423" y="3349239"/>
                    <a:pt x="5769423" y="3349239"/>
                  </a:cubicBezTo>
                  <a:cubicBezTo>
                    <a:pt x="5769423" y="3349239"/>
                    <a:pt x="6215193" y="3026659"/>
                    <a:pt x="6268533" y="2867909"/>
                  </a:cubicBezTo>
                  <a:close/>
                </a:path>
              </a:pathLst>
            </a:custGeom>
            <a:blipFill>
              <a:blip r:embed="rId3"/>
              <a:stretch>
                <a:fillRect l="-36297" t="0" r="-36297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true" flipV="true" rot="918315">
            <a:off x="8975401" y="-385925"/>
            <a:ext cx="2430141" cy="1320256"/>
          </a:xfrm>
          <a:custGeom>
            <a:avLst/>
            <a:gdLst/>
            <a:ahLst/>
            <a:cxnLst/>
            <a:rect r="r" b="b" t="t" l="l"/>
            <a:pathLst>
              <a:path h="1320256" w="2430141">
                <a:moveTo>
                  <a:pt x="2430141" y="1320256"/>
                </a:moveTo>
                <a:lnTo>
                  <a:pt x="0" y="1320256"/>
                </a:lnTo>
                <a:lnTo>
                  <a:pt x="0" y="0"/>
                </a:lnTo>
                <a:lnTo>
                  <a:pt x="2430141" y="0"/>
                </a:lnTo>
                <a:lnTo>
                  <a:pt x="2430141" y="1320256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5962" y="3944573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52038" y="640493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355719" y="-1654888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8" y="0"/>
                </a:lnTo>
                <a:lnTo>
                  <a:pt x="2513538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0">
            <a:off x="4132069" y="6695081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9" y="4565103"/>
                </a:moveTo>
                <a:lnTo>
                  <a:pt x="0" y="4565103"/>
                </a:lnTo>
                <a:lnTo>
                  <a:pt x="0" y="0"/>
                </a:lnTo>
                <a:lnTo>
                  <a:pt x="2513539" y="0"/>
                </a:lnTo>
                <a:lnTo>
                  <a:pt x="2513539" y="4565103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4696395" y="-2400003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9" y="0"/>
                </a:moveTo>
                <a:lnTo>
                  <a:pt x="0" y="0"/>
                </a:lnTo>
                <a:lnTo>
                  <a:pt x="0" y="4565103"/>
                </a:lnTo>
                <a:lnTo>
                  <a:pt x="2513539" y="4565103"/>
                </a:lnTo>
                <a:lnTo>
                  <a:pt x="2513539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12308" y="8733504"/>
            <a:ext cx="1931940" cy="1049591"/>
          </a:xfrm>
          <a:custGeom>
            <a:avLst/>
            <a:gdLst/>
            <a:ahLst/>
            <a:cxnLst/>
            <a:rect r="r" b="b" t="t" l="l"/>
            <a:pathLst>
              <a:path h="1049591" w="1931940">
                <a:moveTo>
                  <a:pt x="0" y="0"/>
                </a:moveTo>
                <a:lnTo>
                  <a:pt x="1931940" y="0"/>
                </a:lnTo>
                <a:lnTo>
                  <a:pt x="1931940" y="1049592"/>
                </a:lnTo>
                <a:lnTo>
                  <a:pt x="0" y="10495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5894815"/>
            <a:ext cx="3580972" cy="3439166"/>
            <a:chOff x="0" y="0"/>
            <a:chExt cx="6350000" cy="60985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1083" y="-249"/>
              <a:ext cx="6351175" cy="6097519"/>
            </a:xfrm>
            <a:custGeom>
              <a:avLst/>
              <a:gdLst/>
              <a:ahLst/>
              <a:cxnLst/>
              <a:rect r="r" b="b" t="t" l="l"/>
              <a:pathLst>
                <a:path h="6097519" w="6351175">
                  <a:moveTo>
                    <a:pt x="6269803" y="2869179"/>
                  </a:moveTo>
                  <a:cubicBezTo>
                    <a:pt x="6297743" y="2785359"/>
                    <a:pt x="6381563" y="1989069"/>
                    <a:pt x="6339653" y="1881119"/>
                  </a:cubicBezTo>
                  <a:cubicBezTo>
                    <a:pt x="6297743" y="1773169"/>
                    <a:pt x="5831653" y="1362959"/>
                    <a:pt x="5711003" y="1327399"/>
                  </a:cubicBezTo>
                  <a:cubicBezTo>
                    <a:pt x="5459543" y="1253739"/>
                    <a:pt x="4801683" y="1360419"/>
                    <a:pt x="4801683" y="1360419"/>
                  </a:cubicBezTo>
                  <a:cubicBezTo>
                    <a:pt x="4801683" y="1360419"/>
                    <a:pt x="4915983" y="889249"/>
                    <a:pt x="4896933" y="712719"/>
                  </a:cubicBezTo>
                  <a:cubicBezTo>
                    <a:pt x="4877883" y="536189"/>
                    <a:pt x="4414333" y="208529"/>
                    <a:pt x="4312733" y="104389"/>
                  </a:cubicBezTo>
                  <a:cubicBezTo>
                    <a:pt x="4212403" y="1519"/>
                    <a:pt x="3329753" y="-31501"/>
                    <a:pt x="3134173" y="33269"/>
                  </a:cubicBezTo>
                  <a:cubicBezTo>
                    <a:pt x="2938593" y="96769"/>
                    <a:pt x="2584263" y="644139"/>
                    <a:pt x="2584263" y="644139"/>
                  </a:cubicBezTo>
                  <a:cubicBezTo>
                    <a:pt x="2584263" y="644139"/>
                    <a:pt x="1951803" y="216149"/>
                    <a:pt x="1795593" y="166619"/>
                  </a:cubicBezTo>
                  <a:cubicBezTo>
                    <a:pt x="1638113" y="117089"/>
                    <a:pt x="1150433" y="386329"/>
                    <a:pt x="933263" y="539999"/>
                  </a:cubicBezTo>
                  <a:cubicBezTo>
                    <a:pt x="716093" y="693669"/>
                    <a:pt x="534483" y="1554729"/>
                    <a:pt x="523053" y="1752849"/>
                  </a:cubicBezTo>
                  <a:cubicBezTo>
                    <a:pt x="511623" y="1950969"/>
                    <a:pt x="834203" y="2489449"/>
                    <a:pt x="834203" y="2489449"/>
                  </a:cubicBezTo>
                  <a:cubicBezTo>
                    <a:pt x="834203" y="2489449"/>
                    <a:pt x="266513" y="2718049"/>
                    <a:pt x="180153" y="2845049"/>
                  </a:cubicBezTo>
                  <a:cubicBezTo>
                    <a:pt x="93793" y="2972049"/>
                    <a:pt x="-31937" y="4083299"/>
                    <a:pt x="7433" y="4231889"/>
                  </a:cubicBezTo>
                  <a:cubicBezTo>
                    <a:pt x="46803" y="4380479"/>
                    <a:pt x="415103" y="4761479"/>
                    <a:pt x="676723" y="4845299"/>
                  </a:cubicBezTo>
                  <a:cubicBezTo>
                    <a:pt x="939613" y="4929119"/>
                    <a:pt x="1634303" y="4859269"/>
                    <a:pt x="1634303" y="4859269"/>
                  </a:cubicBezTo>
                  <a:cubicBezTo>
                    <a:pt x="1634303" y="4859269"/>
                    <a:pt x="1629223" y="5458709"/>
                    <a:pt x="1678753" y="5584439"/>
                  </a:cubicBezTo>
                  <a:cubicBezTo>
                    <a:pt x="1728283" y="5710169"/>
                    <a:pt x="2238823" y="6097519"/>
                    <a:pt x="2478853" y="6097519"/>
                  </a:cubicBezTo>
                  <a:cubicBezTo>
                    <a:pt x="2718883" y="6097519"/>
                    <a:pt x="3654873" y="6012429"/>
                    <a:pt x="3759013" y="5923529"/>
                  </a:cubicBezTo>
                  <a:cubicBezTo>
                    <a:pt x="3863153" y="5834629"/>
                    <a:pt x="4114613" y="5317739"/>
                    <a:pt x="4114613" y="5317739"/>
                  </a:cubicBezTo>
                  <a:cubicBezTo>
                    <a:pt x="4114613" y="5317739"/>
                    <a:pt x="4678493" y="5510779"/>
                    <a:pt x="4863913" y="5542529"/>
                  </a:cubicBezTo>
                  <a:cubicBezTo>
                    <a:pt x="5049333" y="5574279"/>
                    <a:pt x="5845623" y="5188199"/>
                    <a:pt x="5925633" y="5072629"/>
                  </a:cubicBezTo>
                  <a:cubicBezTo>
                    <a:pt x="6005643" y="4957059"/>
                    <a:pt x="6244403" y="4049009"/>
                    <a:pt x="6188523" y="3952489"/>
                  </a:cubicBezTo>
                  <a:cubicBezTo>
                    <a:pt x="6133913" y="3857239"/>
                    <a:pt x="5769423" y="3349239"/>
                    <a:pt x="5769423" y="3349239"/>
                  </a:cubicBezTo>
                  <a:cubicBezTo>
                    <a:pt x="5769423" y="3349239"/>
                    <a:pt x="6215193" y="3026659"/>
                    <a:pt x="6268533" y="2867909"/>
                  </a:cubicBezTo>
                  <a:close/>
                </a:path>
              </a:pathLst>
            </a:custGeom>
            <a:blipFill>
              <a:blip r:embed="rId9"/>
              <a:stretch>
                <a:fillRect l="-72887" t="0" r="-72887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8636537" y="2288925"/>
            <a:ext cx="7035547" cy="965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6600" spc="-528">
                <a:solidFill>
                  <a:srgbClr val="7A2F00"/>
                </a:solidFill>
                <a:latin typeface="PL Benguiat Frisky"/>
                <a:ea typeface="PL Benguiat Frisky"/>
                <a:cs typeface="PL Benguiat Frisky"/>
                <a:sym typeface="PL Benguiat Frisky"/>
              </a:rPr>
              <a:t>Disciplines of Engineering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78278" y="3335657"/>
            <a:ext cx="8552066" cy="5174987"/>
            <a:chOff x="0" y="0"/>
            <a:chExt cx="2252396" cy="136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52396" cy="1362960"/>
            </a:xfrm>
            <a:custGeom>
              <a:avLst/>
              <a:gdLst/>
              <a:ahLst/>
              <a:cxnLst/>
              <a:rect r="r" b="b" t="t" l="l"/>
              <a:pathLst>
                <a:path h="1362960" w="2252396">
                  <a:moveTo>
                    <a:pt x="0" y="0"/>
                  </a:moveTo>
                  <a:lnTo>
                    <a:pt x="2252396" y="0"/>
                  </a:lnTo>
                  <a:lnTo>
                    <a:pt x="2252396" y="1362960"/>
                  </a:lnTo>
                  <a:lnTo>
                    <a:pt x="0" y="1362960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252396" cy="14010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8312270" y="3550380"/>
            <a:ext cx="7640895" cy="518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1. Civil Engineering – Designs and constructs buildings, roads, bridges, and dams.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2. Mechanical Engineering – Designs, manufactures, and maintains machines and mechanical systems.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3. Electrical Engineering – Deals with electricity, power generation, electrical circuits, and electronic devices.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4. Computer Science and Engineering (CSE) – Develops computer software, hardware, networks, and information systems.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5. Electronics and Communication Engineering (ECE) – Focuses on electronic circuits, communication systems, and signal processing.</a:t>
            </a:r>
          </a:p>
          <a:p>
            <a:pPr algn="just">
              <a:lnSpc>
                <a:spcPts val="2448"/>
              </a:lnSpc>
            </a:pP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6. Chemical Engineering – Uses chemistry to produce chemicals, medicines, fuels etc.</a:t>
            </a:r>
          </a:p>
          <a:p>
            <a:pPr algn="just">
              <a:lnSpc>
                <a:spcPts val="2448"/>
              </a:lnSpc>
            </a:pPr>
            <a:r>
              <a:rPr lang="en-US" sz="1800">
                <a:solidFill>
                  <a:srgbClr val="000000"/>
                </a:solidFill>
                <a:latin typeface="Trochut"/>
                <a:ea typeface="Trochut"/>
                <a:cs typeface="Trochut"/>
                <a:sym typeface="Trochut"/>
              </a:rPr>
              <a:t>,</a:t>
            </a:r>
          </a:p>
          <a:p>
            <a:pPr algn="just">
              <a:lnSpc>
                <a:spcPts val="244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35962" y="-200224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1065" y="1779658"/>
            <a:ext cx="7035547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89"/>
              </a:lnSpc>
            </a:pPr>
            <a:r>
              <a:rPr lang="en-US" sz="6600" spc="-237">
                <a:solidFill>
                  <a:srgbClr val="7A2F00"/>
                </a:solidFill>
                <a:latin typeface="Hertical Serif"/>
                <a:ea typeface="Hertical Serif"/>
                <a:cs typeface="Hertical Serif"/>
                <a:sym typeface="Hertical Serif"/>
              </a:rPr>
              <a:t>Misconceptions of CSE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12805" y="2969265"/>
            <a:ext cx="8552066" cy="7088822"/>
            <a:chOff x="0" y="0"/>
            <a:chExt cx="2252396" cy="186701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52396" cy="1867015"/>
            </a:xfrm>
            <a:custGeom>
              <a:avLst/>
              <a:gdLst/>
              <a:ahLst/>
              <a:cxnLst/>
              <a:rect r="r" b="b" t="t" l="l"/>
              <a:pathLst>
                <a:path h="1867015" w="2252396">
                  <a:moveTo>
                    <a:pt x="0" y="0"/>
                  </a:moveTo>
                  <a:lnTo>
                    <a:pt x="2252396" y="0"/>
                  </a:lnTo>
                  <a:lnTo>
                    <a:pt x="2252396" y="1867015"/>
                  </a:lnTo>
                  <a:lnTo>
                    <a:pt x="0" y="1867015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252396" cy="19051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03105" y="3125516"/>
            <a:ext cx="7640895" cy="6809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583"/>
              </a:lnSpc>
              <a:buFont typeface="Arial"/>
              <a:buChar char="•"/>
            </a:pPr>
            <a:r>
              <a:rPr lang="en-US" sz="1899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Misconception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CSE is only about coding.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99">
                <a:solidFill>
                  <a:srgbClr val="CB6CE6"/>
                </a:solidFill>
                <a:latin typeface="Poppins"/>
                <a:ea typeface="Poppins"/>
                <a:cs typeface="Poppins"/>
                <a:sym typeface="Poppins"/>
              </a:rPr>
              <a:t>Fact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It includes coding, networking, AI, cybersecurity, and databases.</a:t>
            </a:r>
          </a:p>
          <a:p>
            <a:pPr algn="l">
              <a:lnSpc>
                <a:spcPts val="2583"/>
              </a:lnSpc>
            </a:pPr>
          </a:p>
          <a:p>
            <a:pPr algn="l" marL="410209" indent="-205105" lvl="1">
              <a:lnSpc>
                <a:spcPts val="2583"/>
              </a:lnSpc>
              <a:buFont typeface="Arial"/>
              <a:buChar char="•"/>
            </a:pPr>
            <a:r>
              <a:rPr lang="en-US" sz="1899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Misconception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CSE students only work on computers.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99">
                <a:solidFill>
                  <a:srgbClr val="CB6CE6"/>
                </a:solidFill>
                <a:latin typeface="Poppins"/>
                <a:ea typeface="Poppins"/>
                <a:cs typeface="Poppins"/>
                <a:sym typeface="Poppins"/>
              </a:rPr>
              <a:t>Fact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They create software, apps, websites, and solve real-life problems.</a:t>
            </a:r>
          </a:p>
          <a:p>
            <a:pPr algn="l">
              <a:lnSpc>
                <a:spcPts val="2583"/>
              </a:lnSpc>
            </a:pPr>
          </a:p>
          <a:p>
            <a:pPr algn="l" marL="410209" indent="-205105" lvl="1">
              <a:lnSpc>
                <a:spcPts val="2583"/>
              </a:lnSpc>
              <a:buFont typeface="Arial"/>
              <a:buChar char="•"/>
            </a:pPr>
            <a:r>
              <a:rPr lang="en-US" sz="1899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Misconception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Only very intelligent students can study CSE.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99">
                <a:solidFill>
                  <a:srgbClr val="CB6CE6"/>
                </a:solidFill>
                <a:latin typeface="Poppins"/>
                <a:ea typeface="Poppins"/>
                <a:cs typeface="Poppins"/>
                <a:sym typeface="Poppins"/>
              </a:rPr>
              <a:t>Fact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Anyone can learn CSE with interest, practice, and hard work.</a:t>
            </a:r>
          </a:p>
          <a:p>
            <a:pPr algn="l">
              <a:lnSpc>
                <a:spcPts val="2583"/>
              </a:lnSpc>
            </a:pPr>
          </a:p>
          <a:p>
            <a:pPr algn="l" marL="410209" indent="-205105" lvl="1">
              <a:lnSpc>
                <a:spcPts val="2583"/>
              </a:lnSpc>
              <a:buFont typeface="Arial"/>
              <a:buChar char="•"/>
            </a:pPr>
            <a:r>
              <a:rPr lang="en-US" sz="1899">
                <a:solidFill>
                  <a:srgbClr val="5E17EB"/>
                </a:solidFill>
                <a:latin typeface="Poppins"/>
                <a:ea typeface="Poppins"/>
                <a:cs typeface="Poppins"/>
                <a:sym typeface="Poppins"/>
              </a:rPr>
              <a:t>Misconception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CSE graduates can only become software engineers.</a:t>
            </a:r>
          </a:p>
          <a:p>
            <a:pPr algn="l">
              <a:lnSpc>
                <a:spcPts val="2583"/>
              </a:lnSpc>
            </a:pPr>
          </a:p>
          <a:p>
            <a:pPr algn="l">
              <a:lnSpc>
                <a:spcPts val="2583"/>
              </a:lnSpc>
            </a:pP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1899">
                <a:solidFill>
                  <a:srgbClr val="CB6CE6"/>
                </a:solidFill>
                <a:latin typeface="Poppins"/>
                <a:ea typeface="Poppins"/>
                <a:cs typeface="Poppins"/>
                <a:sym typeface="Poppins"/>
              </a:rPr>
              <a:t>Fact</a:t>
            </a:r>
            <a:r>
              <a:rPr lang="en-US" sz="18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They can work in many fields like AI, data science, cybersecurity, web development, and cloud computing.</a:t>
            </a:r>
          </a:p>
          <a:p>
            <a:pPr algn="l">
              <a:lnSpc>
                <a:spcPts val="258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true" flipV="true" rot="918315">
            <a:off x="2847773" y="9598601"/>
            <a:ext cx="1691515" cy="918972"/>
          </a:xfrm>
          <a:custGeom>
            <a:avLst/>
            <a:gdLst/>
            <a:ahLst/>
            <a:cxnLst/>
            <a:rect r="r" b="b" t="t" l="l"/>
            <a:pathLst>
              <a:path h="918972" w="1691515">
                <a:moveTo>
                  <a:pt x="1691515" y="918972"/>
                </a:moveTo>
                <a:lnTo>
                  <a:pt x="0" y="918972"/>
                </a:lnTo>
                <a:lnTo>
                  <a:pt x="0" y="0"/>
                </a:lnTo>
                <a:lnTo>
                  <a:pt x="1691515" y="0"/>
                </a:lnTo>
                <a:lnTo>
                  <a:pt x="1691515" y="91897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2038" y="640493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10235068" y="7776595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8906612" y="-1253851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8" y="4565102"/>
                </a:moveTo>
                <a:lnTo>
                  <a:pt x="0" y="4565102"/>
                </a:lnTo>
                <a:lnTo>
                  <a:pt x="0" y="0"/>
                </a:lnTo>
                <a:lnTo>
                  <a:pt x="2513538" y="0"/>
                </a:lnTo>
                <a:lnTo>
                  <a:pt x="2513538" y="45651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233089" y="890590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8" y="0"/>
                </a:moveTo>
                <a:lnTo>
                  <a:pt x="0" y="0"/>
                </a:lnTo>
                <a:lnTo>
                  <a:pt x="0" y="4565103"/>
                </a:lnTo>
                <a:lnTo>
                  <a:pt x="2513538" y="4565103"/>
                </a:lnTo>
                <a:lnTo>
                  <a:pt x="251353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374636">
            <a:off x="1632751" y="864179"/>
            <a:ext cx="1931940" cy="1049591"/>
          </a:xfrm>
          <a:custGeom>
            <a:avLst/>
            <a:gdLst/>
            <a:ahLst/>
            <a:cxnLst/>
            <a:rect r="r" b="b" t="t" l="l"/>
            <a:pathLst>
              <a:path h="1049591" w="1931940">
                <a:moveTo>
                  <a:pt x="0" y="0"/>
                </a:moveTo>
                <a:lnTo>
                  <a:pt x="1931940" y="0"/>
                </a:lnTo>
                <a:lnTo>
                  <a:pt x="1931940" y="1049591"/>
                </a:lnTo>
                <a:lnTo>
                  <a:pt x="0" y="10495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163381" y="2013003"/>
            <a:ext cx="7605912" cy="7378647"/>
            <a:chOff x="0" y="0"/>
            <a:chExt cx="6350000" cy="61602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8"/>
              <a:stretch>
                <a:fillRect l="0" t="-15093" r="0" b="-15093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35962" y="-200224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71065" y="1913008"/>
            <a:ext cx="7035547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20"/>
              </a:lnSpc>
            </a:pPr>
            <a:r>
              <a:rPr lang="en-US" sz="6800" spc="-265">
                <a:solidFill>
                  <a:srgbClr val="7A2F00"/>
                </a:solidFill>
                <a:latin typeface="PL Benguiat Frisky"/>
                <a:ea typeface="PL Benguiat Frisky"/>
                <a:cs typeface="PL Benguiat Frisky"/>
                <a:sym typeface="PL Benguiat Frisky"/>
              </a:rPr>
              <a:t>Case Study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112805" y="2969265"/>
            <a:ext cx="16146495" cy="6289035"/>
            <a:chOff x="0" y="0"/>
            <a:chExt cx="4252575" cy="16563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52575" cy="1656371"/>
            </a:xfrm>
            <a:custGeom>
              <a:avLst/>
              <a:gdLst/>
              <a:ahLst/>
              <a:cxnLst/>
              <a:rect r="r" b="b" t="t" l="l"/>
              <a:pathLst>
                <a:path h="1656371" w="4252575">
                  <a:moveTo>
                    <a:pt x="0" y="0"/>
                  </a:moveTo>
                  <a:lnTo>
                    <a:pt x="4252575" y="0"/>
                  </a:lnTo>
                  <a:lnTo>
                    <a:pt x="4252575" y="1656371"/>
                  </a:lnTo>
                  <a:lnTo>
                    <a:pt x="0" y="1656371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52575" cy="16944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true" rot="918315">
            <a:off x="2847773" y="9598601"/>
            <a:ext cx="1691515" cy="918972"/>
          </a:xfrm>
          <a:custGeom>
            <a:avLst/>
            <a:gdLst/>
            <a:ahLst/>
            <a:cxnLst/>
            <a:rect r="r" b="b" t="t" l="l"/>
            <a:pathLst>
              <a:path h="918972" w="1691515">
                <a:moveTo>
                  <a:pt x="1691515" y="918972"/>
                </a:moveTo>
                <a:lnTo>
                  <a:pt x="0" y="918972"/>
                </a:lnTo>
                <a:lnTo>
                  <a:pt x="0" y="0"/>
                </a:lnTo>
                <a:lnTo>
                  <a:pt x="1691515" y="0"/>
                </a:lnTo>
                <a:lnTo>
                  <a:pt x="1691515" y="918972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52038" y="640493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9565973" y="8642093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8906612" y="-1253851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8" y="4565102"/>
                </a:moveTo>
                <a:lnTo>
                  <a:pt x="0" y="4565102"/>
                </a:lnTo>
                <a:lnTo>
                  <a:pt x="0" y="0"/>
                </a:lnTo>
                <a:lnTo>
                  <a:pt x="2513538" y="0"/>
                </a:lnTo>
                <a:lnTo>
                  <a:pt x="2513538" y="456510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74636">
            <a:off x="1790513" y="503904"/>
            <a:ext cx="1931940" cy="1049591"/>
          </a:xfrm>
          <a:custGeom>
            <a:avLst/>
            <a:gdLst/>
            <a:ahLst/>
            <a:cxnLst/>
            <a:rect r="r" b="b" t="t" l="l"/>
            <a:pathLst>
              <a:path h="1049591" w="1931940">
                <a:moveTo>
                  <a:pt x="0" y="0"/>
                </a:moveTo>
                <a:lnTo>
                  <a:pt x="1931940" y="0"/>
                </a:lnTo>
                <a:lnTo>
                  <a:pt x="1931940" y="1049592"/>
                </a:lnTo>
                <a:lnTo>
                  <a:pt x="0" y="1049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618050" y="-2300349"/>
            <a:ext cx="7605912" cy="7378647"/>
            <a:chOff x="0" y="0"/>
            <a:chExt cx="6350000" cy="6160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8"/>
              <a:stretch>
                <a:fillRect l="0" t="-1540" r="0" b="-154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-2975333" y="5423101"/>
            <a:ext cx="7605912" cy="7378647"/>
            <a:chOff x="0" y="0"/>
            <a:chExt cx="6350000" cy="61602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9"/>
              <a:stretch>
                <a:fillRect l="-22830" t="0" r="-2283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23194" y="3273151"/>
            <a:ext cx="15559303" cy="533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CASE STUDY</a:t>
            </a: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: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Traffic Signal Management System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PROBLEM</a:t>
            </a: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In a busy city, traffic congestion causes long waiting times, fuel wastage, and accidents.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ENGINEERING SOLUTION</a:t>
            </a: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Computer Science and Electronics engineers developed a Smart Traffic Signal System that uses cameras and sensors to detect traffic density and automatically adjust signal timings.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              </a:t>
            </a:r>
            <a:r>
              <a:rPr lang="en-US" sz="1955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RESULT</a:t>
            </a: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</a:t>
            </a:r>
          </a:p>
          <a:p>
            <a:pPr algn="l">
              <a:lnSpc>
                <a:spcPts val="2659"/>
              </a:lnSpc>
            </a:pP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              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Reduced</a:t>
            </a: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traffic congestion.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              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Saved fuel and travel time.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              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Improved road safety.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              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Faster movement of emergency vehicles.</a:t>
            </a:r>
          </a:p>
          <a:p>
            <a:pPr algn="just">
              <a:lnSpc>
                <a:spcPts val="2659"/>
              </a:lnSpc>
            </a:pP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              </a:t>
            </a:r>
            <a:r>
              <a:rPr lang="en-US" sz="1955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CONCLUSION</a:t>
            </a: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</a:t>
            </a:r>
          </a:p>
          <a:p>
            <a:pPr algn="just">
              <a:lnSpc>
                <a:spcPts val="2659"/>
              </a:lnSpc>
            </a:pPr>
            <a:r>
              <a:rPr lang="en-US" sz="1955">
                <a:solidFill>
                  <a:srgbClr val="FFFFFF"/>
                </a:solidFill>
                <a:latin typeface="Della Respira"/>
                <a:ea typeface="Della Respira"/>
                <a:cs typeface="Della Respira"/>
                <a:sym typeface="Della Respira"/>
              </a:rPr>
              <a:t>                                                   </a:t>
            </a:r>
            <a:r>
              <a:rPr lang="en-US" sz="1955">
                <a:solidFill>
                  <a:srgbClr val="000000"/>
                </a:solidFill>
                <a:latin typeface="Della Respira"/>
                <a:ea typeface="Della Respira"/>
                <a:cs typeface="Della Respira"/>
                <a:sym typeface="Della Respira"/>
              </a:rPr>
              <a:t>This case study shows how engineering uses technology to solve real-life problems and improve people's daily lives.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35962" y="-200224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63381" y="3857248"/>
            <a:ext cx="7035547" cy="915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130"/>
              </a:lnSpc>
            </a:pPr>
            <a:r>
              <a:rPr lang="en-US" sz="6200" spc="-483">
                <a:solidFill>
                  <a:srgbClr val="85553D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Skills Required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49878" y="5078298"/>
            <a:ext cx="13109422" cy="4180002"/>
            <a:chOff x="0" y="0"/>
            <a:chExt cx="3452687" cy="1100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2687" cy="1100906"/>
            </a:xfrm>
            <a:custGeom>
              <a:avLst/>
              <a:gdLst/>
              <a:ahLst/>
              <a:cxnLst/>
              <a:rect r="r" b="b" t="t" l="l"/>
              <a:pathLst>
                <a:path h="1100906" w="3452687">
                  <a:moveTo>
                    <a:pt x="0" y="0"/>
                  </a:moveTo>
                  <a:lnTo>
                    <a:pt x="3452687" y="0"/>
                  </a:lnTo>
                  <a:lnTo>
                    <a:pt x="3452687" y="1100906"/>
                  </a:lnTo>
                  <a:lnTo>
                    <a:pt x="0" y="1100906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52687" cy="113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853405" y="7229466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918315">
            <a:off x="9317623" y="9642864"/>
            <a:ext cx="1691515" cy="918972"/>
          </a:xfrm>
          <a:custGeom>
            <a:avLst/>
            <a:gdLst/>
            <a:ahLst/>
            <a:cxnLst/>
            <a:rect r="r" b="b" t="t" l="l"/>
            <a:pathLst>
              <a:path h="918972" w="1691515">
                <a:moveTo>
                  <a:pt x="1691515" y="918972"/>
                </a:moveTo>
                <a:lnTo>
                  <a:pt x="0" y="918972"/>
                </a:lnTo>
                <a:lnTo>
                  <a:pt x="0" y="0"/>
                </a:lnTo>
                <a:lnTo>
                  <a:pt x="1691515" y="0"/>
                </a:lnTo>
                <a:lnTo>
                  <a:pt x="1691515" y="91897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2038" y="640493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9447820" y="-1146005"/>
            <a:ext cx="2739050" cy="4974678"/>
          </a:xfrm>
          <a:custGeom>
            <a:avLst/>
            <a:gdLst/>
            <a:ahLst/>
            <a:cxnLst/>
            <a:rect r="r" b="b" t="t" l="l"/>
            <a:pathLst>
              <a:path h="4974678" w="2739050">
                <a:moveTo>
                  <a:pt x="2739050" y="4974678"/>
                </a:moveTo>
                <a:lnTo>
                  <a:pt x="0" y="4974678"/>
                </a:lnTo>
                <a:lnTo>
                  <a:pt x="0" y="0"/>
                </a:lnTo>
                <a:lnTo>
                  <a:pt x="2739050" y="0"/>
                </a:lnTo>
                <a:lnTo>
                  <a:pt x="2739050" y="49746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74636">
            <a:off x="14032363" y="1471193"/>
            <a:ext cx="1931940" cy="1049591"/>
          </a:xfrm>
          <a:custGeom>
            <a:avLst/>
            <a:gdLst/>
            <a:ahLst/>
            <a:cxnLst/>
            <a:rect r="r" b="b" t="t" l="l"/>
            <a:pathLst>
              <a:path h="1049591" w="1931940">
                <a:moveTo>
                  <a:pt x="0" y="0"/>
                </a:moveTo>
                <a:lnTo>
                  <a:pt x="1931940" y="0"/>
                </a:lnTo>
                <a:lnTo>
                  <a:pt x="1931940" y="1049592"/>
                </a:lnTo>
                <a:lnTo>
                  <a:pt x="0" y="10495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27623" y="865619"/>
            <a:ext cx="5041916" cy="4891264"/>
            <a:chOff x="0" y="0"/>
            <a:chExt cx="6350000" cy="6160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8"/>
              <a:stretch>
                <a:fillRect l="-30843" t="0" r="-30843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7623" y="6404938"/>
            <a:ext cx="2649416" cy="2570252"/>
            <a:chOff x="0" y="0"/>
            <a:chExt cx="6350000" cy="61602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9"/>
              <a:stretch>
                <a:fillRect l="-12187" t="0" r="-12187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257195" y="1888143"/>
            <a:ext cx="2649416" cy="2570252"/>
            <a:chOff x="0" y="0"/>
            <a:chExt cx="6350000" cy="61602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10"/>
              <a:stretch>
                <a:fillRect l="0" t="-1540" r="0" b="-154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5193799" y="5154229"/>
            <a:ext cx="7936836" cy="427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167A"/>
                </a:solidFill>
                <a:latin typeface="Girassol"/>
                <a:ea typeface="Girassol"/>
                <a:cs typeface="Girassol"/>
                <a:sym typeface="Girassol"/>
              </a:rPr>
              <a:t>Skills Required for CSE in the 21st Century: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1. Problem-Solving Skills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Ability to identify problems and find effective solutions.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2. Programming Skills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Knowledge of programming languages such as C, Java, or Python.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3. Communication Skills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Ability to explain ideas clearly and work well with others.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4. Critical Thinking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Ability to analyze situations and make good decisions.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5. Creativity and Innovation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Ability to develop new ideas and improve existing technologies.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6. Teamwork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Ability to collaborate with others to complete projects successfully.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7. Adaptability</a:t>
            </a:r>
          </a:p>
          <a:p>
            <a:pPr algn="just">
              <a:lnSpc>
                <a:spcPts val="2143"/>
              </a:lnSpc>
            </a:pP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        </a:t>
            </a:r>
            <a:r>
              <a:rPr lang="en-US" sz="1576">
                <a:solidFill>
                  <a:srgbClr val="000000"/>
                </a:solidFill>
                <a:latin typeface="Maragsa"/>
                <a:ea typeface="Maragsa"/>
                <a:cs typeface="Maragsa"/>
                <a:sym typeface="Maragsa"/>
              </a:rPr>
              <a:t>Willingness to learn new technologies and keep up with changes.</a:t>
            </a:r>
          </a:p>
          <a:p>
            <a:pPr algn="just">
              <a:lnSpc>
                <a:spcPts val="2143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35962" y="-2002241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63381" y="3857248"/>
            <a:ext cx="7035547" cy="92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244"/>
              </a:lnSpc>
            </a:pPr>
            <a:r>
              <a:rPr lang="en-US" sz="6300" spc="-711">
                <a:solidFill>
                  <a:srgbClr val="85553D"/>
                </a:solidFill>
                <a:latin typeface="Zenaida"/>
                <a:ea typeface="Zenaida"/>
                <a:cs typeface="Zenaida"/>
                <a:sym typeface="Zenaida"/>
              </a:rPr>
              <a:t>Canva Ai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149878" y="5078298"/>
            <a:ext cx="13109422" cy="4180002"/>
            <a:chOff x="0" y="0"/>
            <a:chExt cx="3452687" cy="11009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52687" cy="1100906"/>
            </a:xfrm>
            <a:custGeom>
              <a:avLst/>
              <a:gdLst/>
              <a:ahLst/>
              <a:cxnLst/>
              <a:rect r="r" b="b" t="t" l="l"/>
              <a:pathLst>
                <a:path h="1100906" w="3452687">
                  <a:moveTo>
                    <a:pt x="0" y="0"/>
                  </a:moveTo>
                  <a:lnTo>
                    <a:pt x="3452687" y="0"/>
                  </a:lnTo>
                  <a:lnTo>
                    <a:pt x="3452687" y="1100906"/>
                  </a:lnTo>
                  <a:lnTo>
                    <a:pt x="0" y="1100906"/>
                  </a:lnTo>
                  <a:close/>
                </a:path>
              </a:pathLst>
            </a:custGeom>
            <a:solidFill>
              <a:srgbClr val="ACCDD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452687" cy="11390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5400000">
            <a:off x="1853405" y="7229466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3"/>
                </a:lnTo>
                <a:lnTo>
                  <a:pt x="0" y="45651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918315">
            <a:off x="9317623" y="9642864"/>
            <a:ext cx="1691515" cy="918972"/>
          </a:xfrm>
          <a:custGeom>
            <a:avLst/>
            <a:gdLst/>
            <a:ahLst/>
            <a:cxnLst/>
            <a:rect r="r" b="b" t="t" l="l"/>
            <a:pathLst>
              <a:path h="918972" w="1691515">
                <a:moveTo>
                  <a:pt x="1691515" y="918972"/>
                </a:moveTo>
                <a:lnTo>
                  <a:pt x="0" y="918972"/>
                </a:lnTo>
                <a:lnTo>
                  <a:pt x="0" y="0"/>
                </a:lnTo>
                <a:lnTo>
                  <a:pt x="1691515" y="0"/>
                </a:lnTo>
                <a:lnTo>
                  <a:pt x="1691515" y="918972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352038" y="6404938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8517377" y="-668803"/>
            <a:ext cx="2739050" cy="4974678"/>
          </a:xfrm>
          <a:custGeom>
            <a:avLst/>
            <a:gdLst/>
            <a:ahLst/>
            <a:cxnLst/>
            <a:rect r="r" b="b" t="t" l="l"/>
            <a:pathLst>
              <a:path h="4974678" w="2739050">
                <a:moveTo>
                  <a:pt x="2739050" y="4974678"/>
                </a:moveTo>
                <a:lnTo>
                  <a:pt x="0" y="4974678"/>
                </a:lnTo>
                <a:lnTo>
                  <a:pt x="0" y="0"/>
                </a:lnTo>
                <a:lnTo>
                  <a:pt x="2739050" y="0"/>
                </a:lnTo>
                <a:lnTo>
                  <a:pt x="2739050" y="4974678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374636">
            <a:off x="14032363" y="1471193"/>
            <a:ext cx="1931940" cy="1049591"/>
          </a:xfrm>
          <a:custGeom>
            <a:avLst/>
            <a:gdLst/>
            <a:ahLst/>
            <a:cxnLst/>
            <a:rect r="r" b="b" t="t" l="l"/>
            <a:pathLst>
              <a:path h="1049591" w="1931940">
                <a:moveTo>
                  <a:pt x="0" y="0"/>
                </a:moveTo>
                <a:lnTo>
                  <a:pt x="1931940" y="0"/>
                </a:lnTo>
                <a:lnTo>
                  <a:pt x="1931940" y="1049592"/>
                </a:lnTo>
                <a:lnTo>
                  <a:pt x="0" y="104959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27623" y="865619"/>
            <a:ext cx="5041916" cy="4891264"/>
            <a:chOff x="0" y="0"/>
            <a:chExt cx="6350000" cy="616026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50000" cy="6160262"/>
            </a:xfrm>
            <a:custGeom>
              <a:avLst/>
              <a:gdLst/>
              <a:ahLst/>
              <a:cxnLst/>
              <a:rect r="r" b="b" t="t" l="l"/>
              <a:pathLst>
                <a:path h="6160262" w="6350000">
                  <a:moveTo>
                    <a:pt x="6237986" y="4073525"/>
                  </a:moveTo>
                  <a:cubicBezTo>
                    <a:pt x="6237986" y="4870450"/>
                    <a:pt x="5634228" y="5516499"/>
                    <a:pt x="4889373" y="5516499"/>
                  </a:cubicBezTo>
                  <a:cubicBezTo>
                    <a:pt x="4595622" y="5516499"/>
                    <a:pt x="4323842" y="5415915"/>
                    <a:pt x="4102354" y="5245354"/>
                  </a:cubicBezTo>
                  <a:cubicBezTo>
                    <a:pt x="3838448" y="5788914"/>
                    <a:pt x="3307461" y="6160262"/>
                    <a:pt x="2695321" y="6160262"/>
                  </a:cubicBezTo>
                  <a:cubicBezTo>
                    <a:pt x="1820164" y="6160262"/>
                    <a:pt x="1110742" y="5401183"/>
                    <a:pt x="1110742" y="4464812"/>
                  </a:cubicBezTo>
                  <a:cubicBezTo>
                    <a:pt x="1110742" y="4411853"/>
                    <a:pt x="1113155" y="4359402"/>
                    <a:pt x="1117600" y="4307713"/>
                  </a:cubicBezTo>
                  <a:cubicBezTo>
                    <a:pt x="482854" y="4190492"/>
                    <a:pt x="0" y="3598545"/>
                    <a:pt x="0" y="2885948"/>
                  </a:cubicBezTo>
                  <a:cubicBezTo>
                    <a:pt x="0" y="2089023"/>
                    <a:pt x="603758" y="1442974"/>
                    <a:pt x="1348613" y="1442974"/>
                  </a:cubicBezTo>
                  <a:cubicBezTo>
                    <a:pt x="1348613" y="646049"/>
                    <a:pt x="1952371" y="0"/>
                    <a:pt x="2697226" y="0"/>
                  </a:cubicBezTo>
                  <a:cubicBezTo>
                    <a:pt x="3086100" y="0"/>
                    <a:pt x="3436366" y="176149"/>
                    <a:pt x="3682492" y="457835"/>
                  </a:cubicBezTo>
                  <a:cubicBezTo>
                    <a:pt x="3965829" y="173863"/>
                    <a:pt x="4346575" y="0"/>
                    <a:pt x="4765421" y="0"/>
                  </a:cubicBezTo>
                  <a:cubicBezTo>
                    <a:pt x="5640578" y="0"/>
                    <a:pt x="6350000" y="759079"/>
                    <a:pt x="6350000" y="1695450"/>
                  </a:cubicBezTo>
                  <a:cubicBezTo>
                    <a:pt x="6350000" y="2216785"/>
                    <a:pt x="6130036" y="2683002"/>
                    <a:pt x="5784088" y="2994025"/>
                  </a:cubicBezTo>
                  <a:cubicBezTo>
                    <a:pt x="6062472" y="3258312"/>
                    <a:pt x="6237986" y="3644011"/>
                    <a:pt x="6237986" y="4073525"/>
                  </a:cubicBezTo>
                  <a:close/>
                </a:path>
              </a:pathLst>
            </a:custGeom>
            <a:blipFill>
              <a:blip r:embed="rId8"/>
              <a:stretch>
                <a:fillRect l="0" t="-1540" r="0" b="-154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751405" y="5778919"/>
            <a:ext cx="11906367" cy="2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20"/>
              </a:lnSpc>
            </a:pPr>
            <a:r>
              <a:rPr lang="en-US" sz="2000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Canva Ai</a:t>
            </a:r>
          </a:p>
          <a:p>
            <a:pPr algn="just">
              <a:lnSpc>
                <a:spcPts val="2720"/>
              </a:lnSpc>
            </a:pPr>
            <a:r>
              <a:rPr lang="en-US" sz="2000">
                <a:solidFill>
                  <a:srgbClr val="00167A"/>
                </a:solidFill>
                <a:latin typeface="Della Respira"/>
                <a:ea typeface="Della Respira"/>
                <a:cs typeface="Della Respira"/>
                <a:sym typeface="Della Respira"/>
              </a:rPr>
              <a:t>Summary:</a:t>
            </a:r>
          </a:p>
          <a:p>
            <a:pPr algn="just">
              <a:lnSpc>
                <a:spcPts val="2720"/>
              </a:lnSpc>
            </a:pP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Easy to create: Canva provides ready-made templates and an easy drag-and-drop editor to design presentations quickly.</a:t>
            </a:r>
          </a:p>
          <a:p>
            <a:pPr algn="just">
              <a:lnSpc>
                <a:spcPts val="2720"/>
              </a:lnSpc>
            </a:pP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AI-powered: Canva AI can automatically generate slides, images, and content from a simple prompt.</a:t>
            </a:r>
          </a:p>
          <a:p>
            <a:pPr algn="l">
              <a:lnSpc>
                <a:spcPts val="2720"/>
              </a:lnSpc>
            </a:pPr>
          </a:p>
          <a:p>
            <a:pPr algn="l" marL="431801" indent="-215900" lvl="1">
              <a:lnSpc>
                <a:spcPts val="272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Proxima Nova Condensed"/>
                <a:ea typeface="Proxima Nova Condensed"/>
                <a:cs typeface="Proxima Nova Condensed"/>
                <a:sym typeface="Proxima Nova Condensed"/>
              </a:rPr>
              <a:t>Professional output: It helps create attractive, high-quality presentations that can be shared or downloaded as PPT or PDF.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97909" y="3195974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8"/>
                </a:lnTo>
                <a:lnTo>
                  <a:pt x="0" y="8727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74867" y="-1167874"/>
            <a:ext cx="3871924" cy="8727698"/>
          </a:xfrm>
          <a:custGeom>
            <a:avLst/>
            <a:gdLst/>
            <a:ahLst/>
            <a:cxnLst/>
            <a:rect r="r" b="b" t="t" l="l"/>
            <a:pathLst>
              <a:path h="8727698" w="3871924">
                <a:moveTo>
                  <a:pt x="0" y="0"/>
                </a:moveTo>
                <a:lnTo>
                  <a:pt x="3871924" y="0"/>
                </a:lnTo>
                <a:lnTo>
                  <a:pt x="3871924" y="8727697"/>
                </a:lnTo>
                <a:lnTo>
                  <a:pt x="0" y="8727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06457" y="8067675"/>
            <a:ext cx="5913216" cy="3212553"/>
          </a:xfrm>
          <a:custGeom>
            <a:avLst/>
            <a:gdLst/>
            <a:ahLst/>
            <a:cxnLst/>
            <a:rect r="r" b="b" t="t" l="l"/>
            <a:pathLst>
              <a:path h="3212553" w="5913216">
                <a:moveTo>
                  <a:pt x="0" y="0"/>
                </a:moveTo>
                <a:lnTo>
                  <a:pt x="5913216" y="0"/>
                </a:lnTo>
                <a:lnTo>
                  <a:pt x="5913216" y="3212553"/>
                </a:lnTo>
                <a:lnTo>
                  <a:pt x="0" y="32125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7978507" y="-701274"/>
            <a:ext cx="5913216" cy="3212553"/>
          </a:xfrm>
          <a:custGeom>
            <a:avLst/>
            <a:gdLst/>
            <a:ahLst/>
            <a:cxnLst/>
            <a:rect r="r" b="b" t="t" l="l"/>
            <a:pathLst>
              <a:path h="3212553" w="5913216">
                <a:moveTo>
                  <a:pt x="5913216" y="3212553"/>
                </a:moveTo>
                <a:lnTo>
                  <a:pt x="0" y="3212553"/>
                </a:lnTo>
                <a:lnTo>
                  <a:pt x="0" y="0"/>
                </a:lnTo>
                <a:lnTo>
                  <a:pt x="5913216" y="0"/>
                </a:lnTo>
                <a:lnTo>
                  <a:pt x="5913216" y="3212553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74015" y="1507376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0" y="0"/>
                </a:moveTo>
                <a:lnTo>
                  <a:pt x="2513539" y="0"/>
                </a:lnTo>
                <a:lnTo>
                  <a:pt x="2513539" y="4565102"/>
                </a:lnTo>
                <a:lnTo>
                  <a:pt x="0" y="4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3804128" y="3863829"/>
            <a:ext cx="2513539" cy="4565103"/>
          </a:xfrm>
          <a:custGeom>
            <a:avLst/>
            <a:gdLst/>
            <a:ahLst/>
            <a:cxnLst/>
            <a:rect r="r" b="b" t="t" l="l"/>
            <a:pathLst>
              <a:path h="4565103" w="2513539">
                <a:moveTo>
                  <a:pt x="2513539" y="4565103"/>
                </a:moveTo>
                <a:lnTo>
                  <a:pt x="0" y="4565103"/>
                </a:lnTo>
                <a:lnTo>
                  <a:pt x="0" y="0"/>
                </a:lnTo>
                <a:lnTo>
                  <a:pt x="2513539" y="0"/>
                </a:lnTo>
                <a:lnTo>
                  <a:pt x="2513539" y="4565103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62101" y="4858900"/>
            <a:ext cx="13563797" cy="1213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89"/>
              </a:lnSpc>
            </a:pPr>
            <a:r>
              <a:rPr lang="en-US" sz="10104" spc="-232">
                <a:solidFill>
                  <a:srgbClr val="85553D"/>
                </a:solidFill>
                <a:latin typeface="Trochut"/>
                <a:ea typeface="Trochut"/>
                <a:cs typeface="Trochut"/>
                <a:sym typeface="Trochut"/>
              </a:rPr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DAHPbE-kuTU</dc:identifier>
  <dcterms:modified xsi:type="dcterms:W3CDTF">2011-08-01T06:04:30Z</dcterms:modified>
  <cp:revision>1</cp:revision>
  <dc:title>Yellow Brown and Blue Pastel Simple Project Presentation</dc:title>
</cp:coreProperties>
</file>