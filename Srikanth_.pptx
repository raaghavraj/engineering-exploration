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4846320"/>
            <a:ext cx="4023360" cy="4023360"/>
          </a:xfrm>
          <a:prstGeom prst="ellipse">
            <a:avLst/>
          </a:prstGeom>
          <a:ln w="12700">
            <a:solidFill>
              <a:srgbClr val="0EA5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54312" y="4023360"/>
            <a:ext cx="5669280" cy="5669280"/>
          </a:xfrm>
          <a:prstGeom prst="ellipse">
            <a:avLst/>
          </a:prstGeom>
          <a:ln w="12700">
            <a:solidFill>
              <a:srgbClr val="0EA5A0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1352" y="3200400"/>
            <a:ext cx="7315200" cy="7315200"/>
          </a:xfrm>
          <a:prstGeom prst="ellipse">
            <a:avLst/>
          </a:prstGeom>
          <a:ln w="12700">
            <a:solidFill>
              <a:srgbClr val="0EA5A0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8392" y="2377440"/>
            <a:ext cx="8961120" cy="8961120"/>
          </a:xfrm>
          <a:prstGeom prst="ellipse">
            <a:avLst/>
          </a:prstGeom>
          <a:ln w="12700">
            <a:solidFill>
              <a:srgbClr val="0EA5A0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>
              <a:alpha val="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8421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STUDY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5603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Engineering &amp; the Role of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Science Engineering Today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7724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7-question guide to understanding engineering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38100">
            <a:solidFill>
              <a:srgbClr val="F5A5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• 10–15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Questions We'll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Engineering?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5000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vs. Engineering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00837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0837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vs. Engineer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66674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66674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&amp; Wants of a CS Engineer Today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69164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169164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 of Engineering &amp; CSE's Role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2350008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235000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23500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Misconceptions about CSE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3008376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300837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12280" y="300837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for CSE in the 21st Century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Engineering?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743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means using science and math to design,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and improve things that solve everyday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— like machines, buildings, and software.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5074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“Science explains how things work; Engineering builds things that work.”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9" y="18681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709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Real Problems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23760" y="20299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idea into something that actually works.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537960" y="310896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19" y="323971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23760" y="30815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Design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223760" y="34015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sure things are safe, affordable, and work well.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37960" y="448056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461131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44531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People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223760" y="47731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things we use every day, like roads, phones, and apps.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 vs.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56232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751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28232" y="16916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EA5A0"/>
          </a:solidFill>
          <a:ln/>
        </p:spPr>
      </p:sp>
      <p:sp>
        <p:nvSpPr>
          <p:cNvPr id="9" name="Shape 6"/>
          <p:cNvSpPr/>
          <p:nvPr/>
        </p:nvSpPr>
        <p:spPr>
          <a:xfrm>
            <a:off x="6656832" y="185623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9751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96912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40080" y="2779776"/>
            <a:ext cx="91440" cy="9144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3" name="Text 9"/>
          <p:cNvSpPr/>
          <p:nvPr/>
        </p:nvSpPr>
        <p:spPr>
          <a:xfrm>
            <a:off x="896112" y="26243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understand how and why things happen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438144"/>
            <a:ext cx="91440" cy="9144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5" name="Text 11"/>
          <p:cNvSpPr/>
          <p:nvPr/>
        </p:nvSpPr>
        <p:spPr>
          <a:xfrm>
            <a:off x="896112" y="32826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curiosity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096512"/>
            <a:ext cx="91440" cy="9144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7" name="Text 13"/>
          <p:cNvSpPr/>
          <p:nvPr/>
        </p:nvSpPr>
        <p:spPr>
          <a:xfrm>
            <a:off x="896112" y="394106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 facts, laws, and new knowledge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0080" y="4754880"/>
            <a:ext cx="91440" cy="9144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9" name="Text 15"/>
          <p:cNvSpPr/>
          <p:nvPr/>
        </p:nvSpPr>
        <p:spPr>
          <a:xfrm>
            <a:off x="896112" y="459943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“Why does this happen?”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428232" y="2779776"/>
            <a:ext cx="91440" cy="9144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1" name="Text 17"/>
          <p:cNvSpPr/>
          <p:nvPr/>
        </p:nvSpPr>
        <p:spPr>
          <a:xfrm>
            <a:off x="6684264" y="26243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that knowledge to build real things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428232" y="3438144"/>
            <a:ext cx="91440" cy="9144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3" name="Text 19"/>
          <p:cNvSpPr/>
          <p:nvPr/>
        </p:nvSpPr>
        <p:spPr>
          <a:xfrm>
            <a:off x="6684264" y="32826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need to solve a problem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428232" y="4096512"/>
            <a:ext cx="91440" cy="9144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5" name="Text 21"/>
          <p:cNvSpPr/>
          <p:nvPr/>
        </p:nvSpPr>
        <p:spPr>
          <a:xfrm>
            <a:off x="6684264" y="394106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 products, machines, and systems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428232" y="4754880"/>
            <a:ext cx="91440" cy="9144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7" name="Text 23"/>
          <p:cNvSpPr/>
          <p:nvPr/>
        </p:nvSpPr>
        <p:spPr>
          <a:xfrm>
            <a:off x="6684264" y="459943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“How can I make this work?”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094476" y="1783080"/>
            <a:ext cx="0" cy="4114800"/>
          </a:xfrm>
          <a:prstGeom prst="line">
            <a:avLst/>
          </a:prstGeom>
          <a:noFill/>
          <a:ln w="12700">
            <a:solidFill>
              <a:srgbClr val="C7D6E0"/>
            </a:solidFill>
            <a:prstDash val="dash"/>
          </a:ln>
        </p:spPr>
      </p:sp>
      <p:sp>
        <p:nvSpPr>
          <p:cNvPr id="29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Scientist vs. Engineer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73736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2377440" y="1783080"/>
            <a:ext cx="470916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7086600" y="1783080"/>
            <a:ext cx="4709160" cy="5486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77440" y="1783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86600" y="1783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1155680" cy="7772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23317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new facts and truths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78040" y="23317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things that actually 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1155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31089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ideas and observing results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78040" y="31089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building, and testing models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11155680" cy="7772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68880" y="3886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ideas and discoveries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8040" y="3886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products and systems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11155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63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468880" y="4663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true?”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4663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works well?”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11155680" cy="7772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440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468880" y="54406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out how silicon carries electricity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78040" y="54406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that fact to build a computer chip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&amp; Wants of a Computer Science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in Today's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 every CS engineer needs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365760" cy="36576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3204058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31272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coding and problem-solving skills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675888"/>
            <a:ext cx="365760" cy="36576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3770986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6941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to organize and use data well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14400" y="4242816"/>
            <a:ext cx="365760" cy="36576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337914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2611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up with new technology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14400" y="4809744"/>
            <a:ext cx="365760" cy="36576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4904842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828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well and talking clearly with others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14400" y="5376672"/>
            <a:ext cx="365760" cy="365760"/>
          </a:xfrm>
          <a:prstGeom prst="ellipse">
            <a:avLst/>
          </a:prstGeom>
          <a:solidFill>
            <a:srgbClr val="16324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5471770"/>
            <a:ext cx="175565" cy="17556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394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technology in a responsible way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263640" y="214884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0EA5A0"/>
          </a:solidFill>
          <a:ln/>
        </p:spPr>
      </p:sp>
      <p:sp>
        <p:nvSpPr>
          <p:cNvPr id="23" name="Text 16"/>
          <p:cNvSpPr/>
          <p:nvPr/>
        </p:nvSpPr>
        <p:spPr>
          <a:xfrm>
            <a:off x="65379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53796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extras that make the career better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537960" y="31089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058" y="3204058"/>
            <a:ext cx="175565" cy="17556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31272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chance to learn AI, cloud, and new tech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537960" y="36758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3058" y="3770986"/>
            <a:ext cx="175565" cy="17556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40880" y="36941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chance to build products that matter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537960" y="424281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3058" y="4337914"/>
            <a:ext cx="175565" cy="17556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040880" y="42611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and room to grow in their career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6537960" y="48097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3058" y="4904842"/>
            <a:ext cx="175565" cy="17556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040880" y="4828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balance between work and life</a:t>
            </a:r>
            <a:endParaRPr lang="en-US" sz="1250" dirty="0"/>
          </a:p>
        </p:txBody>
      </p:sp>
      <p:sp>
        <p:nvSpPr>
          <p:cNvPr id="37" name="Shape 26"/>
          <p:cNvSpPr/>
          <p:nvPr/>
        </p:nvSpPr>
        <p:spPr>
          <a:xfrm>
            <a:off x="6537960" y="537667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3058" y="5471770"/>
            <a:ext cx="175565" cy="17556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040880" y="5394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for making a real difference</a:t>
            </a:r>
            <a:endParaRPr lang="en-US" sz="1250" dirty="0"/>
          </a:p>
        </p:txBody>
      </p:sp>
      <p:sp>
        <p:nvSpPr>
          <p:cNvPr id="4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5,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Disciplines of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492" y="178308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EA5A0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2011680"/>
            <a:ext cx="640080" cy="640080"/>
          </a:xfrm>
          <a:prstGeom prst="ellipse">
            <a:avLst/>
          </a:prstGeom>
          <a:solidFill>
            <a:srgbClr val="0C7B7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433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75204" y="178308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6724" y="201168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145" y="21781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66644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42916" y="178308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74436" y="201168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57" y="217810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4356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Electronics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10628" y="178308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2148" y="201168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569" y="217810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02068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578340" y="178308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309860" y="201168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6281" y="217810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6978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07492" y="3749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239012" y="397764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5433" y="414406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98932" y="4800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2775204" y="3749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06724" y="397764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3145" y="4144061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866644" y="4800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5042916" y="3749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774436" y="397764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0857" y="4144061"/>
            <a:ext cx="307238" cy="30723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34356" y="4800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7310628" y="3749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042148" y="397764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8569" y="4144061"/>
            <a:ext cx="307238" cy="30723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02068" y="4800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9578340" y="3749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309860" y="3977640"/>
            <a:ext cx="640080" cy="64008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6281" y="4144061"/>
            <a:ext cx="307238" cy="30723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669780" y="4800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Comm.</a:t>
            </a:r>
            <a:endParaRPr lang="en-US" sz="1250" dirty="0"/>
          </a:p>
        </p:txBody>
      </p:sp>
      <p:sp>
        <p:nvSpPr>
          <p:cNvPr id="4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5,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 Mapped to Other Branches &amp; Today's Products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Product (Made with CSE)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72800" cy="694944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991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329891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0312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86200" y="210312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0" y="210312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cars, robotic arms, smart manufacturing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889504"/>
            <a:ext cx="10972800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29855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3116275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889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886200" y="2889504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72000" y="2889504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grids, EV battery management systems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675888"/>
            <a:ext cx="10972800" cy="694944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37719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9026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6758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886200" y="3675888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4572000" y="3675888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and smart sensors in buildings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40080" y="4462272"/>
            <a:ext cx="10972800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731520" y="45582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689043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446227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3886200" y="4462272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4572000" y="4462272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health monitors, robotic surgery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40080" y="5248656"/>
            <a:ext cx="10972800" cy="694944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1" name="Shape 25"/>
          <p:cNvSpPr/>
          <p:nvPr/>
        </p:nvSpPr>
        <p:spPr>
          <a:xfrm>
            <a:off x="731520" y="53446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5475427"/>
            <a:ext cx="241402" cy="24140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17320" y="524865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886200" y="5248656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28"/>
          <p:cNvSpPr/>
          <p:nvPr/>
        </p:nvSpPr>
        <p:spPr>
          <a:xfrm>
            <a:off x="4572000" y="5248656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 software, satellite systems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5,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 Surgery: Two Fields Working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 Vinci Surgical System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that helps doctors do surgery through small cuts, using a control panel, robot arms, and a 3D camera.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4709160"/>
            <a:ext cx="3383280" cy="0"/>
          </a:xfrm>
          <a:prstGeom prst="line">
            <a:avLst/>
          </a:prstGeom>
          <a:noFill/>
          <a:ln w="12700">
            <a:solidFill>
              <a:srgbClr val="2A43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8463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51663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cuts, less bleeding, faster healing, and more accurate than a human hand alone.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20640" y="169164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fields work together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20640" y="2103120"/>
            <a:ext cx="3063240" cy="2834640"/>
          </a:xfrm>
          <a:prstGeom prst="roundRect">
            <a:avLst>
              <a:gd name="adj" fmla="val 2581"/>
            </a:avLst>
          </a:prstGeom>
          <a:solidFill>
            <a:srgbClr val="F3F7FA"/>
          </a:solidFill>
          <a:ln/>
        </p:spPr>
      </p:sp>
      <p:sp>
        <p:nvSpPr>
          <p:cNvPr id="14" name="Shape 11"/>
          <p:cNvSpPr/>
          <p:nvPr/>
        </p:nvSpPr>
        <p:spPr>
          <a:xfrm>
            <a:off x="534924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999" y="246247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Engineering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376672" y="3438144"/>
            <a:ext cx="73152" cy="73152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8" name="Text 14"/>
          <p:cNvSpPr/>
          <p:nvPr/>
        </p:nvSpPr>
        <p:spPr>
          <a:xfrm>
            <a:off x="5559552" y="3310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tools that are safe for the body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5376672" y="3968496"/>
            <a:ext cx="73152" cy="73152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0" name="Text 16"/>
          <p:cNvSpPr/>
          <p:nvPr/>
        </p:nvSpPr>
        <p:spPr>
          <a:xfrm>
            <a:off x="5559552" y="3840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tools comfortable and safe to use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5376672" y="4498848"/>
            <a:ext cx="73152" cy="73152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22" name="Text 18"/>
          <p:cNvSpPr/>
          <p:nvPr/>
        </p:nvSpPr>
        <p:spPr>
          <a:xfrm>
            <a:off x="5559552" y="4370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approves tools for hospital use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8412480" y="2103120"/>
            <a:ext cx="3063240" cy="2834640"/>
          </a:xfrm>
          <a:prstGeom prst="roundRect">
            <a:avLst>
              <a:gd name="adj" fmla="val 2581"/>
            </a:avLst>
          </a:prstGeom>
          <a:solidFill>
            <a:srgbClr val="0EA5A0"/>
          </a:solidFill>
          <a:ln/>
        </p:spPr>
      </p:sp>
      <p:sp>
        <p:nvSpPr>
          <p:cNvPr id="24" name="Shape 20"/>
          <p:cNvSpPr/>
          <p:nvPr/>
        </p:nvSpPr>
        <p:spPr>
          <a:xfrm>
            <a:off x="864108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839" y="2462479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64108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668512" y="3438144"/>
            <a:ext cx="73152" cy="7315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Text 23"/>
          <p:cNvSpPr/>
          <p:nvPr/>
        </p:nvSpPr>
        <p:spPr>
          <a:xfrm>
            <a:off x="8851392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05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robot arms instantly and smoothly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8668512" y="4041648"/>
            <a:ext cx="73152" cy="7315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5"/>
          <p:cNvSpPr/>
          <p:nvPr/>
        </p:nvSpPr>
        <p:spPr>
          <a:xfrm>
            <a:off x="8851392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05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doctor a clear 3D view on screen</a:t>
            </a:r>
            <a:endParaRPr lang="en-US" sz="1080" dirty="0"/>
          </a:p>
        </p:txBody>
      </p:sp>
      <p:sp>
        <p:nvSpPr>
          <p:cNvPr id="31" name="Shape 26"/>
          <p:cNvSpPr/>
          <p:nvPr/>
        </p:nvSpPr>
        <p:spPr>
          <a:xfrm>
            <a:off x="8668512" y="4645152"/>
            <a:ext cx="73152" cy="7315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2" name="Text 27"/>
          <p:cNvSpPr/>
          <p:nvPr/>
        </p:nvSpPr>
        <p:spPr>
          <a:xfrm>
            <a:off x="8851392" y="45171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05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to improve accuracy and sense of touch</a:t>
            </a:r>
            <a:endParaRPr lang="en-US" sz="1080" dirty="0"/>
          </a:p>
        </p:txBody>
      </p:sp>
      <p:sp>
        <p:nvSpPr>
          <p:cNvPr id="33" name="Shape 28"/>
          <p:cNvSpPr/>
          <p:nvPr/>
        </p:nvSpPr>
        <p:spPr>
          <a:xfrm>
            <a:off x="5120640" y="5120640"/>
            <a:ext cx="6355080" cy="73152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/>
        </p:spPr>
      </p:sp>
      <p:sp>
        <p:nvSpPr>
          <p:cNvPr id="34" name="Shape 29"/>
          <p:cNvSpPr/>
          <p:nvPr/>
        </p:nvSpPr>
        <p:spPr>
          <a:xfrm>
            <a:off x="5257800" y="5257800"/>
            <a:ext cx="457200" cy="45720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5376672"/>
            <a:ext cx="219456" cy="21945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852160" y="512064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CSE doesn't replace biomedical engineering — it makes it smarter with software.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Misconceptions about Computer Science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384048" cy="384048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524" y="1956084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is just about writing code all day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5880" y="22585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includes design, testing, and teamwork.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56232"/>
            <a:ext cx="384048" cy="384048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84" y="195608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be a math genius to succeed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949440" y="22585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and logical thinking matter more than raw genius.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081528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46120"/>
            <a:ext cx="384048" cy="384048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3345972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72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CSE jobs are the same (“software developer”)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25880" y="36484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many paths: AI, security, data, cloud, and more.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081528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246120"/>
            <a:ext cx="384048" cy="384048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084" y="3345972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172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lonely, desk-bound job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949440" y="36484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projects need teamwork and talking with people.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471416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636008"/>
            <a:ext cx="384048" cy="384048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24" y="4735860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562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learn a language, you're done learning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25880" y="503834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keeps changing, so learning never really stops.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4471416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44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28232" y="4636008"/>
            <a:ext cx="384048" cy="384048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084" y="4735860"/>
            <a:ext cx="184343" cy="18434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4562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 degree guarantees instant success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949440" y="503834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practice matter just as much as the degree.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Required for CSE in the 21st Century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17830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13294B"/>
          </a:solidFill>
          <a:ln/>
        </p:spPr>
      </p:sp>
      <p:sp>
        <p:nvSpPr>
          <p:cNvPr id="5" name="Shape 3"/>
          <p:cNvSpPr/>
          <p:nvPr/>
        </p:nvSpPr>
        <p:spPr>
          <a:xfrm>
            <a:off x="1659636" y="2039112"/>
            <a:ext cx="640080" cy="64008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057" y="220553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" y="28803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DSA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65576" y="17830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13294B"/>
          </a:solidFill>
          <a:ln/>
        </p:spPr>
      </p:sp>
      <p:sp>
        <p:nvSpPr>
          <p:cNvPr id="9" name="Shape 6"/>
          <p:cNvSpPr/>
          <p:nvPr/>
        </p:nvSpPr>
        <p:spPr>
          <a:xfrm>
            <a:off x="4402836" y="2039112"/>
            <a:ext cx="640080" cy="64008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57" y="220553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75304" y="28803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08776" y="17830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13294B"/>
          </a:solidFill>
          <a:ln/>
        </p:spPr>
      </p:sp>
      <p:sp>
        <p:nvSpPr>
          <p:cNvPr id="13" name="Shape 9"/>
          <p:cNvSpPr/>
          <p:nvPr/>
        </p:nvSpPr>
        <p:spPr>
          <a:xfrm>
            <a:off x="7146036" y="2039112"/>
            <a:ext cx="640080" cy="64008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457" y="2205533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28803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951976" y="17830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13294B"/>
          </a:solidFill>
          <a:ln/>
        </p:spPr>
      </p:sp>
      <p:sp>
        <p:nvSpPr>
          <p:cNvPr id="17" name="Shape 12"/>
          <p:cNvSpPr/>
          <p:nvPr/>
        </p:nvSpPr>
        <p:spPr>
          <a:xfrm>
            <a:off x="9889236" y="2039112"/>
            <a:ext cx="640080" cy="64008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657" y="2205533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61704" y="28803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22376" y="38404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13294B"/>
          </a:solidFill>
          <a:ln/>
        </p:spPr>
      </p:sp>
      <p:sp>
        <p:nvSpPr>
          <p:cNvPr id="21" name="Shape 15"/>
          <p:cNvSpPr/>
          <p:nvPr/>
        </p:nvSpPr>
        <p:spPr>
          <a:xfrm>
            <a:off x="1659636" y="4096512"/>
            <a:ext cx="640080" cy="64008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6057" y="4262933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2104" y="49377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465576" y="38404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13294B"/>
          </a:solidFill>
          <a:ln/>
        </p:spPr>
      </p:sp>
      <p:sp>
        <p:nvSpPr>
          <p:cNvPr id="25" name="Shape 18"/>
          <p:cNvSpPr/>
          <p:nvPr/>
        </p:nvSpPr>
        <p:spPr>
          <a:xfrm>
            <a:off x="4402836" y="4096512"/>
            <a:ext cx="640080" cy="64008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257" y="4262933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75304" y="49377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208776" y="38404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13294B"/>
          </a:solidFill>
          <a:ln/>
        </p:spPr>
      </p:sp>
      <p:sp>
        <p:nvSpPr>
          <p:cNvPr id="29" name="Shape 21"/>
          <p:cNvSpPr/>
          <p:nvPr/>
        </p:nvSpPr>
        <p:spPr>
          <a:xfrm>
            <a:off x="7146036" y="4096512"/>
            <a:ext cx="640080" cy="64008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2457" y="4262933"/>
            <a:ext cx="307238" cy="3072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18504" y="49377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951976" y="384048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13294B"/>
          </a:solidFill>
          <a:ln/>
        </p:spPr>
      </p:sp>
      <p:sp>
        <p:nvSpPr>
          <p:cNvPr id="33" name="Shape 24"/>
          <p:cNvSpPr/>
          <p:nvPr/>
        </p:nvSpPr>
        <p:spPr>
          <a:xfrm>
            <a:off x="9889236" y="4096512"/>
            <a:ext cx="640080" cy="64008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5657" y="4262933"/>
            <a:ext cx="307238" cy="30723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61704" y="493776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Teamwork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07008" y="-1207008"/>
            <a:ext cx="4023360" cy="4023360"/>
          </a:xfrm>
          <a:prstGeom prst="ellipse">
            <a:avLst/>
          </a:prstGeom>
          <a:ln w="12700">
            <a:solidFill>
              <a:srgbClr val="0EA5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00784" y="-1700784"/>
            <a:ext cx="5669280" cy="5669280"/>
          </a:xfrm>
          <a:prstGeom prst="ellipse">
            <a:avLst/>
          </a:prstGeom>
          <a:ln w="12700">
            <a:solidFill>
              <a:srgbClr val="0EA5A0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94560" y="-2194560"/>
            <a:ext cx="7315200" cy="7315200"/>
          </a:xfrm>
          <a:prstGeom prst="ellipse">
            <a:avLst/>
          </a:prstGeom>
          <a:ln w="12700">
            <a:solidFill>
              <a:srgbClr val="0EA5A0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688336" y="-2688336"/>
            <a:ext cx="8961120" cy="8961120"/>
          </a:xfrm>
          <a:prstGeom prst="ellipse">
            <a:avLst/>
          </a:prstGeom>
          <a:ln w="12700">
            <a:solidFill>
              <a:srgbClr val="0EA5A0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82996" y="1463040"/>
            <a:ext cx="822960" cy="82296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966" y="16770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9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isn't just a career —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turns ideas into things we use every day.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545836" y="3977640"/>
            <a:ext cx="1097280" cy="0"/>
          </a:xfrm>
          <a:prstGeom prst="line">
            <a:avLst/>
          </a:prstGeom>
          <a:noFill/>
          <a:ln w="38100">
            <a:solidFill>
              <a:srgbClr val="F5A5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Study</dc:title>
  <dc:subject>PptxGenJS Presentation</dc:subject>
  <dc:creator>Engineering Study</dc:creator>
  <cp:lastModifiedBy>Engineering Study</cp:lastModifiedBy>
  <cp:revision>1</cp:revision>
  <dcterms:created xsi:type="dcterms:W3CDTF">2026-07-16T01:27:22Z</dcterms:created>
  <dcterms:modified xsi:type="dcterms:W3CDTF">2026-07-16T01:27:22Z</dcterms:modified>
</cp:coreProperties>
</file>