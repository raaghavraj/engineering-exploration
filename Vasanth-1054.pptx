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693400"/>
  <p:notesSz cx="6858000" cy="9144000"/>
  <p:embeddedFontLst>
    <p:embeddedFont>
      <p:font typeface="Canva Sans" charset="1" panose="020B0503030501040103"/>
      <p:regular r:id="rId18"/>
    </p:embeddedFont>
    <p:embeddedFont>
      <p:font typeface="Canva Sans Bold" charset="1" panose="020B0803030501040103"/>
      <p:regular r:id="rId19"/>
    </p:embeddedFont>
    <p:embeddedFont>
      <p:font typeface="Arial MT Pro" charset="1" panose="020B0502020202020204"/>
      <p:regular r:id="rId20"/>
    </p:embeddedFont>
    <p:embeddedFont>
      <p:font typeface="Arial MT Pro Bold" charset="1" panose="020B0802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60184" y="406633"/>
            <a:ext cx="19883683" cy="9941842"/>
          </a:xfrm>
          <a:custGeom>
            <a:avLst/>
            <a:gdLst/>
            <a:ahLst/>
            <a:cxnLst/>
            <a:rect r="r" b="b" t="t" l="l"/>
            <a:pathLst>
              <a:path h="9941842" w="19883683">
                <a:moveTo>
                  <a:pt x="0" y="0"/>
                </a:moveTo>
                <a:lnTo>
                  <a:pt x="19883683" y="0"/>
                </a:lnTo>
                <a:lnTo>
                  <a:pt x="19883683" y="9941841"/>
                </a:lnTo>
                <a:lnTo>
                  <a:pt x="0" y="9941841"/>
                </a:lnTo>
                <a:lnTo>
                  <a:pt x="0" y="0"/>
                </a:lnTo>
                <a:close/>
              </a:path>
            </a:pathLst>
          </a:custGeom>
          <a:blipFill>
            <a:blip r:embed="rId2"/>
            <a:stretch>
              <a:fillRect l="0" t="0" r="0" b="0"/>
            </a:stretch>
          </a:blipFill>
        </p:spPr>
      </p:sp>
      <p:sp>
        <p:nvSpPr>
          <p:cNvPr name="TextBox 3" id="3"/>
          <p:cNvSpPr txBox="true"/>
          <p:nvPr/>
        </p:nvSpPr>
        <p:spPr>
          <a:xfrm rot="0">
            <a:off x="15945594" y="9413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2FFCB"/>
                </a:solidFill>
                <a:latin typeface="Canva Sans"/>
                <a:ea typeface="Canva Sans"/>
                <a:cs typeface="Canva Sans"/>
                <a:sym typeface="Canva Sans"/>
              </a:rPr>
              <a:t>1</a:t>
            </a:r>
          </a:p>
        </p:txBody>
      </p:sp>
      <p:sp>
        <p:nvSpPr>
          <p:cNvPr name="TextBox 4" id="4"/>
          <p:cNvSpPr txBox="true"/>
          <p:nvPr/>
        </p:nvSpPr>
        <p:spPr>
          <a:xfrm rot="0">
            <a:off x="221247" y="880784"/>
            <a:ext cx="17572932" cy="2616162"/>
          </a:xfrm>
          <a:prstGeom prst="rect">
            <a:avLst/>
          </a:prstGeom>
        </p:spPr>
        <p:txBody>
          <a:bodyPr anchor="t" rtlCol="false" tIns="0" lIns="0" bIns="0" rIns="0">
            <a:spAutoFit/>
          </a:bodyPr>
          <a:lstStyle/>
          <a:p>
            <a:pPr algn="ctr">
              <a:lnSpc>
                <a:spcPts val="10571"/>
              </a:lnSpc>
              <a:spcBef>
                <a:spcPct val="0"/>
              </a:spcBef>
            </a:pPr>
            <a:r>
              <a:rPr lang="en-US" b="true" sz="7550">
                <a:solidFill>
                  <a:srgbClr val="FF3131"/>
                </a:solidFill>
                <a:latin typeface="Canva Sans Bold"/>
                <a:ea typeface="Canva Sans Bold"/>
                <a:cs typeface="Canva Sans Bold"/>
                <a:sym typeface="Canva Sans Bold"/>
              </a:rPr>
              <a:t>engineering exploration for computer</a:t>
            </a:r>
          </a:p>
          <a:p>
            <a:pPr algn="ctr">
              <a:lnSpc>
                <a:spcPts val="10571"/>
              </a:lnSpc>
              <a:spcBef>
                <a:spcPct val="0"/>
              </a:spcBef>
            </a:pPr>
            <a:r>
              <a:rPr lang="en-US" b="true" sz="7550">
                <a:solidFill>
                  <a:srgbClr val="FF3131"/>
                </a:solidFill>
                <a:latin typeface="Canva Sans Bold"/>
                <a:ea typeface="Canva Sans Bold"/>
                <a:cs typeface="Canva Sans Bold"/>
                <a:sym typeface="Canva Sans Bold"/>
              </a:rPr>
              <a:t> science and engineering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7640554" y="1500034"/>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383774">
            <a:off x="7565571" y="399905"/>
            <a:ext cx="11226909" cy="14341591"/>
            <a:chOff x="0" y="0"/>
            <a:chExt cx="2956881" cy="3777209"/>
          </a:xfrm>
        </p:grpSpPr>
        <p:sp>
          <p:nvSpPr>
            <p:cNvPr name="Freeform 4" id="4"/>
            <p:cNvSpPr/>
            <p:nvPr/>
          </p:nvSpPr>
          <p:spPr>
            <a:xfrm flipH="false" flipV="false" rot="0">
              <a:off x="0" y="0"/>
              <a:ext cx="2956881" cy="3777209"/>
            </a:xfrm>
            <a:custGeom>
              <a:avLst/>
              <a:gdLst/>
              <a:ahLst/>
              <a:cxnLst/>
              <a:rect r="r" b="b" t="t" l="l"/>
              <a:pathLst>
                <a:path h="3777209" w="2956881">
                  <a:moveTo>
                    <a:pt x="0" y="0"/>
                  </a:moveTo>
                  <a:lnTo>
                    <a:pt x="2956881" y="0"/>
                  </a:lnTo>
                  <a:lnTo>
                    <a:pt x="2956881"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5" id="5"/>
            <p:cNvSpPr txBox="true"/>
            <p:nvPr/>
          </p:nvSpPr>
          <p:spPr>
            <a:xfrm>
              <a:off x="0" y="28575"/>
              <a:ext cx="2956881" cy="3748634"/>
            </a:xfrm>
            <a:prstGeom prst="rect">
              <a:avLst/>
            </a:prstGeom>
          </p:spPr>
          <p:txBody>
            <a:bodyPr anchor="ctr" rtlCol="false" tIns="50800" lIns="50800" bIns="50800" rIns="50800"/>
            <a:lstStyle/>
            <a:p>
              <a:pPr algn="ctr">
                <a:lnSpc>
                  <a:spcPts val="2267"/>
                </a:lnSpc>
              </a:pPr>
            </a:p>
          </p:txBody>
        </p:sp>
      </p:grpSp>
      <p:grpSp>
        <p:nvGrpSpPr>
          <p:cNvPr name="Group 6" id="6"/>
          <p:cNvGrpSpPr/>
          <p:nvPr/>
        </p:nvGrpSpPr>
        <p:grpSpPr>
          <a:xfrm rot="1383774">
            <a:off x="7012072" y="311144"/>
            <a:ext cx="10773748" cy="14341591"/>
            <a:chOff x="0" y="0"/>
            <a:chExt cx="2837530" cy="3777209"/>
          </a:xfrm>
        </p:grpSpPr>
        <p:sp>
          <p:nvSpPr>
            <p:cNvPr name="Freeform 7" id="7"/>
            <p:cNvSpPr/>
            <p:nvPr/>
          </p:nvSpPr>
          <p:spPr>
            <a:xfrm flipH="false" flipV="false" rot="0">
              <a:off x="0" y="0"/>
              <a:ext cx="2837530" cy="3777209"/>
            </a:xfrm>
            <a:custGeom>
              <a:avLst/>
              <a:gdLst/>
              <a:ahLst/>
              <a:cxnLst/>
              <a:rect r="r" b="b" t="t" l="l"/>
              <a:pathLst>
                <a:path h="3777209" w="2837530">
                  <a:moveTo>
                    <a:pt x="0" y="0"/>
                  </a:moveTo>
                  <a:lnTo>
                    <a:pt x="2837530" y="0"/>
                  </a:lnTo>
                  <a:lnTo>
                    <a:pt x="2837530"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8" id="8"/>
            <p:cNvSpPr txBox="true"/>
            <p:nvPr/>
          </p:nvSpPr>
          <p:spPr>
            <a:xfrm>
              <a:off x="0" y="28575"/>
              <a:ext cx="2837530" cy="3748634"/>
            </a:xfrm>
            <a:prstGeom prst="rect">
              <a:avLst/>
            </a:prstGeom>
          </p:spPr>
          <p:txBody>
            <a:bodyPr anchor="ctr" rtlCol="false" tIns="50800" lIns="50800" bIns="50800" rIns="50800"/>
            <a:lstStyle/>
            <a:p>
              <a:pPr algn="ctr">
                <a:lnSpc>
                  <a:spcPts val="2267"/>
                </a:lnSpc>
              </a:pPr>
            </a:p>
          </p:txBody>
        </p:sp>
      </p:grpSp>
      <p:sp>
        <p:nvSpPr>
          <p:cNvPr name="Freeform 9" id="9"/>
          <p:cNvSpPr/>
          <p:nvPr/>
        </p:nvSpPr>
        <p:spPr>
          <a:xfrm flipH="false" flipV="false" rot="0">
            <a:off x="10496777" y="2243166"/>
            <a:ext cx="7038123" cy="7038123"/>
          </a:xfrm>
          <a:custGeom>
            <a:avLst/>
            <a:gdLst/>
            <a:ahLst/>
            <a:cxnLst/>
            <a:rect r="r" b="b" t="t" l="l"/>
            <a:pathLst>
              <a:path h="7038123" w="7038123">
                <a:moveTo>
                  <a:pt x="0" y="0"/>
                </a:moveTo>
                <a:lnTo>
                  <a:pt x="7038123" y="0"/>
                </a:lnTo>
                <a:lnTo>
                  <a:pt x="7038123" y="7038123"/>
                </a:lnTo>
                <a:lnTo>
                  <a:pt x="0" y="7038123"/>
                </a:lnTo>
                <a:lnTo>
                  <a:pt x="0" y="0"/>
                </a:lnTo>
                <a:close/>
              </a:path>
            </a:pathLst>
          </a:custGeom>
          <a:blipFill>
            <a:blip r:embed="rId4"/>
            <a:stretch>
              <a:fillRect l="0" t="0" r="0" b="0"/>
            </a:stretch>
          </a:blipFill>
        </p:spPr>
      </p:sp>
      <p:sp>
        <p:nvSpPr>
          <p:cNvPr name="TextBox 10" id="10"/>
          <p:cNvSpPr txBox="true"/>
          <p:nvPr/>
        </p:nvSpPr>
        <p:spPr>
          <a:xfrm rot="0">
            <a:off x="15945594" y="9413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2FFCB"/>
                </a:solidFill>
                <a:latin typeface="Canva Sans"/>
                <a:ea typeface="Canva Sans"/>
                <a:cs typeface="Canva Sans"/>
                <a:sym typeface="Canva Sans"/>
              </a:rPr>
              <a:t>2</a:t>
            </a:r>
          </a:p>
        </p:txBody>
      </p:sp>
      <p:sp>
        <p:nvSpPr>
          <p:cNvPr name="TextBox 11" id="11"/>
          <p:cNvSpPr txBox="true"/>
          <p:nvPr/>
        </p:nvSpPr>
        <p:spPr>
          <a:xfrm rot="0">
            <a:off x="0" y="2392693"/>
            <a:ext cx="10496777" cy="7519006"/>
          </a:xfrm>
          <a:prstGeom prst="rect">
            <a:avLst/>
          </a:prstGeom>
        </p:spPr>
        <p:txBody>
          <a:bodyPr anchor="t" rtlCol="false" tIns="0" lIns="0" bIns="0" rIns="0">
            <a:spAutoFit/>
          </a:bodyPr>
          <a:lstStyle/>
          <a:p>
            <a:pPr algn="ctr">
              <a:lnSpc>
                <a:spcPts val="9766"/>
              </a:lnSpc>
              <a:spcBef>
                <a:spcPct val="0"/>
              </a:spcBef>
            </a:pPr>
            <a:r>
              <a:rPr lang="en-US" sz="6976">
                <a:solidFill>
                  <a:srgbClr val="B50A0A"/>
                </a:solidFill>
                <a:latin typeface="Arial MT Pro"/>
                <a:ea typeface="Arial MT Pro"/>
                <a:cs typeface="Arial MT Pro"/>
                <a:sym typeface="Arial MT Pro"/>
              </a:rPr>
              <a:t>Engineering is the application of scientific and mathematical principles to design, build, and optimize solutions for real-world problems</a:t>
            </a:r>
          </a:p>
        </p:txBody>
      </p:sp>
      <p:sp>
        <p:nvSpPr>
          <p:cNvPr name="TextBox 12" id="12"/>
          <p:cNvSpPr txBox="true"/>
          <p:nvPr/>
        </p:nvSpPr>
        <p:spPr>
          <a:xfrm rot="0">
            <a:off x="-2284305" y="1617388"/>
            <a:ext cx="12754113" cy="1042005"/>
          </a:xfrm>
          <a:prstGeom prst="rect">
            <a:avLst/>
          </a:prstGeom>
        </p:spPr>
        <p:txBody>
          <a:bodyPr anchor="t" rtlCol="false" tIns="0" lIns="0" bIns="0" rIns="0">
            <a:spAutoFit/>
          </a:bodyPr>
          <a:lstStyle/>
          <a:p>
            <a:pPr algn="ctr">
              <a:lnSpc>
                <a:spcPts val="7666"/>
              </a:lnSpc>
              <a:spcBef>
                <a:spcPct val="0"/>
              </a:spcBef>
            </a:pPr>
            <a:r>
              <a:rPr lang="en-US" sz="5476">
                <a:solidFill>
                  <a:srgbClr val="D91212"/>
                </a:solidFill>
                <a:latin typeface="Arial MT Pro"/>
                <a:ea typeface="Arial MT Pro"/>
                <a:cs typeface="Arial MT Pro"/>
                <a:sym typeface="Arial MT Pro"/>
              </a:rPr>
              <a:t>WHAT IS ENGINEERING?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0250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3873" r="-5858" b="-11588"/>
            </a:stretch>
          </a:blipFill>
        </p:spPr>
      </p:sp>
      <p:sp>
        <p:nvSpPr>
          <p:cNvPr name="TextBox 3" id="3"/>
          <p:cNvSpPr txBox="true"/>
          <p:nvPr/>
        </p:nvSpPr>
        <p:spPr>
          <a:xfrm rot="0">
            <a:off x="15945594" y="9413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2FFCB"/>
                </a:solidFill>
                <a:latin typeface="Canva Sans"/>
                <a:ea typeface="Canva Sans"/>
                <a:cs typeface="Canva Sans"/>
                <a:sym typeface="Canva Sans"/>
              </a:rPr>
              <a:t>3</a:t>
            </a:r>
          </a:p>
        </p:txBody>
      </p:sp>
      <p:sp>
        <p:nvSpPr>
          <p:cNvPr name="TextBox 4" id="4"/>
          <p:cNvSpPr txBox="true"/>
          <p:nvPr/>
        </p:nvSpPr>
        <p:spPr>
          <a:xfrm rot="0">
            <a:off x="9429352" y="7111825"/>
            <a:ext cx="8214360" cy="1482693"/>
          </a:xfrm>
          <a:prstGeom prst="rect">
            <a:avLst/>
          </a:prstGeom>
        </p:spPr>
        <p:txBody>
          <a:bodyPr anchor="t" rtlCol="false" tIns="0" lIns="0" bIns="0" rIns="0">
            <a:spAutoFit/>
          </a:bodyPr>
          <a:lstStyle/>
          <a:p>
            <a:pPr algn="ctr">
              <a:lnSpc>
                <a:spcPts val="3746"/>
              </a:lnSpc>
            </a:pPr>
            <a:r>
              <a:rPr lang="en-US" b="true" sz="2676">
                <a:solidFill>
                  <a:srgbClr val="FF3131"/>
                </a:solidFill>
                <a:latin typeface="Arial MT Pro Bold"/>
                <a:ea typeface="Arial MT Pro Bold"/>
                <a:cs typeface="Arial MT Pro Bold"/>
                <a:sym typeface="Arial MT Pro Bold"/>
              </a:rPr>
              <a:t>science:</a:t>
            </a:r>
          </a:p>
          <a:p>
            <a:pPr algn="ctr">
              <a:lnSpc>
                <a:spcPts val="3746"/>
              </a:lnSpc>
              <a:spcBef>
                <a:spcPct val="0"/>
              </a:spcBef>
            </a:pPr>
            <a:r>
              <a:rPr lang="en-US" b="true" sz="2676">
                <a:solidFill>
                  <a:srgbClr val="FF3131"/>
                </a:solidFill>
                <a:latin typeface="Arial MT Pro Bold"/>
                <a:ea typeface="Arial MT Pro Bold"/>
                <a:cs typeface="Arial MT Pro Bold"/>
                <a:sym typeface="Arial MT Pro Bold"/>
              </a:rPr>
              <a:t>*s</a:t>
            </a:r>
            <a:r>
              <a:rPr lang="en-US" b="true" sz="2676">
                <a:solidFill>
                  <a:srgbClr val="FF3131"/>
                </a:solidFill>
                <a:latin typeface="Arial MT Pro Bold"/>
                <a:ea typeface="Arial MT Pro Bold"/>
                <a:cs typeface="Arial MT Pro Bold"/>
                <a:sym typeface="Arial MT Pro Bold"/>
              </a:rPr>
              <a:t>tudies and explains how the natural world works</a:t>
            </a:r>
          </a:p>
          <a:p>
            <a:pPr algn="ctr">
              <a:lnSpc>
                <a:spcPts val="3746"/>
              </a:lnSpc>
              <a:spcBef>
                <a:spcPct val="0"/>
              </a:spcBef>
            </a:pPr>
            <a:r>
              <a:rPr lang="en-US" b="true" sz="2676">
                <a:solidFill>
                  <a:srgbClr val="FF3131"/>
                </a:solidFill>
                <a:latin typeface="Arial MT Pro Bold"/>
                <a:ea typeface="Arial MT Pro Bold"/>
                <a:cs typeface="Arial MT Pro Bold"/>
                <a:sym typeface="Arial MT Pro Bold"/>
              </a:rPr>
              <a:t>*Uses observation, experiments, and theories</a:t>
            </a:r>
          </a:p>
        </p:txBody>
      </p:sp>
      <p:sp>
        <p:nvSpPr>
          <p:cNvPr name="TextBox 5" id="5"/>
          <p:cNvSpPr txBox="true"/>
          <p:nvPr/>
        </p:nvSpPr>
        <p:spPr>
          <a:xfrm rot="0">
            <a:off x="0" y="6526741"/>
            <a:ext cx="7278077" cy="2446623"/>
          </a:xfrm>
          <a:prstGeom prst="rect">
            <a:avLst/>
          </a:prstGeom>
        </p:spPr>
        <p:txBody>
          <a:bodyPr anchor="t" rtlCol="false" tIns="0" lIns="0" bIns="0" rIns="0">
            <a:spAutoFit/>
          </a:bodyPr>
          <a:lstStyle/>
          <a:p>
            <a:pPr algn="ctr">
              <a:lnSpc>
                <a:spcPts val="3746"/>
              </a:lnSpc>
            </a:pPr>
            <a:r>
              <a:rPr lang="en-US" b="true" sz="2676">
                <a:solidFill>
                  <a:srgbClr val="FF3131"/>
                </a:solidFill>
                <a:latin typeface="Arial MT Pro Bold"/>
                <a:ea typeface="Arial MT Pro Bold"/>
                <a:cs typeface="Arial MT Pro Bold"/>
                <a:sym typeface="Arial MT Pro Bold"/>
              </a:rPr>
              <a:t>engineering:</a:t>
            </a:r>
          </a:p>
          <a:p>
            <a:pPr algn="ctr">
              <a:lnSpc>
                <a:spcPts val="3746"/>
              </a:lnSpc>
              <a:spcBef>
                <a:spcPct val="0"/>
              </a:spcBef>
            </a:pPr>
            <a:r>
              <a:rPr lang="en-US" b="true" sz="2676">
                <a:solidFill>
                  <a:srgbClr val="FF3131"/>
                </a:solidFill>
                <a:latin typeface="Arial MT Pro Bold"/>
                <a:ea typeface="Arial MT Pro Bold"/>
                <a:cs typeface="Arial MT Pro Bold"/>
                <a:sym typeface="Arial MT Pro Bold"/>
              </a:rPr>
              <a:t>*</a:t>
            </a:r>
            <a:r>
              <a:rPr lang="en-US" b="true" sz="2676">
                <a:solidFill>
                  <a:srgbClr val="FF3131"/>
                </a:solidFill>
                <a:latin typeface="Arial MT Pro Bold"/>
                <a:ea typeface="Arial MT Pro Bold"/>
                <a:cs typeface="Arial MT Pro Bold"/>
                <a:sym typeface="Arial MT Pro Bold"/>
              </a:rPr>
              <a:t>Applies scientific knowledge to solve practical problems</a:t>
            </a:r>
          </a:p>
          <a:p>
            <a:pPr algn="ctr">
              <a:lnSpc>
                <a:spcPts val="3746"/>
              </a:lnSpc>
              <a:spcBef>
                <a:spcPct val="0"/>
              </a:spcBef>
            </a:pPr>
            <a:r>
              <a:rPr lang="en-US" b="true" sz="2676">
                <a:solidFill>
                  <a:srgbClr val="FF3131"/>
                </a:solidFill>
                <a:latin typeface="Arial MT Pro Bold"/>
                <a:ea typeface="Arial MT Pro Bold"/>
                <a:cs typeface="Arial MT Pro Bold"/>
                <a:sym typeface="Arial MT Pro Bold"/>
              </a:rPr>
              <a:t>*Focuses on designing and building useful products or systems.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4011154">
            <a:off x="13387623" y="670778"/>
            <a:ext cx="17403374" cy="19609971"/>
            <a:chOff x="0" y="0"/>
            <a:chExt cx="4583605" cy="5164766"/>
          </a:xfrm>
        </p:grpSpPr>
        <p:sp>
          <p:nvSpPr>
            <p:cNvPr name="Freeform 3" id="3"/>
            <p:cNvSpPr/>
            <p:nvPr/>
          </p:nvSpPr>
          <p:spPr>
            <a:xfrm flipH="false" flipV="false" rot="0">
              <a:off x="0" y="0"/>
              <a:ext cx="4583605" cy="5164766"/>
            </a:xfrm>
            <a:custGeom>
              <a:avLst/>
              <a:gdLst/>
              <a:ahLst/>
              <a:cxnLst/>
              <a:rect r="r" b="b" t="t" l="l"/>
              <a:pathLst>
                <a:path h="5164766" w="4583605">
                  <a:moveTo>
                    <a:pt x="0" y="0"/>
                  </a:moveTo>
                  <a:lnTo>
                    <a:pt x="4583605" y="0"/>
                  </a:lnTo>
                  <a:lnTo>
                    <a:pt x="4583605" y="5164766"/>
                  </a:lnTo>
                  <a:lnTo>
                    <a:pt x="0" y="5164766"/>
                  </a:lnTo>
                  <a:close/>
                </a:path>
              </a:pathLst>
            </a:custGeom>
            <a:gradFill rotWithShape="true">
              <a:gsLst>
                <a:gs pos="0">
                  <a:srgbClr val="27DDDF">
                    <a:alpha val="0"/>
                  </a:srgbClr>
                </a:gs>
                <a:gs pos="100000">
                  <a:srgbClr val="27DDDF">
                    <a:alpha val="100000"/>
                  </a:srgbClr>
                </a:gs>
              </a:gsLst>
              <a:lin ang="5400000"/>
            </a:gradFill>
          </p:spPr>
        </p:sp>
        <p:sp>
          <p:nvSpPr>
            <p:cNvPr name="TextBox 4" id="4"/>
            <p:cNvSpPr txBox="true"/>
            <p:nvPr/>
          </p:nvSpPr>
          <p:spPr>
            <a:xfrm>
              <a:off x="0" y="19050"/>
              <a:ext cx="4583605" cy="5145716"/>
            </a:xfrm>
            <a:prstGeom prst="rect">
              <a:avLst/>
            </a:prstGeom>
          </p:spPr>
          <p:txBody>
            <a:bodyPr anchor="ctr" rtlCol="false" tIns="50800" lIns="50800" bIns="50800" rIns="50800"/>
            <a:lstStyle/>
            <a:p>
              <a:pPr algn="ctr">
                <a:lnSpc>
                  <a:spcPts val="1387"/>
                </a:lnSpc>
              </a:pPr>
            </a:p>
          </p:txBody>
        </p:sp>
      </p:grpSp>
      <p:sp>
        <p:nvSpPr>
          <p:cNvPr name="Freeform 5" id="5"/>
          <p:cNvSpPr/>
          <p:nvPr/>
        </p:nvSpPr>
        <p:spPr>
          <a:xfrm flipH="false" flipV="false" rot="0">
            <a:off x="0" y="2699071"/>
            <a:ext cx="8968817" cy="5603911"/>
          </a:xfrm>
          <a:custGeom>
            <a:avLst/>
            <a:gdLst/>
            <a:ahLst/>
            <a:cxnLst/>
            <a:rect r="r" b="b" t="t" l="l"/>
            <a:pathLst>
              <a:path h="5603911" w="8968817">
                <a:moveTo>
                  <a:pt x="0" y="0"/>
                </a:moveTo>
                <a:lnTo>
                  <a:pt x="8968817" y="0"/>
                </a:lnTo>
                <a:lnTo>
                  <a:pt x="8968817" y="5603911"/>
                </a:lnTo>
                <a:lnTo>
                  <a:pt x="0" y="5603911"/>
                </a:lnTo>
                <a:lnTo>
                  <a:pt x="0" y="0"/>
                </a:lnTo>
                <a:close/>
              </a:path>
            </a:pathLst>
          </a:custGeom>
          <a:blipFill>
            <a:blip r:embed="rId2"/>
            <a:stretch>
              <a:fillRect l="0" t="0" r="0" b="0"/>
            </a:stretch>
          </a:blipFill>
        </p:spPr>
      </p:sp>
      <p:sp>
        <p:nvSpPr>
          <p:cNvPr name="TextBox 6" id="6"/>
          <p:cNvSpPr txBox="true"/>
          <p:nvPr/>
        </p:nvSpPr>
        <p:spPr>
          <a:xfrm rot="0">
            <a:off x="15945594" y="9413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2FFCB"/>
                </a:solidFill>
                <a:latin typeface="Canva Sans"/>
                <a:ea typeface="Canva Sans"/>
                <a:cs typeface="Canva Sans"/>
                <a:sym typeface="Canva Sans"/>
              </a:rPr>
              <a:t>4</a:t>
            </a:r>
          </a:p>
        </p:txBody>
      </p:sp>
      <p:sp>
        <p:nvSpPr>
          <p:cNvPr name="TextBox 7" id="7"/>
          <p:cNvSpPr txBox="true"/>
          <p:nvPr/>
        </p:nvSpPr>
        <p:spPr>
          <a:xfrm rot="0">
            <a:off x="9144000" y="2594296"/>
            <a:ext cx="4384636" cy="1436973"/>
          </a:xfrm>
          <a:prstGeom prst="rect">
            <a:avLst/>
          </a:prstGeom>
        </p:spPr>
        <p:txBody>
          <a:bodyPr anchor="t" rtlCol="false" tIns="0" lIns="0" bIns="0" rIns="0">
            <a:spAutoFit/>
          </a:bodyPr>
          <a:lstStyle/>
          <a:p>
            <a:pPr algn="ctr">
              <a:lnSpc>
                <a:spcPts val="3746"/>
              </a:lnSpc>
            </a:pPr>
            <a:r>
              <a:rPr lang="en-US" sz="2676">
                <a:solidFill>
                  <a:srgbClr val="FF3131"/>
                </a:solidFill>
                <a:latin typeface="Arial MT Pro"/>
                <a:ea typeface="Arial MT Pro"/>
                <a:cs typeface="Arial MT Pro"/>
                <a:sym typeface="Arial MT Pro"/>
              </a:rPr>
              <a:t>scientist:</a:t>
            </a:r>
          </a:p>
          <a:p>
            <a:pPr algn="ctr">
              <a:lnSpc>
                <a:spcPts val="3746"/>
              </a:lnSpc>
              <a:spcBef>
                <a:spcPct val="0"/>
              </a:spcBef>
            </a:pPr>
            <a:r>
              <a:rPr lang="en-US" sz="2676">
                <a:solidFill>
                  <a:srgbClr val="FF3131"/>
                </a:solidFill>
                <a:latin typeface="Arial MT Pro"/>
                <a:ea typeface="Arial MT Pro"/>
                <a:cs typeface="Arial MT Pro"/>
                <a:sym typeface="Arial MT Pro"/>
              </a:rPr>
              <a:t>*</a:t>
            </a:r>
            <a:r>
              <a:rPr lang="en-US" sz="2676">
                <a:solidFill>
                  <a:srgbClr val="FF3131"/>
                </a:solidFill>
                <a:latin typeface="Arial MT Pro"/>
                <a:ea typeface="Arial MT Pro"/>
                <a:cs typeface="Arial MT Pro"/>
                <a:sym typeface="Arial MT Pro"/>
              </a:rPr>
              <a:t>To discover new knowledge and understand the universe</a:t>
            </a:r>
          </a:p>
        </p:txBody>
      </p:sp>
      <p:sp>
        <p:nvSpPr>
          <p:cNvPr name="TextBox 8" id="8"/>
          <p:cNvSpPr txBox="true"/>
          <p:nvPr/>
        </p:nvSpPr>
        <p:spPr>
          <a:xfrm rot="0">
            <a:off x="8560263" y="3926494"/>
            <a:ext cx="6072266" cy="1436973"/>
          </a:xfrm>
          <a:prstGeom prst="rect">
            <a:avLst/>
          </a:prstGeom>
        </p:spPr>
        <p:txBody>
          <a:bodyPr anchor="t" rtlCol="false" tIns="0" lIns="0" bIns="0" rIns="0">
            <a:spAutoFit/>
          </a:bodyPr>
          <a:lstStyle/>
          <a:p>
            <a:pPr algn="ctr">
              <a:lnSpc>
                <a:spcPts val="3746"/>
              </a:lnSpc>
              <a:spcBef>
                <a:spcPct val="0"/>
              </a:spcBef>
            </a:pPr>
            <a:r>
              <a:rPr lang="en-US" sz="2676">
                <a:solidFill>
                  <a:srgbClr val="FF3131"/>
                </a:solidFill>
                <a:latin typeface="Arial MT Pro"/>
                <a:ea typeface="Arial MT Pro"/>
                <a:cs typeface="Arial MT Pro"/>
                <a:sym typeface="Arial MT Pro"/>
              </a:rPr>
              <a:t>*</a:t>
            </a:r>
            <a:r>
              <a:rPr lang="en-US" sz="2676">
                <a:solidFill>
                  <a:srgbClr val="FF3131"/>
                </a:solidFill>
                <a:latin typeface="Arial MT Pro"/>
                <a:ea typeface="Arial MT Pro"/>
                <a:cs typeface="Arial MT Pro"/>
                <a:sym typeface="Arial MT Pro"/>
              </a:rPr>
              <a:t>Scientific Method (observation,</a:t>
            </a:r>
          </a:p>
          <a:p>
            <a:pPr algn="ctr">
              <a:lnSpc>
                <a:spcPts val="3746"/>
              </a:lnSpc>
              <a:spcBef>
                <a:spcPct val="0"/>
              </a:spcBef>
            </a:pPr>
            <a:r>
              <a:rPr lang="en-US" sz="2676">
                <a:solidFill>
                  <a:srgbClr val="FF3131"/>
                </a:solidFill>
                <a:latin typeface="Arial MT Pro"/>
                <a:ea typeface="Arial MT Pro"/>
                <a:cs typeface="Arial MT Pro"/>
                <a:sym typeface="Arial MT Pro"/>
              </a:rPr>
              <a:t>hypothesis formulation, and experimentation).</a:t>
            </a:r>
          </a:p>
        </p:txBody>
      </p:sp>
      <p:sp>
        <p:nvSpPr>
          <p:cNvPr name="TextBox 9" id="9"/>
          <p:cNvSpPr txBox="true"/>
          <p:nvPr/>
        </p:nvSpPr>
        <p:spPr>
          <a:xfrm rot="0">
            <a:off x="8829094" y="5922312"/>
            <a:ext cx="5534605" cy="2837148"/>
          </a:xfrm>
          <a:prstGeom prst="rect">
            <a:avLst/>
          </a:prstGeom>
        </p:spPr>
        <p:txBody>
          <a:bodyPr anchor="t" rtlCol="false" tIns="0" lIns="0" bIns="0" rIns="0">
            <a:spAutoFit/>
          </a:bodyPr>
          <a:lstStyle/>
          <a:p>
            <a:pPr algn="ctr">
              <a:lnSpc>
                <a:spcPts val="3746"/>
              </a:lnSpc>
            </a:pPr>
            <a:r>
              <a:rPr lang="en-US" sz="2676">
                <a:solidFill>
                  <a:srgbClr val="FF3131"/>
                </a:solidFill>
                <a:latin typeface="Arial MT Pro"/>
                <a:ea typeface="Arial MT Pro"/>
                <a:cs typeface="Arial MT Pro"/>
                <a:sym typeface="Arial MT Pro"/>
              </a:rPr>
              <a:t>engineer:</a:t>
            </a:r>
          </a:p>
          <a:p>
            <a:pPr algn="ctr">
              <a:lnSpc>
                <a:spcPts val="3746"/>
              </a:lnSpc>
              <a:spcBef>
                <a:spcPct val="0"/>
              </a:spcBef>
            </a:pPr>
            <a:r>
              <a:rPr lang="en-US" sz="2676">
                <a:solidFill>
                  <a:srgbClr val="FF3131"/>
                </a:solidFill>
                <a:latin typeface="Arial MT Pro"/>
                <a:ea typeface="Arial MT Pro"/>
                <a:cs typeface="Arial MT Pro"/>
                <a:sym typeface="Arial MT Pro"/>
              </a:rPr>
              <a:t>*</a:t>
            </a:r>
            <a:r>
              <a:rPr lang="en-US" sz="2676">
                <a:solidFill>
                  <a:srgbClr val="FF3131"/>
                </a:solidFill>
                <a:latin typeface="Arial MT Pro"/>
                <a:ea typeface="Arial MT Pro"/>
                <a:cs typeface="Arial MT Pro"/>
                <a:sym typeface="Arial MT Pro"/>
              </a:rPr>
              <a:t>Scientific Method (observation, hypothesis formulation, and experimentation).</a:t>
            </a:r>
          </a:p>
          <a:p>
            <a:pPr algn="ctr">
              <a:lnSpc>
                <a:spcPts val="3746"/>
              </a:lnSpc>
              <a:spcBef>
                <a:spcPct val="0"/>
              </a:spcBef>
            </a:pPr>
            <a:r>
              <a:rPr lang="en-US" sz="2676">
                <a:solidFill>
                  <a:srgbClr val="FF3131"/>
                </a:solidFill>
                <a:latin typeface="Arial MT Pro"/>
                <a:ea typeface="Arial MT Pro"/>
                <a:cs typeface="Arial MT Pro"/>
                <a:sym typeface="Arial MT Pro"/>
              </a:rPr>
              <a:t>*Blueprints, physical devices, software, and systems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2879623" y="6463908"/>
            <a:ext cx="406389" cy="229794"/>
          </a:xfrm>
          <a:custGeom>
            <a:avLst/>
            <a:gdLst/>
            <a:ahLst/>
            <a:cxnLst/>
            <a:rect r="r" b="b" t="t" l="l"/>
            <a:pathLst>
              <a:path h="229794" w="406389">
                <a:moveTo>
                  <a:pt x="0" y="0"/>
                </a:moveTo>
                <a:lnTo>
                  <a:pt x="406389" y="0"/>
                </a:lnTo>
                <a:lnTo>
                  <a:pt x="406389" y="229795"/>
                </a:lnTo>
                <a:lnTo>
                  <a:pt x="0" y="229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179697" y="3029230"/>
            <a:ext cx="675884" cy="67588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p:spPr>
        </p:sp>
        <p:sp>
          <p:nvSpPr>
            <p:cNvPr name="TextBox 5" id="5"/>
            <p:cNvSpPr txBox="true"/>
            <p:nvPr/>
          </p:nvSpPr>
          <p:spPr>
            <a:xfrm>
              <a:off x="76200" y="95250"/>
              <a:ext cx="660400" cy="641350"/>
            </a:xfrm>
            <a:prstGeom prst="rect">
              <a:avLst/>
            </a:prstGeom>
          </p:spPr>
          <p:txBody>
            <a:bodyPr anchor="ctr" rtlCol="false" tIns="50800" lIns="50800" bIns="50800" rIns="50800"/>
            <a:lstStyle/>
            <a:p>
              <a:pPr algn="ctr">
                <a:lnSpc>
                  <a:spcPts val="1387"/>
                </a:lnSpc>
              </a:pPr>
            </a:p>
          </p:txBody>
        </p:sp>
      </p:grpSp>
      <p:sp>
        <p:nvSpPr>
          <p:cNvPr name="Freeform 6" id="6"/>
          <p:cNvSpPr/>
          <p:nvPr/>
        </p:nvSpPr>
        <p:spPr>
          <a:xfrm flipH="false" flipV="false" rot="0">
            <a:off x="10296288" y="3146643"/>
            <a:ext cx="489274" cy="455359"/>
          </a:xfrm>
          <a:custGeom>
            <a:avLst/>
            <a:gdLst/>
            <a:ahLst/>
            <a:cxnLst/>
            <a:rect r="r" b="b" t="t" l="l"/>
            <a:pathLst>
              <a:path h="455359" w="489274">
                <a:moveTo>
                  <a:pt x="0" y="0"/>
                </a:moveTo>
                <a:lnTo>
                  <a:pt x="489274" y="0"/>
                </a:lnTo>
                <a:lnTo>
                  <a:pt x="489274" y="455359"/>
                </a:lnTo>
                <a:lnTo>
                  <a:pt x="0" y="4553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0" y="202500"/>
            <a:ext cx="18288000" cy="10616396"/>
          </a:xfrm>
          <a:custGeom>
            <a:avLst/>
            <a:gdLst/>
            <a:ahLst/>
            <a:cxnLst/>
            <a:rect r="r" b="b" t="t" l="l"/>
            <a:pathLst>
              <a:path h="10616396" w="18288000">
                <a:moveTo>
                  <a:pt x="0" y="0"/>
                </a:moveTo>
                <a:lnTo>
                  <a:pt x="18288000" y="0"/>
                </a:lnTo>
                <a:lnTo>
                  <a:pt x="18288000" y="10616396"/>
                </a:lnTo>
                <a:lnTo>
                  <a:pt x="0" y="10616396"/>
                </a:lnTo>
                <a:lnTo>
                  <a:pt x="0" y="0"/>
                </a:lnTo>
                <a:close/>
              </a:path>
            </a:pathLst>
          </a:custGeom>
          <a:blipFill>
            <a:blip r:embed="rId6"/>
            <a:stretch>
              <a:fillRect l="-6705" t="-31884" r="-6705" b="0"/>
            </a:stretch>
          </a:blipFill>
        </p:spPr>
      </p:sp>
      <p:sp>
        <p:nvSpPr>
          <p:cNvPr name="TextBox 8" id="8"/>
          <p:cNvSpPr txBox="true"/>
          <p:nvPr/>
        </p:nvSpPr>
        <p:spPr>
          <a:xfrm rot="0">
            <a:off x="1028700" y="965633"/>
            <a:ext cx="5708731" cy="4719288"/>
          </a:xfrm>
          <a:prstGeom prst="rect">
            <a:avLst/>
          </a:prstGeom>
        </p:spPr>
        <p:txBody>
          <a:bodyPr anchor="t" rtlCol="false" tIns="0" lIns="0" bIns="0" rIns="0">
            <a:spAutoFit/>
          </a:bodyPr>
          <a:lstStyle/>
          <a:p>
            <a:pPr algn="l">
              <a:lnSpc>
                <a:spcPts val="3746"/>
              </a:lnSpc>
            </a:pPr>
            <a:r>
              <a:rPr lang="en-US" sz="2676">
                <a:solidFill>
                  <a:srgbClr val="FF3131"/>
                </a:solidFill>
                <a:latin typeface="Arial MT Pro"/>
                <a:ea typeface="Arial MT Pro"/>
                <a:cs typeface="Arial MT Pro"/>
                <a:sym typeface="Arial MT Pro"/>
              </a:rPr>
              <a:t>Needs:</a:t>
            </a:r>
          </a:p>
          <a:p>
            <a:pPr algn="l">
              <a:lnSpc>
                <a:spcPts val="3746"/>
              </a:lnSpc>
            </a:pPr>
            <a:r>
              <a:rPr lang="en-US" sz="2676">
                <a:solidFill>
                  <a:srgbClr val="FF3131"/>
                </a:solidFill>
                <a:latin typeface="Arial MT Pro"/>
                <a:ea typeface="Arial MT Pro"/>
                <a:cs typeface="Arial MT Pro"/>
                <a:sym typeface="Arial MT Pro"/>
              </a:rPr>
              <a:t>Needs are essential uses of computer science in modern society.</a:t>
            </a:r>
          </a:p>
          <a:p>
            <a:pPr algn="l" marL="577805" indent="-288903" lvl="1">
              <a:lnSpc>
                <a:spcPts val="3746"/>
              </a:lnSpc>
              <a:buAutoNum type="arabicPeriod" startAt="1"/>
            </a:pPr>
            <a:r>
              <a:rPr lang="en-US" sz="2676">
                <a:solidFill>
                  <a:srgbClr val="FF3131"/>
                </a:solidFill>
                <a:latin typeface="Arial MT Pro"/>
                <a:ea typeface="Arial MT Pro"/>
                <a:cs typeface="Arial MT Pro"/>
                <a:sym typeface="Arial MT Pro"/>
              </a:rPr>
              <a:t>Communication (email, messaging, video calls)</a:t>
            </a:r>
          </a:p>
          <a:p>
            <a:pPr algn="l" marL="577805" indent="-288903" lvl="1">
              <a:lnSpc>
                <a:spcPts val="3746"/>
              </a:lnSpc>
              <a:buAutoNum type="arabicPeriod" startAt="1"/>
            </a:pPr>
            <a:r>
              <a:rPr lang="en-US" sz="2676">
                <a:solidFill>
                  <a:srgbClr val="FF3131"/>
                </a:solidFill>
                <a:latin typeface="Arial MT Pro"/>
                <a:ea typeface="Arial MT Pro"/>
                <a:cs typeface="Arial MT Pro"/>
                <a:sym typeface="Arial MT Pro"/>
              </a:rPr>
              <a:t>Education (online learning and digital classrooms)</a:t>
            </a:r>
          </a:p>
          <a:p>
            <a:pPr algn="l" marL="577805" indent="-288903" lvl="1">
              <a:lnSpc>
                <a:spcPts val="3746"/>
              </a:lnSpc>
              <a:buAutoNum type="arabicPeriod" startAt="1"/>
            </a:pPr>
            <a:r>
              <a:rPr lang="en-US" sz="2676">
                <a:solidFill>
                  <a:srgbClr val="FF3131"/>
                </a:solidFill>
                <a:latin typeface="Arial MT Pro"/>
                <a:ea typeface="Arial MT Pro"/>
                <a:cs typeface="Arial MT Pro"/>
                <a:sym typeface="Arial MT Pro"/>
              </a:rPr>
              <a:t>Healthcare (patient records and medical technology)</a:t>
            </a:r>
          </a:p>
          <a:p>
            <a:pPr algn="l">
              <a:lnSpc>
                <a:spcPts val="3746"/>
              </a:lnSpc>
              <a:spcBef>
                <a:spcPct val="0"/>
              </a:spcBef>
            </a:pPr>
          </a:p>
        </p:txBody>
      </p:sp>
      <p:sp>
        <p:nvSpPr>
          <p:cNvPr name="TextBox 9" id="9"/>
          <p:cNvSpPr txBox="true"/>
          <p:nvPr/>
        </p:nvSpPr>
        <p:spPr>
          <a:xfrm rot="0">
            <a:off x="11650093" y="6454980"/>
            <a:ext cx="6138257" cy="4554316"/>
          </a:xfrm>
          <a:prstGeom prst="rect">
            <a:avLst/>
          </a:prstGeom>
        </p:spPr>
        <p:txBody>
          <a:bodyPr anchor="t" rtlCol="false" tIns="0" lIns="0" bIns="0" rIns="0">
            <a:spAutoFit/>
          </a:bodyPr>
          <a:lstStyle/>
          <a:p>
            <a:pPr algn="l">
              <a:lnSpc>
                <a:spcPts val="4334"/>
              </a:lnSpc>
            </a:pPr>
            <a:r>
              <a:rPr lang="en-US" sz="3096">
                <a:solidFill>
                  <a:srgbClr val="D91212"/>
                </a:solidFill>
                <a:latin typeface="Arial MT Pro"/>
                <a:ea typeface="Arial MT Pro"/>
                <a:cs typeface="Arial MT Pro"/>
                <a:sym typeface="Arial MT Pro"/>
              </a:rPr>
              <a:t>Wants :</a:t>
            </a:r>
          </a:p>
          <a:p>
            <a:pPr algn="l">
              <a:lnSpc>
                <a:spcPts val="3914"/>
              </a:lnSpc>
            </a:pPr>
            <a:r>
              <a:rPr lang="en-US" sz="2796">
                <a:solidFill>
                  <a:srgbClr val="D91212"/>
                </a:solidFill>
                <a:latin typeface="Arial MT Pro"/>
                <a:ea typeface="Arial MT Pro"/>
                <a:cs typeface="Arial MT Pro"/>
                <a:sym typeface="Arial MT Pro"/>
              </a:rPr>
              <a:t>Wants are non-essential but desirable uses that improve convenience and entertainment.</a:t>
            </a:r>
          </a:p>
          <a:p>
            <a:pPr algn="l" marL="603703" indent="-301852" lvl="1">
              <a:lnSpc>
                <a:spcPts val="3914"/>
              </a:lnSpc>
              <a:buAutoNum type="arabicPeriod" startAt="1"/>
            </a:pPr>
            <a:r>
              <a:rPr lang="en-US" sz="2796">
                <a:solidFill>
                  <a:srgbClr val="D91212"/>
                </a:solidFill>
                <a:latin typeface="Arial MT Pro"/>
                <a:ea typeface="Arial MT Pro"/>
                <a:cs typeface="Arial MT Pro"/>
                <a:sym typeface="Arial MT Pro"/>
              </a:rPr>
              <a:t>Video games</a:t>
            </a:r>
          </a:p>
          <a:p>
            <a:pPr algn="l" marL="603703" indent="-301852" lvl="1">
              <a:lnSpc>
                <a:spcPts val="3914"/>
              </a:lnSpc>
              <a:buAutoNum type="arabicPeriod" startAt="1"/>
            </a:pPr>
            <a:r>
              <a:rPr lang="en-US" sz="2796">
                <a:solidFill>
                  <a:srgbClr val="D91212"/>
                </a:solidFill>
                <a:latin typeface="Arial MT Pro"/>
                <a:ea typeface="Arial MT Pro"/>
                <a:cs typeface="Arial MT Pro"/>
                <a:sym typeface="Arial MT Pro"/>
              </a:rPr>
              <a:t>Social media platforms</a:t>
            </a:r>
          </a:p>
          <a:p>
            <a:pPr algn="l" marL="603703" indent="-301852" lvl="1">
              <a:lnSpc>
                <a:spcPts val="3914"/>
              </a:lnSpc>
              <a:buAutoNum type="arabicPeriod" startAt="1"/>
            </a:pPr>
            <a:r>
              <a:rPr lang="en-US" sz="2796">
                <a:solidFill>
                  <a:srgbClr val="D91212"/>
                </a:solidFill>
                <a:latin typeface="Arial MT Pro"/>
                <a:ea typeface="Arial MT Pro"/>
                <a:cs typeface="Arial MT Pro"/>
                <a:sym typeface="Arial MT Pro"/>
              </a:rPr>
              <a:t>Movie and music streaming</a:t>
            </a:r>
          </a:p>
          <a:p>
            <a:pPr algn="l">
              <a:lnSpc>
                <a:spcPts val="3914"/>
              </a:lnSpc>
            </a:pPr>
          </a:p>
          <a:p>
            <a:pPr algn="l">
              <a:lnSpc>
                <a:spcPts val="3914"/>
              </a:lnSpc>
              <a:spcBef>
                <a:spcPct val="0"/>
              </a:spcBef>
            </a:pPr>
          </a:p>
        </p:txBody>
      </p:sp>
      <p:sp>
        <p:nvSpPr>
          <p:cNvPr name="TextBox 10" id="10"/>
          <p:cNvSpPr txBox="true"/>
          <p:nvPr/>
        </p:nvSpPr>
        <p:spPr>
          <a:xfrm rot="0">
            <a:off x="15945594" y="9413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2FFCB"/>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0" y="7927275"/>
            <a:ext cx="18288000" cy="6686550"/>
            <a:chOff x="0" y="0"/>
            <a:chExt cx="4816593" cy="1761067"/>
          </a:xfrm>
        </p:grpSpPr>
        <p:sp>
          <p:nvSpPr>
            <p:cNvPr name="Freeform 3" id="3"/>
            <p:cNvSpPr/>
            <p:nvPr/>
          </p:nvSpPr>
          <p:spPr>
            <a:xfrm flipH="false" flipV="false" rot="0">
              <a:off x="0" y="0"/>
              <a:ext cx="4816592" cy="1761067"/>
            </a:xfrm>
            <a:custGeom>
              <a:avLst/>
              <a:gdLst/>
              <a:ahLst/>
              <a:cxnLst/>
              <a:rect r="r" b="b" t="t" l="l"/>
              <a:pathLst>
                <a:path h="1761067" w="4816592">
                  <a:moveTo>
                    <a:pt x="0" y="0"/>
                  </a:moveTo>
                  <a:lnTo>
                    <a:pt x="4816592" y="0"/>
                  </a:lnTo>
                  <a:lnTo>
                    <a:pt x="4816592" y="1761067"/>
                  </a:lnTo>
                  <a:lnTo>
                    <a:pt x="0" y="1761067"/>
                  </a:lnTo>
                  <a:close/>
                </a:path>
              </a:pathLst>
            </a:custGeom>
            <a:gradFill rotWithShape="true">
              <a:gsLst>
                <a:gs pos="0">
                  <a:srgbClr val="2D2E34">
                    <a:alpha val="0"/>
                  </a:srgbClr>
                </a:gs>
                <a:gs pos="100000">
                  <a:srgbClr val="2D2E34">
                    <a:alpha val="100000"/>
                  </a:srgbClr>
                </a:gs>
              </a:gsLst>
              <a:lin ang="5400000"/>
            </a:gradFill>
          </p:spPr>
        </p:sp>
        <p:sp>
          <p:nvSpPr>
            <p:cNvPr name="TextBox 4" id="4"/>
            <p:cNvSpPr txBox="true"/>
            <p:nvPr/>
          </p:nvSpPr>
          <p:spPr>
            <a:xfrm>
              <a:off x="0" y="19050"/>
              <a:ext cx="4816593" cy="1742017"/>
            </a:xfrm>
            <a:prstGeom prst="rect">
              <a:avLst/>
            </a:prstGeom>
          </p:spPr>
          <p:txBody>
            <a:bodyPr anchor="ctr" rtlCol="false" tIns="50800" lIns="50800" bIns="50800" rIns="50800"/>
            <a:lstStyle/>
            <a:p>
              <a:pPr algn="ctr">
                <a:lnSpc>
                  <a:spcPts val="1387"/>
                </a:lnSpc>
              </a:pPr>
            </a:p>
          </p:txBody>
        </p:sp>
      </p:grpSp>
      <p:sp>
        <p:nvSpPr>
          <p:cNvPr name="Freeform 5" id="5"/>
          <p:cNvSpPr/>
          <p:nvPr/>
        </p:nvSpPr>
        <p:spPr>
          <a:xfrm flipH="false" flipV="false" rot="0">
            <a:off x="11072435" y="2335560"/>
            <a:ext cx="7046739" cy="7125240"/>
          </a:xfrm>
          <a:custGeom>
            <a:avLst/>
            <a:gdLst/>
            <a:ahLst/>
            <a:cxnLst/>
            <a:rect r="r" b="b" t="t" l="l"/>
            <a:pathLst>
              <a:path h="7125240" w="7046739">
                <a:moveTo>
                  <a:pt x="0" y="0"/>
                </a:moveTo>
                <a:lnTo>
                  <a:pt x="7046739" y="0"/>
                </a:lnTo>
                <a:lnTo>
                  <a:pt x="7046739" y="7125240"/>
                </a:lnTo>
                <a:lnTo>
                  <a:pt x="0" y="7125240"/>
                </a:lnTo>
                <a:lnTo>
                  <a:pt x="0" y="0"/>
                </a:lnTo>
                <a:close/>
              </a:path>
            </a:pathLst>
          </a:custGeom>
          <a:blipFill>
            <a:blip r:embed="rId2"/>
            <a:stretch>
              <a:fillRect l="-51152" t="0" r="-13712" b="0"/>
            </a:stretch>
          </a:blipFill>
        </p:spPr>
      </p:sp>
      <p:sp>
        <p:nvSpPr>
          <p:cNvPr name="TextBox 6" id="6"/>
          <p:cNvSpPr txBox="true"/>
          <p:nvPr/>
        </p:nvSpPr>
        <p:spPr>
          <a:xfrm rot="0">
            <a:off x="15945594" y="9413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2FFCB"/>
                </a:solidFill>
                <a:latin typeface="Canva Sans"/>
                <a:ea typeface="Canva Sans"/>
                <a:cs typeface="Canva Sans"/>
                <a:sym typeface="Canva Sans"/>
              </a:rPr>
              <a:t>6</a:t>
            </a:r>
          </a:p>
        </p:txBody>
      </p:sp>
      <p:sp>
        <p:nvSpPr>
          <p:cNvPr name="TextBox 7" id="7"/>
          <p:cNvSpPr txBox="true"/>
          <p:nvPr/>
        </p:nvSpPr>
        <p:spPr>
          <a:xfrm rot="0">
            <a:off x="1028700" y="1477596"/>
            <a:ext cx="10043735" cy="7603458"/>
          </a:xfrm>
          <a:prstGeom prst="rect">
            <a:avLst/>
          </a:prstGeom>
        </p:spPr>
        <p:txBody>
          <a:bodyPr anchor="t" rtlCol="false" tIns="0" lIns="0" bIns="0" rIns="0">
            <a:spAutoFit/>
          </a:bodyPr>
          <a:lstStyle/>
          <a:p>
            <a:pPr algn="ctr">
              <a:lnSpc>
                <a:spcPts val="4586"/>
              </a:lnSpc>
              <a:spcBef>
                <a:spcPct val="0"/>
              </a:spcBef>
            </a:pPr>
            <a:r>
              <a:rPr lang="en-US" sz="3276">
                <a:solidFill>
                  <a:srgbClr val="B50A0A"/>
                </a:solidFill>
                <a:latin typeface="Arial MT Pro"/>
                <a:ea typeface="Arial MT Pro"/>
                <a:cs typeface="Arial MT Pro"/>
                <a:sym typeface="Arial MT Pro"/>
              </a:rPr>
              <a:t>Core Engineering Disciplines;</a:t>
            </a:r>
          </a:p>
          <a:p>
            <a:pPr algn="ctr">
              <a:lnSpc>
                <a:spcPts val="4586"/>
              </a:lnSpc>
              <a:spcBef>
                <a:spcPct val="0"/>
              </a:spcBef>
            </a:pPr>
            <a:r>
              <a:rPr lang="en-US" sz="3276">
                <a:solidFill>
                  <a:srgbClr val="B50A0A"/>
                </a:solidFill>
                <a:latin typeface="Arial MT Pro"/>
                <a:ea typeface="Arial MT Pro"/>
                <a:cs typeface="Arial MT Pro"/>
                <a:sym typeface="Arial MT Pro"/>
              </a:rPr>
              <a:t>Civil Engineering:</a:t>
            </a:r>
          </a:p>
          <a:p>
            <a:pPr algn="ctr">
              <a:lnSpc>
                <a:spcPts val="4586"/>
              </a:lnSpc>
              <a:spcBef>
                <a:spcPct val="0"/>
              </a:spcBef>
            </a:pPr>
            <a:r>
              <a:rPr lang="en-US" sz="3276">
                <a:solidFill>
                  <a:srgbClr val="B50A0A"/>
                </a:solidFill>
                <a:latin typeface="Arial MT Pro"/>
                <a:ea typeface="Arial MT Pro"/>
                <a:cs typeface="Arial MT Pro"/>
                <a:sym typeface="Arial MT Pro"/>
              </a:rPr>
              <a:t> Focuses on the design, construction, and maintenance of physical and naturally built environments, including public works like bridges, roads, dams, and buildings</a:t>
            </a:r>
          </a:p>
          <a:p>
            <a:pPr algn="ctr">
              <a:lnSpc>
                <a:spcPts val="4586"/>
              </a:lnSpc>
              <a:spcBef>
                <a:spcPct val="0"/>
              </a:spcBef>
            </a:pPr>
          </a:p>
          <a:p>
            <a:pPr algn="ctr">
              <a:lnSpc>
                <a:spcPts val="4586"/>
              </a:lnSpc>
              <a:spcBef>
                <a:spcPct val="0"/>
              </a:spcBef>
            </a:pPr>
            <a:r>
              <a:rPr lang="en-US" sz="3276">
                <a:solidFill>
                  <a:srgbClr val="B50A0A"/>
                </a:solidFill>
                <a:latin typeface="Arial MT Pro"/>
                <a:ea typeface="Arial MT Pro"/>
                <a:cs typeface="Arial MT Pro"/>
                <a:sym typeface="Arial MT Pro"/>
              </a:rPr>
              <a:t>Mechanical Engineering: </a:t>
            </a:r>
          </a:p>
          <a:p>
            <a:pPr algn="ctr">
              <a:lnSpc>
                <a:spcPts val="4586"/>
              </a:lnSpc>
              <a:spcBef>
                <a:spcPct val="0"/>
              </a:spcBef>
            </a:pPr>
            <a:r>
              <a:rPr lang="en-US" sz="3276">
                <a:solidFill>
                  <a:srgbClr val="B50A0A"/>
                </a:solidFill>
                <a:latin typeface="Arial MT Pro"/>
                <a:ea typeface="Arial MT Pro"/>
                <a:cs typeface="Arial MT Pro"/>
                <a:sym typeface="Arial MT Pro"/>
              </a:rPr>
              <a:t>Deals with the design, development, and manufacturing of mechanical systems and devices, such as engines, HVAC systems, and manufacturing tools. Specialized fields include aerospace, automotive, and robotics engineering.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2054482" y="2465350"/>
            <a:ext cx="6964686" cy="6645580"/>
            <a:chOff x="0" y="0"/>
            <a:chExt cx="1834320" cy="1750276"/>
          </a:xfrm>
        </p:grpSpPr>
        <p:sp>
          <p:nvSpPr>
            <p:cNvPr name="Freeform 3" id="3"/>
            <p:cNvSpPr/>
            <p:nvPr/>
          </p:nvSpPr>
          <p:spPr>
            <a:xfrm flipH="false" flipV="false" rot="0">
              <a:off x="0" y="0"/>
              <a:ext cx="1834320" cy="1750276"/>
            </a:xfrm>
            <a:custGeom>
              <a:avLst/>
              <a:gdLst/>
              <a:ahLst/>
              <a:cxnLst/>
              <a:rect r="r" b="b" t="t" l="l"/>
              <a:pathLst>
                <a:path h="1750276" w="1834320">
                  <a:moveTo>
                    <a:pt x="56691" y="0"/>
                  </a:moveTo>
                  <a:lnTo>
                    <a:pt x="1777629" y="0"/>
                  </a:lnTo>
                  <a:cubicBezTo>
                    <a:pt x="1808939" y="0"/>
                    <a:pt x="1834320" y="25382"/>
                    <a:pt x="1834320" y="56691"/>
                  </a:cubicBezTo>
                  <a:lnTo>
                    <a:pt x="1834320" y="1693585"/>
                  </a:lnTo>
                  <a:cubicBezTo>
                    <a:pt x="1834320" y="1708620"/>
                    <a:pt x="1828348" y="1723040"/>
                    <a:pt x="1817716" y="1733672"/>
                  </a:cubicBezTo>
                  <a:cubicBezTo>
                    <a:pt x="1807084" y="1744303"/>
                    <a:pt x="1792664" y="1750276"/>
                    <a:pt x="1777629" y="1750276"/>
                  </a:cubicBezTo>
                  <a:lnTo>
                    <a:pt x="56691" y="1750276"/>
                  </a:lnTo>
                  <a:cubicBezTo>
                    <a:pt x="41656" y="1750276"/>
                    <a:pt x="27236" y="1744303"/>
                    <a:pt x="16605" y="1733672"/>
                  </a:cubicBezTo>
                  <a:cubicBezTo>
                    <a:pt x="5973" y="1723040"/>
                    <a:pt x="0" y="1708620"/>
                    <a:pt x="0" y="1693585"/>
                  </a:cubicBezTo>
                  <a:lnTo>
                    <a:pt x="0" y="56691"/>
                  </a:lnTo>
                  <a:cubicBezTo>
                    <a:pt x="0" y="41656"/>
                    <a:pt x="5973" y="27236"/>
                    <a:pt x="16605" y="16605"/>
                  </a:cubicBezTo>
                  <a:cubicBezTo>
                    <a:pt x="27236" y="5973"/>
                    <a:pt x="41656" y="0"/>
                    <a:pt x="56691" y="0"/>
                  </a:cubicBezTo>
                  <a:close/>
                </a:path>
              </a:pathLst>
            </a:custGeom>
            <a:solidFill>
              <a:srgbClr val="202127"/>
            </a:solidFill>
          </p:spPr>
        </p:sp>
        <p:sp>
          <p:nvSpPr>
            <p:cNvPr name="TextBox 4" id="4"/>
            <p:cNvSpPr txBox="true"/>
            <p:nvPr/>
          </p:nvSpPr>
          <p:spPr>
            <a:xfrm>
              <a:off x="0" y="19050"/>
              <a:ext cx="1834320" cy="1731226"/>
            </a:xfrm>
            <a:prstGeom prst="rect">
              <a:avLst/>
            </a:prstGeom>
          </p:spPr>
          <p:txBody>
            <a:bodyPr anchor="ctr" rtlCol="false" tIns="50800" lIns="50800" bIns="50800" rIns="50800"/>
            <a:lstStyle/>
            <a:p>
              <a:pPr algn="ctr">
                <a:lnSpc>
                  <a:spcPts val="1387"/>
                </a:lnSpc>
              </a:pPr>
            </a:p>
          </p:txBody>
        </p:sp>
      </p:grpSp>
      <p:grpSp>
        <p:nvGrpSpPr>
          <p:cNvPr name="Group 5" id="5"/>
          <p:cNvGrpSpPr/>
          <p:nvPr/>
        </p:nvGrpSpPr>
        <p:grpSpPr>
          <a:xfrm rot="-4011154">
            <a:off x="12487794" y="1263469"/>
            <a:ext cx="17403374" cy="18180272"/>
            <a:chOff x="0" y="0"/>
            <a:chExt cx="4583605" cy="4788220"/>
          </a:xfrm>
        </p:grpSpPr>
        <p:sp>
          <p:nvSpPr>
            <p:cNvPr name="Freeform 6" id="6"/>
            <p:cNvSpPr/>
            <p:nvPr/>
          </p:nvSpPr>
          <p:spPr>
            <a:xfrm flipH="false" flipV="false" rot="0">
              <a:off x="0" y="0"/>
              <a:ext cx="4583605" cy="4788220"/>
            </a:xfrm>
            <a:custGeom>
              <a:avLst/>
              <a:gdLst/>
              <a:ahLst/>
              <a:cxnLst/>
              <a:rect r="r" b="b" t="t" l="l"/>
              <a:pathLst>
                <a:path h="4788220" w="4583605">
                  <a:moveTo>
                    <a:pt x="0" y="0"/>
                  </a:moveTo>
                  <a:lnTo>
                    <a:pt x="4583605" y="0"/>
                  </a:lnTo>
                  <a:lnTo>
                    <a:pt x="4583605"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7" id="7"/>
            <p:cNvSpPr txBox="true"/>
            <p:nvPr/>
          </p:nvSpPr>
          <p:spPr>
            <a:xfrm>
              <a:off x="0" y="19050"/>
              <a:ext cx="4583605" cy="4769170"/>
            </a:xfrm>
            <a:prstGeom prst="rect">
              <a:avLst/>
            </a:prstGeom>
          </p:spPr>
          <p:txBody>
            <a:bodyPr anchor="ctr" rtlCol="false" tIns="50800" lIns="50800" bIns="50800" rIns="50800"/>
            <a:lstStyle/>
            <a:p>
              <a:pPr algn="ctr">
                <a:lnSpc>
                  <a:spcPts val="1387"/>
                </a:lnSpc>
              </a:pPr>
            </a:p>
          </p:txBody>
        </p:sp>
      </p:grpSp>
      <p:sp>
        <p:nvSpPr>
          <p:cNvPr name="Freeform 8" id="8"/>
          <p:cNvSpPr/>
          <p:nvPr/>
        </p:nvSpPr>
        <p:spPr>
          <a:xfrm flipH="false" flipV="false" rot="0">
            <a:off x="9144000" y="2877517"/>
            <a:ext cx="9144000" cy="5821245"/>
          </a:xfrm>
          <a:custGeom>
            <a:avLst/>
            <a:gdLst/>
            <a:ahLst/>
            <a:cxnLst/>
            <a:rect r="r" b="b" t="t" l="l"/>
            <a:pathLst>
              <a:path h="5821245" w="9144000">
                <a:moveTo>
                  <a:pt x="0" y="0"/>
                </a:moveTo>
                <a:lnTo>
                  <a:pt x="9144000" y="0"/>
                </a:lnTo>
                <a:lnTo>
                  <a:pt x="9144000" y="5821245"/>
                </a:lnTo>
                <a:lnTo>
                  <a:pt x="0" y="5821245"/>
                </a:lnTo>
                <a:lnTo>
                  <a:pt x="0" y="0"/>
                </a:lnTo>
                <a:close/>
              </a:path>
            </a:pathLst>
          </a:custGeom>
          <a:blipFill>
            <a:blip r:embed="rId2"/>
            <a:stretch>
              <a:fillRect l="-21401" t="0" r="0" b="0"/>
            </a:stretch>
          </a:blipFill>
        </p:spPr>
      </p:sp>
      <p:sp>
        <p:nvSpPr>
          <p:cNvPr name="TextBox 9" id="9"/>
          <p:cNvSpPr txBox="true"/>
          <p:nvPr/>
        </p:nvSpPr>
        <p:spPr>
          <a:xfrm rot="0">
            <a:off x="15945594" y="9413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2FFCB"/>
                </a:solidFill>
                <a:latin typeface="Canva Sans"/>
                <a:ea typeface="Canva Sans"/>
                <a:cs typeface="Canva Sans"/>
                <a:sym typeface="Canva Sans"/>
              </a:rPr>
              <a:t>7</a:t>
            </a:r>
          </a:p>
        </p:txBody>
      </p:sp>
      <p:sp>
        <p:nvSpPr>
          <p:cNvPr name="TextBox 10" id="10"/>
          <p:cNvSpPr txBox="true"/>
          <p:nvPr/>
        </p:nvSpPr>
        <p:spPr>
          <a:xfrm rot="0">
            <a:off x="2576024" y="2917003"/>
            <a:ext cx="5921602" cy="5637498"/>
          </a:xfrm>
          <a:prstGeom prst="rect">
            <a:avLst/>
          </a:prstGeom>
        </p:spPr>
        <p:txBody>
          <a:bodyPr anchor="t" rtlCol="false" tIns="0" lIns="0" bIns="0" rIns="0">
            <a:spAutoFit/>
          </a:bodyPr>
          <a:lstStyle/>
          <a:p>
            <a:pPr algn="ctr">
              <a:lnSpc>
                <a:spcPts val="3746"/>
              </a:lnSpc>
              <a:spcBef>
                <a:spcPct val="0"/>
              </a:spcBef>
            </a:pPr>
            <a:r>
              <a:rPr lang="en-US" sz="2676">
                <a:solidFill>
                  <a:srgbClr val="B50A0A"/>
                </a:solidFill>
                <a:latin typeface="Arial MT Pro"/>
                <a:ea typeface="Arial MT Pro"/>
                <a:cs typeface="Arial MT Pro"/>
                <a:sym typeface="Arial MT Pro"/>
              </a:rPr>
              <a:t>Engineering &amp; Physics: Computational science uses algorithmic modeling and machine learning to simulate fluid dynamics, structural stress tests, and climate change patterns without needing physical prototypes.</a:t>
            </a:r>
          </a:p>
          <a:p>
            <a:pPr algn="ctr">
              <a:lnSpc>
                <a:spcPts val="3746"/>
              </a:lnSpc>
              <a:spcBef>
                <a:spcPct val="0"/>
              </a:spcBef>
            </a:pPr>
            <a:r>
              <a:rPr lang="en-US" sz="2676">
                <a:solidFill>
                  <a:srgbClr val="B50A0A"/>
                </a:solidFill>
                <a:latin typeface="Arial MT Pro"/>
                <a:ea typeface="Arial MT Pro"/>
                <a:cs typeface="Arial MT Pro"/>
                <a:sym typeface="Arial MT Pro"/>
              </a:rPr>
              <a:t>Arts &amp; Humanities: CS brings computer vision, rendering algorithms, and game engines to bear on digital media, enabling immersive Virtual Reality (VR) and the preservation of historical artifacts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2054482" y="4783382"/>
            <a:ext cx="8679644" cy="4327547"/>
            <a:chOff x="0" y="0"/>
            <a:chExt cx="2285997" cy="1139766"/>
          </a:xfrm>
        </p:grpSpPr>
        <p:sp>
          <p:nvSpPr>
            <p:cNvPr name="Freeform 3" id="3"/>
            <p:cNvSpPr/>
            <p:nvPr/>
          </p:nvSpPr>
          <p:spPr>
            <a:xfrm flipH="false" flipV="false" rot="0">
              <a:off x="0" y="0"/>
              <a:ext cx="2285997" cy="1139766"/>
            </a:xfrm>
            <a:custGeom>
              <a:avLst/>
              <a:gdLst/>
              <a:ahLst/>
              <a:cxnLst/>
              <a:rect r="r" b="b" t="t" l="l"/>
              <a:pathLst>
                <a:path h="1139766" w="2285997">
                  <a:moveTo>
                    <a:pt x="24975" y="0"/>
                  </a:moveTo>
                  <a:lnTo>
                    <a:pt x="2261022" y="0"/>
                  </a:lnTo>
                  <a:cubicBezTo>
                    <a:pt x="2267646" y="0"/>
                    <a:pt x="2273998" y="2631"/>
                    <a:pt x="2278682" y="7315"/>
                  </a:cubicBezTo>
                  <a:cubicBezTo>
                    <a:pt x="2283366" y="11999"/>
                    <a:pt x="2285997" y="18351"/>
                    <a:pt x="2285997" y="24975"/>
                  </a:cubicBezTo>
                  <a:lnTo>
                    <a:pt x="2285997" y="1114791"/>
                  </a:lnTo>
                  <a:cubicBezTo>
                    <a:pt x="2285997" y="1121414"/>
                    <a:pt x="2283366" y="1127767"/>
                    <a:pt x="2278682" y="1132451"/>
                  </a:cubicBezTo>
                  <a:cubicBezTo>
                    <a:pt x="2273998" y="1137134"/>
                    <a:pt x="2267646" y="1139766"/>
                    <a:pt x="2261022" y="1139766"/>
                  </a:cubicBezTo>
                  <a:lnTo>
                    <a:pt x="24975" y="1139766"/>
                  </a:lnTo>
                  <a:cubicBezTo>
                    <a:pt x="18351" y="1139766"/>
                    <a:pt x="11999" y="1137134"/>
                    <a:pt x="7315" y="1132451"/>
                  </a:cubicBezTo>
                  <a:cubicBezTo>
                    <a:pt x="2631" y="1127767"/>
                    <a:pt x="0" y="1121414"/>
                    <a:pt x="0" y="1114791"/>
                  </a:cubicBezTo>
                  <a:lnTo>
                    <a:pt x="0" y="24975"/>
                  </a:lnTo>
                  <a:cubicBezTo>
                    <a:pt x="0" y="18351"/>
                    <a:pt x="2631" y="11999"/>
                    <a:pt x="7315" y="7315"/>
                  </a:cubicBezTo>
                  <a:cubicBezTo>
                    <a:pt x="11999" y="2631"/>
                    <a:pt x="18351" y="0"/>
                    <a:pt x="24975" y="0"/>
                  </a:cubicBezTo>
                  <a:close/>
                </a:path>
              </a:pathLst>
            </a:custGeom>
            <a:gradFill rotWithShape="true">
              <a:gsLst>
                <a:gs pos="0">
                  <a:srgbClr val="141519">
                    <a:alpha val="0"/>
                  </a:srgbClr>
                </a:gs>
                <a:gs pos="100000">
                  <a:srgbClr val="141519">
                    <a:alpha val="94500"/>
                  </a:srgbClr>
                </a:gs>
              </a:gsLst>
              <a:lin ang="5400000"/>
            </a:gradFill>
          </p:spPr>
        </p:sp>
        <p:sp>
          <p:nvSpPr>
            <p:cNvPr name="TextBox 4" id="4"/>
            <p:cNvSpPr txBox="true"/>
            <p:nvPr/>
          </p:nvSpPr>
          <p:spPr>
            <a:xfrm>
              <a:off x="0" y="19050"/>
              <a:ext cx="2285997" cy="1120716"/>
            </a:xfrm>
            <a:prstGeom prst="rect">
              <a:avLst/>
            </a:prstGeom>
          </p:spPr>
          <p:txBody>
            <a:bodyPr anchor="ctr" rtlCol="false" tIns="50800" lIns="50800" bIns="50800" rIns="50800"/>
            <a:lstStyle/>
            <a:p>
              <a:pPr algn="ctr">
                <a:lnSpc>
                  <a:spcPts val="1387"/>
                </a:lnSpc>
              </a:pPr>
            </a:p>
          </p:txBody>
        </p:sp>
      </p:grpSp>
      <p:sp>
        <p:nvSpPr>
          <p:cNvPr name="Freeform 5" id="5"/>
          <p:cNvSpPr/>
          <p:nvPr/>
        </p:nvSpPr>
        <p:spPr>
          <a:xfrm flipH="false" flipV="false" rot="0">
            <a:off x="150094" y="2813500"/>
            <a:ext cx="10584033" cy="6227378"/>
          </a:xfrm>
          <a:custGeom>
            <a:avLst/>
            <a:gdLst/>
            <a:ahLst/>
            <a:cxnLst/>
            <a:rect r="r" b="b" t="t" l="l"/>
            <a:pathLst>
              <a:path h="6227378" w="10584033">
                <a:moveTo>
                  <a:pt x="0" y="0"/>
                </a:moveTo>
                <a:lnTo>
                  <a:pt x="10584032" y="0"/>
                </a:lnTo>
                <a:lnTo>
                  <a:pt x="10584032" y="6227378"/>
                </a:lnTo>
                <a:lnTo>
                  <a:pt x="0" y="6227378"/>
                </a:lnTo>
                <a:lnTo>
                  <a:pt x="0" y="0"/>
                </a:lnTo>
                <a:close/>
              </a:path>
            </a:pathLst>
          </a:custGeom>
          <a:blipFill>
            <a:blip r:embed="rId2"/>
            <a:stretch>
              <a:fillRect l="0" t="0" r="-4884" b="0"/>
            </a:stretch>
          </a:blipFill>
        </p:spPr>
      </p:sp>
      <p:sp>
        <p:nvSpPr>
          <p:cNvPr name="TextBox 6" id="6"/>
          <p:cNvSpPr txBox="true"/>
          <p:nvPr/>
        </p:nvSpPr>
        <p:spPr>
          <a:xfrm rot="0">
            <a:off x="15945594" y="9413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2FFCB"/>
                </a:solidFill>
                <a:latin typeface="Canva Sans"/>
                <a:ea typeface="Canva Sans"/>
                <a:cs typeface="Canva Sans"/>
                <a:sym typeface="Canva Sans"/>
              </a:rPr>
              <a:t>8</a:t>
            </a:r>
          </a:p>
        </p:txBody>
      </p:sp>
      <p:sp>
        <p:nvSpPr>
          <p:cNvPr name="TextBox 7" id="7"/>
          <p:cNvSpPr txBox="true"/>
          <p:nvPr/>
        </p:nvSpPr>
        <p:spPr>
          <a:xfrm rot="0">
            <a:off x="10734126" y="2708725"/>
            <a:ext cx="7553874" cy="6570948"/>
          </a:xfrm>
          <a:prstGeom prst="rect">
            <a:avLst/>
          </a:prstGeom>
        </p:spPr>
        <p:txBody>
          <a:bodyPr anchor="t" rtlCol="false" tIns="0" lIns="0" bIns="0" rIns="0">
            <a:spAutoFit/>
          </a:bodyPr>
          <a:lstStyle/>
          <a:p>
            <a:pPr algn="ctr">
              <a:lnSpc>
                <a:spcPts val="3746"/>
              </a:lnSpc>
              <a:spcBef>
                <a:spcPct val="0"/>
              </a:spcBef>
            </a:pPr>
            <a:r>
              <a:rPr lang="en-US" sz="2676">
                <a:solidFill>
                  <a:srgbClr val="D91212"/>
                </a:solidFill>
                <a:latin typeface="Arial MT Pro"/>
                <a:ea typeface="Arial MT Pro"/>
                <a:cs typeface="Arial MT Pro"/>
                <a:sym typeface="Arial MT Pro"/>
              </a:rPr>
              <a:t>CS and Software Engineering Are the Same:</a:t>
            </a:r>
          </a:p>
          <a:p>
            <a:pPr algn="ctr">
              <a:lnSpc>
                <a:spcPts val="3746"/>
              </a:lnSpc>
              <a:spcBef>
                <a:spcPct val="0"/>
              </a:spcBef>
            </a:pPr>
          </a:p>
          <a:p>
            <a:pPr algn="ctr">
              <a:lnSpc>
                <a:spcPts val="3746"/>
              </a:lnSpc>
              <a:spcBef>
                <a:spcPct val="0"/>
              </a:spcBef>
            </a:pPr>
            <a:r>
              <a:rPr lang="en-US" sz="2676">
                <a:solidFill>
                  <a:srgbClr val="D91212"/>
                </a:solidFill>
                <a:latin typeface="Arial MT Pro"/>
                <a:ea typeface="Arial MT Pro"/>
                <a:cs typeface="Arial MT Pro"/>
                <a:sym typeface="Arial MT Pro"/>
              </a:rPr>
              <a:t> Computer Science focuses on the theory of how and why computation works. Software engineering is an applied discipline focused heavily on the practical development, testing, and deployment of applications and web systems</a:t>
            </a:r>
          </a:p>
          <a:p>
            <a:pPr algn="ctr">
              <a:lnSpc>
                <a:spcPts val="3746"/>
              </a:lnSpc>
              <a:spcBef>
                <a:spcPct val="0"/>
              </a:spcBef>
            </a:pPr>
          </a:p>
          <a:p>
            <a:pPr algn="ctr">
              <a:lnSpc>
                <a:spcPts val="3746"/>
              </a:lnSpc>
              <a:spcBef>
                <a:spcPct val="0"/>
              </a:spcBef>
            </a:pPr>
            <a:r>
              <a:rPr lang="en-US" sz="2676">
                <a:solidFill>
                  <a:srgbClr val="D91212"/>
                </a:solidFill>
                <a:latin typeface="Arial MT Pro"/>
                <a:ea typeface="Arial MT Pro"/>
                <a:cs typeface="Arial MT Pro"/>
                <a:sym typeface="Arial MT Pro"/>
              </a:rPr>
              <a:t>It’s a Boring Desk Job:</a:t>
            </a:r>
          </a:p>
          <a:p>
            <a:pPr algn="ctr">
              <a:lnSpc>
                <a:spcPts val="3746"/>
              </a:lnSpc>
              <a:spcBef>
                <a:spcPct val="0"/>
              </a:spcBef>
            </a:pPr>
            <a:r>
              <a:rPr lang="en-US" sz="2676">
                <a:solidFill>
                  <a:srgbClr val="D91212"/>
                </a:solidFill>
                <a:latin typeface="Arial MT Pro"/>
                <a:ea typeface="Arial MT Pro"/>
                <a:cs typeface="Arial MT Pro"/>
                <a:sym typeface="Arial MT Pro"/>
              </a:rPr>
              <a:t> CSE is highly creative. Engineers design everything from artificial intelligence algorithms and video game engines to cybersecurity frameworks, requiring constant problem-solving and innovation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grpSp>
        <p:nvGrpSpPr>
          <p:cNvPr name="Group 2" id="2"/>
          <p:cNvGrpSpPr/>
          <p:nvPr/>
        </p:nvGrpSpPr>
        <p:grpSpPr>
          <a:xfrm rot="0">
            <a:off x="1943044" y="2032345"/>
            <a:ext cx="7844985" cy="6995450"/>
            <a:chOff x="0" y="0"/>
            <a:chExt cx="2066169" cy="1842423"/>
          </a:xfrm>
        </p:grpSpPr>
        <p:sp>
          <p:nvSpPr>
            <p:cNvPr name="Freeform 3" id="3"/>
            <p:cNvSpPr/>
            <p:nvPr/>
          </p:nvSpPr>
          <p:spPr>
            <a:xfrm flipH="false" flipV="false" rot="0">
              <a:off x="0" y="0"/>
              <a:ext cx="2066169" cy="1842423"/>
            </a:xfrm>
            <a:custGeom>
              <a:avLst/>
              <a:gdLst/>
              <a:ahLst/>
              <a:cxnLst/>
              <a:rect r="r" b="b" t="t" l="l"/>
              <a:pathLst>
                <a:path h="1842423" w="2066169">
                  <a:moveTo>
                    <a:pt x="34540" y="0"/>
                  </a:moveTo>
                  <a:lnTo>
                    <a:pt x="2031629" y="0"/>
                  </a:lnTo>
                  <a:cubicBezTo>
                    <a:pt x="2040789" y="0"/>
                    <a:pt x="2049575" y="3639"/>
                    <a:pt x="2056052" y="10117"/>
                  </a:cubicBezTo>
                  <a:cubicBezTo>
                    <a:pt x="2062530" y="16594"/>
                    <a:pt x="2066169" y="25380"/>
                    <a:pt x="2066169" y="34540"/>
                  </a:cubicBezTo>
                  <a:lnTo>
                    <a:pt x="2066169" y="1807883"/>
                  </a:lnTo>
                  <a:cubicBezTo>
                    <a:pt x="2066169" y="1826959"/>
                    <a:pt x="2050705" y="1842423"/>
                    <a:pt x="2031629" y="1842423"/>
                  </a:cubicBezTo>
                  <a:lnTo>
                    <a:pt x="34540" y="1842423"/>
                  </a:lnTo>
                  <a:cubicBezTo>
                    <a:pt x="25380" y="1842423"/>
                    <a:pt x="16594" y="1838784"/>
                    <a:pt x="10117" y="1832306"/>
                  </a:cubicBezTo>
                  <a:cubicBezTo>
                    <a:pt x="3639" y="1825829"/>
                    <a:pt x="0" y="1817044"/>
                    <a:pt x="0" y="1807883"/>
                  </a:cubicBezTo>
                  <a:lnTo>
                    <a:pt x="0" y="34540"/>
                  </a:lnTo>
                  <a:cubicBezTo>
                    <a:pt x="0" y="15464"/>
                    <a:pt x="15464" y="0"/>
                    <a:pt x="34540" y="0"/>
                  </a:cubicBezTo>
                  <a:close/>
                </a:path>
              </a:pathLst>
            </a:custGeom>
            <a:gradFill rotWithShape="true">
              <a:gsLst>
                <a:gs pos="0">
                  <a:srgbClr val="0C4A5B">
                    <a:alpha val="100000"/>
                  </a:srgbClr>
                </a:gs>
                <a:gs pos="100000">
                  <a:srgbClr val="27DDDF">
                    <a:alpha val="100000"/>
                  </a:srgbClr>
                </a:gs>
              </a:gsLst>
              <a:lin ang="2700000"/>
            </a:gradFill>
          </p:spPr>
        </p:sp>
        <p:sp>
          <p:nvSpPr>
            <p:cNvPr name="TextBox 4" id="4"/>
            <p:cNvSpPr txBox="true"/>
            <p:nvPr/>
          </p:nvSpPr>
          <p:spPr>
            <a:xfrm>
              <a:off x="0" y="19050"/>
              <a:ext cx="2066169" cy="1823373"/>
            </a:xfrm>
            <a:prstGeom prst="rect">
              <a:avLst/>
            </a:prstGeom>
          </p:spPr>
          <p:txBody>
            <a:bodyPr anchor="ctr" rtlCol="false" tIns="50800" lIns="50800" bIns="50800" rIns="50800"/>
            <a:lstStyle/>
            <a:p>
              <a:pPr algn="l">
                <a:lnSpc>
                  <a:spcPts val="1387"/>
                </a:lnSpc>
              </a:pPr>
            </a:p>
          </p:txBody>
        </p:sp>
      </p:grpSp>
      <p:sp>
        <p:nvSpPr>
          <p:cNvPr name="Freeform 5" id="5"/>
          <p:cNvSpPr/>
          <p:nvPr/>
        </p:nvSpPr>
        <p:spPr>
          <a:xfrm flipH="false" flipV="false" rot="0">
            <a:off x="10034274" y="2032345"/>
            <a:ext cx="7225026" cy="6995450"/>
          </a:xfrm>
          <a:custGeom>
            <a:avLst/>
            <a:gdLst/>
            <a:ahLst/>
            <a:cxnLst/>
            <a:rect r="r" b="b" t="t" l="l"/>
            <a:pathLst>
              <a:path h="6995450" w="7225026">
                <a:moveTo>
                  <a:pt x="0" y="0"/>
                </a:moveTo>
                <a:lnTo>
                  <a:pt x="7225026" y="0"/>
                </a:lnTo>
                <a:lnTo>
                  <a:pt x="7225026" y="6995450"/>
                </a:lnTo>
                <a:lnTo>
                  <a:pt x="0" y="6995450"/>
                </a:lnTo>
                <a:lnTo>
                  <a:pt x="0" y="0"/>
                </a:lnTo>
                <a:close/>
              </a:path>
            </a:pathLst>
          </a:custGeom>
          <a:blipFill>
            <a:blip r:embed="rId2"/>
            <a:stretch>
              <a:fillRect l="-11218" t="0" r="-15411" b="0"/>
            </a:stretch>
          </a:blipFill>
        </p:spPr>
      </p:sp>
      <p:sp>
        <p:nvSpPr>
          <p:cNvPr name="TextBox 6" id="6"/>
          <p:cNvSpPr txBox="true"/>
          <p:nvPr/>
        </p:nvSpPr>
        <p:spPr>
          <a:xfrm rot="0">
            <a:off x="15945594" y="9413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2FFCB"/>
                </a:solidFill>
                <a:latin typeface="Canva Sans"/>
                <a:ea typeface="Canva Sans"/>
                <a:cs typeface="Canva Sans"/>
                <a:sym typeface="Canva Sans"/>
              </a:rPr>
              <a:t>9</a:t>
            </a:r>
          </a:p>
        </p:txBody>
      </p:sp>
      <p:sp>
        <p:nvSpPr>
          <p:cNvPr name="TextBox 7" id="7"/>
          <p:cNvSpPr txBox="true"/>
          <p:nvPr/>
        </p:nvSpPr>
        <p:spPr>
          <a:xfrm rot="0">
            <a:off x="2838261" y="2189986"/>
            <a:ext cx="5085310" cy="6394042"/>
          </a:xfrm>
          <a:prstGeom prst="rect">
            <a:avLst/>
          </a:prstGeom>
        </p:spPr>
        <p:txBody>
          <a:bodyPr anchor="t" rtlCol="false" tIns="0" lIns="0" bIns="0" rIns="0">
            <a:spAutoFit/>
          </a:bodyPr>
          <a:lstStyle/>
          <a:p>
            <a:pPr algn="ctr">
              <a:lnSpc>
                <a:spcPts val="3382"/>
              </a:lnSpc>
              <a:spcBef>
                <a:spcPct val="0"/>
              </a:spcBef>
            </a:pPr>
            <a:r>
              <a:rPr lang="en-US" sz="2415">
                <a:solidFill>
                  <a:srgbClr val="B50A0A"/>
                </a:solidFill>
                <a:latin typeface="Arial MT Pro"/>
                <a:ea typeface="Arial MT Pro"/>
                <a:cs typeface="Arial MT Pro"/>
                <a:sym typeface="Arial MT Pro"/>
              </a:rPr>
              <a:t>AI &amp; Machine Learning:</a:t>
            </a:r>
          </a:p>
          <a:p>
            <a:pPr algn="ctr">
              <a:lnSpc>
                <a:spcPts val="3382"/>
              </a:lnSpc>
              <a:spcBef>
                <a:spcPct val="0"/>
              </a:spcBef>
            </a:pPr>
            <a:r>
              <a:rPr lang="en-US" sz="2415">
                <a:solidFill>
                  <a:srgbClr val="B50A0A"/>
                </a:solidFill>
                <a:latin typeface="Arial MT Pro"/>
                <a:ea typeface="Arial MT Pro"/>
                <a:cs typeface="Arial MT Pro"/>
                <a:sym typeface="Arial MT Pro"/>
              </a:rPr>
              <a:t> Leveraging tools to build intelligent applications and automate tasks.</a:t>
            </a:r>
          </a:p>
          <a:p>
            <a:pPr algn="ctr">
              <a:lnSpc>
                <a:spcPts val="3382"/>
              </a:lnSpc>
              <a:spcBef>
                <a:spcPct val="0"/>
              </a:spcBef>
            </a:pPr>
          </a:p>
          <a:p>
            <a:pPr algn="ctr">
              <a:lnSpc>
                <a:spcPts val="3382"/>
              </a:lnSpc>
              <a:spcBef>
                <a:spcPct val="0"/>
              </a:spcBef>
            </a:pPr>
            <a:r>
              <a:rPr lang="en-US" sz="2415">
                <a:solidFill>
                  <a:srgbClr val="B50A0A"/>
                </a:solidFill>
                <a:latin typeface="Arial MT Pro"/>
                <a:ea typeface="Arial MT Pro"/>
                <a:cs typeface="Arial MT Pro"/>
                <a:sym typeface="Arial MT Pro"/>
              </a:rPr>
              <a:t>Cloud &amp; DevOps:</a:t>
            </a:r>
          </a:p>
          <a:p>
            <a:pPr algn="ctr">
              <a:lnSpc>
                <a:spcPts val="3382"/>
              </a:lnSpc>
              <a:spcBef>
                <a:spcPct val="0"/>
              </a:spcBef>
            </a:pPr>
            <a:r>
              <a:rPr lang="en-US" sz="2415">
                <a:solidFill>
                  <a:srgbClr val="B50A0A"/>
                </a:solidFill>
                <a:latin typeface="Arial MT Pro"/>
                <a:ea typeface="Arial MT Pro"/>
                <a:cs typeface="Arial MT Pro"/>
                <a:sym typeface="Arial MT Pro"/>
              </a:rPr>
              <a:t> Deploying reliable, scalable software using platforms like AWS, Azure, and GCP.</a:t>
            </a:r>
          </a:p>
          <a:p>
            <a:pPr algn="ctr">
              <a:lnSpc>
                <a:spcPts val="3382"/>
              </a:lnSpc>
              <a:spcBef>
                <a:spcPct val="0"/>
              </a:spcBef>
            </a:pPr>
          </a:p>
          <a:p>
            <a:pPr algn="ctr">
              <a:lnSpc>
                <a:spcPts val="3382"/>
              </a:lnSpc>
              <a:spcBef>
                <a:spcPct val="0"/>
              </a:spcBef>
            </a:pPr>
            <a:r>
              <a:rPr lang="en-US" sz="2415">
                <a:solidFill>
                  <a:srgbClr val="B50A0A"/>
                </a:solidFill>
                <a:latin typeface="Arial MT Pro"/>
                <a:ea typeface="Arial MT Pro"/>
                <a:cs typeface="Arial MT Pro"/>
                <a:sym typeface="Arial MT Pro"/>
              </a:rPr>
              <a:t>Full-Stack Development &amp; System Design:</a:t>
            </a:r>
          </a:p>
          <a:p>
            <a:pPr algn="ctr">
              <a:lnSpc>
                <a:spcPts val="3382"/>
              </a:lnSpc>
              <a:spcBef>
                <a:spcPct val="0"/>
              </a:spcBef>
            </a:pPr>
            <a:r>
              <a:rPr lang="en-US" sz="2415">
                <a:solidFill>
                  <a:srgbClr val="B50A0A"/>
                </a:solidFill>
                <a:latin typeface="Arial MT Pro"/>
                <a:ea typeface="Arial MT Pro"/>
                <a:cs typeface="Arial MT Pro"/>
                <a:sym typeface="Arial MT Pro"/>
              </a:rPr>
              <a:t> Architecting end-to-end features and reliable systems.</a:t>
            </a:r>
          </a:p>
          <a:p>
            <a:pPr algn="ctr">
              <a:lnSpc>
                <a:spcPts val="3382"/>
              </a:lnSpc>
              <a:spcBef>
                <a:spcPct val="0"/>
              </a:spcBef>
            </a:pPr>
            <a:r>
              <a:rPr lang="en-US" sz="2415">
                <a:solidFill>
                  <a:srgbClr val="B50A0A"/>
                </a:solidFill>
                <a:latin typeface="Arial MT Pro"/>
                <a:ea typeface="Arial MT Pro"/>
                <a:cs typeface="Arial MT Pro"/>
                <a:sym typeface="Arial MT Pro"/>
              </a:rPr>
              <a:t>Data Fluency: Analyzing large datasets.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0263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364800" y="4757227"/>
            <a:ext cx="9558399" cy="1526347"/>
          </a:xfrm>
          <a:prstGeom prst="rect">
            <a:avLst/>
          </a:prstGeom>
        </p:spPr>
        <p:txBody>
          <a:bodyPr anchor="t" rtlCol="false" tIns="0" lIns="0" bIns="0" rIns="0">
            <a:spAutoFit/>
          </a:bodyPr>
          <a:lstStyle/>
          <a:p>
            <a:pPr algn="ctr">
              <a:lnSpc>
                <a:spcPts val="10048"/>
              </a:lnSpc>
            </a:pPr>
            <a:r>
              <a:rPr lang="en-US" b="true" sz="9662" spc="-405">
                <a:solidFill>
                  <a:srgbClr val="D91212"/>
                </a:solidFill>
                <a:latin typeface="Arial MT Pro Bold"/>
                <a:ea typeface="Arial MT Pro Bold"/>
                <a:cs typeface="Arial MT Pro Bold"/>
                <a:sym typeface="Arial MT Pro Bold"/>
              </a:rPr>
              <a:t>thank you</a:t>
            </a:r>
          </a:p>
        </p:txBody>
      </p:sp>
      <p:grpSp>
        <p:nvGrpSpPr>
          <p:cNvPr name="Group 4" id="4"/>
          <p:cNvGrpSpPr/>
          <p:nvPr/>
        </p:nvGrpSpPr>
        <p:grpSpPr>
          <a:xfrm rot="-851681">
            <a:off x="808966" y="7744419"/>
            <a:ext cx="21825170" cy="18180272"/>
            <a:chOff x="0" y="0"/>
            <a:chExt cx="5748193" cy="4788220"/>
          </a:xfrm>
        </p:grpSpPr>
        <p:sp>
          <p:nvSpPr>
            <p:cNvPr name="Freeform 5" id="5"/>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6" id="6"/>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sp>
        <p:nvSpPr>
          <p:cNvPr name="TextBox 7" id="7"/>
          <p:cNvSpPr txBox="true"/>
          <p:nvPr/>
        </p:nvSpPr>
        <p:spPr>
          <a:xfrm rot="0">
            <a:off x="15945594" y="9413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2FFCB"/>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955683" y="9575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2FFCB"/>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955683" y="9575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52FFCB"/>
                </a:solidFill>
                <a:latin typeface="Canva Sans"/>
                <a:ea typeface="Canva Sans"/>
                <a:cs typeface="Canva Sans"/>
                <a:sym typeface="Canva San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DAHPKUSZv8I</dc:identifier>
  <dcterms:modified xsi:type="dcterms:W3CDTF">2011-08-01T06:04:30Z</dcterms:modified>
  <cp:revision>1</cp:revision>
  <dc:title>Your paragraph text</dc:title>
</cp:coreProperties>
</file>