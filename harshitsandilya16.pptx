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CSE Share of Engineering Hiring (%, illustrative trend)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new tech-sector engineering roles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2005</c:v>
                  </c:pt>
                  <c:pt idx="1">
                    <c:v>2013</c:v>
                  </c:pt>
                  <c:pt idx="2">
                    <c:v>2019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24</c:v>
                </c:pt>
                <c:pt idx="2">
                  <c:v>41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C699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6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B496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C699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6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2545"/>
        </a:solidFill>
        <a:ln>
          <a:noFill/>
        </a:ln>
        <a:effectLst/>
      </c:spPr>
    </c:plotArea>
    <c:plotVisOnly val="1"/>
    <c:dispBlanksAs val="span"/>
  </c:chart>
  <c:spPr>
    <a:solidFill>
      <a:srgbClr val="0B25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5448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33172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10896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8620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217920"/>
            <a:ext cx="12188952" cy="0"/>
          </a:xfrm>
          <a:prstGeom prst="line">
            <a:avLst/>
          </a:prstGeom>
          <a:noFill/>
          <a:ln w="9525">
            <a:solidFill>
              <a:srgbClr val="1634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148840"/>
            <a:ext cx="502920" cy="73152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ENGINEERING SEMINAR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" y="2697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Engineering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64008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Future in Innovation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58368" y="4709160"/>
            <a:ext cx="2377440" cy="0"/>
          </a:xfrm>
          <a:prstGeom prst="line">
            <a:avLst/>
          </a:prstGeom>
          <a:noFill/>
          <a:ln w="19050">
            <a:solidFill>
              <a:srgbClr val="3C69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92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• Science • Disciplines • Computer Science Engineering • Career Skills</a:t>
            </a:r>
            <a:endParaRPr lang="en-US" sz="1300" dirty="0"/>
          </a:p>
        </p:txBody>
      </p:sp>
      <p:pic>
        <p:nvPicPr>
          <p:cNvPr id="33" name="Image 0" descr="assets/gears_E8871E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464040" y="2331720"/>
            <a:ext cx="1920240" cy="19202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822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2039112"/>
            <a:ext cx="0" cy="621792"/>
          </a:xfrm>
          <a:prstGeom prst="line">
            <a:avLst/>
          </a:prstGeom>
          <a:noFill/>
          <a:ln w="15875">
            <a:solidFill>
              <a:srgbClr val="E3E7ED"/>
            </a:solidFill>
            <a:prstDash val="solid"/>
          </a:ln>
        </p:spPr>
      </p:sp>
      <p:pic>
        <p:nvPicPr>
          <p:cNvPr id="6" name="Image 0" descr="assets/cogs_E88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14426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4767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Engineering?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46888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discipline and its problem-solving core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862072"/>
            <a:ext cx="822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600200" y="2935224"/>
            <a:ext cx="0" cy="621792"/>
          </a:xfrm>
          <a:prstGeom prst="line">
            <a:avLst/>
          </a:prstGeom>
          <a:noFill/>
          <a:ln w="15875">
            <a:solidFill>
              <a:srgbClr val="E3E7ED"/>
            </a:solidFill>
            <a:prstDash val="solid"/>
          </a:ln>
        </p:spPr>
      </p:sp>
      <p:pic>
        <p:nvPicPr>
          <p:cNvPr id="11" name="Image 1" descr="assets/flask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304038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8437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vs Science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468880" y="32278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discovery and application differ and connect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85800" y="3758184"/>
            <a:ext cx="822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1600200" y="3831336"/>
            <a:ext cx="0" cy="621792"/>
          </a:xfrm>
          <a:prstGeom prst="line">
            <a:avLst/>
          </a:prstGeom>
          <a:noFill/>
          <a:ln w="15875">
            <a:solidFill>
              <a:srgbClr val="E3E7ED"/>
            </a:solidFill>
            <a:prstDash val="solid"/>
          </a:ln>
        </p:spPr>
      </p:sp>
      <p:pic>
        <p:nvPicPr>
          <p:cNvPr id="16" name="Image 2" descr="assets/building_E887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9364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3739896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468880" y="41239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Civil, Mechanical, Electrical, Chemical, Biomedical, CSE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85800" y="4654296"/>
            <a:ext cx="822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1600200" y="4727448"/>
            <a:ext cx="0" cy="621792"/>
          </a:xfrm>
          <a:prstGeom prst="line">
            <a:avLst/>
          </a:prstGeom>
          <a:noFill/>
          <a:ln w="15875">
            <a:solidFill>
              <a:srgbClr val="E3E7ED"/>
            </a:solidFill>
            <a:prstDash val="solid"/>
          </a:ln>
        </p:spPr>
      </p:sp>
      <p:pic>
        <p:nvPicPr>
          <p:cNvPr id="21" name="Image 3" descr="assets/laptopCode_E88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483260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468880" y="463600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CSE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2468880" y="5020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computing has become the fastest-growing field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85800" y="5550408"/>
            <a:ext cx="8229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1600200" y="5623560"/>
            <a:ext cx="0" cy="621792"/>
          </a:xfrm>
          <a:prstGeom prst="line">
            <a:avLst/>
          </a:prstGeom>
          <a:noFill/>
          <a:ln w="15875">
            <a:solidFill>
              <a:srgbClr val="E3E7ED"/>
            </a:solidFill>
            <a:prstDash val="solid"/>
          </a:ln>
        </p:spPr>
      </p:sp>
      <p:pic>
        <p:nvPicPr>
          <p:cNvPr id="26" name="Image 4" descr="assets/rocket_E887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572871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68880" y="55321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Careers &amp; a Real Case Study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2468880" y="5916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succeed, and proof it works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3" name="Image 0" descr="assets/cogs_FFFFFF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417320" y="23774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404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76072" y="3611880"/>
            <a:ext cx="457200" cy="6400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6" name="Text 3"/>
          <p:cNvSpPr/>
          <p:nvPr/>
        </p:nvSpPr>
        <p:spPr>
          <a:xfrm>
            <a:off x="46177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17720" y="9144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applies scientific and mathematical principles to design, build, and improve solutions to real-world problems.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17720" y="233172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4846320" y="2587752"/>
            <a:ext cx="320040" cy="5486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27157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Problem-first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 human need, not a curiosity — every design traces back to a real constraint.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83880" y="233172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0" y="2587752"/>
            <a:ext cx="320040" cy="5486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0" y="271576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Constraint-driven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0" y="31089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cost, safety, materials, time, and environmental impact simultaneously.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17720" y="42062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0" y="4462272"/>
            <a:ext cx="320040" cy="5486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4590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by design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46320" y="49834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test, fail, refine — engineering rewards disciplined repetition.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83880" y="42062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</p:spPr>
      </p:sp>
      <p:sp>
        <p:nvSpPr>
          <p:cNvPr id="21" name="Shape 18"/>
          <p:cNvSpPr/>
          <p:nvPr/>
        </p:nvSpPr>
        <p:spPr>
          <a:xfrm>
            <a:off x="8412480" y="4462272"/>
            <a:ext cx="320040" cy="5486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0" y="4590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outcomes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0" y="49834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stand, circuits run, code ships — the work is judged by what it does.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OF KNOWING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vs. Science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explains why the world works. Engineering builds how to change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7FA"/>
          </a:solidFill>
          <a:ln/>
        </p:spPr>
      </p:sp>
      <p:pic>
        <p:nvPicPr>
          <p:cNvPr id="6" name="Image 0" descr="assets/flask_1331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3200400"/>
            <a:ext cx="91440" cy="91440"/>
          </a:xfrm>
          <a:prstGeom prst="oval">
            <a:avLst/>
          </a:prstGeom>
          <a:solidFill>
            <a:srgbClr val="13315C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06324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Seeks to understand and explain natural phenomena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120" y="3913632"/>
            <a:ext cx="91440" cy="91440"/>
          </a:xfrm>
          <a:prstGeom prst="oval">
            <a:avLst/>
          </a:prstGeom>
          <a:solidFill>
            <a:srgbClr val="13315C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776472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curiosity and the pursuit of truth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0120" y="4626864"/>
            <a:ext cx="91440" cy="91440"/>
          </a:xfrm>
          <a:prstGeom prst="oval">
            <a:avLst/>
          </a:prstGeom>
          <a:solidFill>
            <a:srgbClr val="13315C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489704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experiment and peer review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5340096"/>
            <a:ext cx="91440" cy="91440"/>
          </a:xfrm>
          <a:prstGeom prst="oval">
            <a:avLst/>
          </a:prstGeom>
          <a:solidFill>
            <a:srgbClr val="13315C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5202936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theories, laws, and discovered knowledge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21488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2545"/>
          </a:solidFill>
          <a:ln/>
        </p:spPr>
      </p:sp>
      <p:pic>
        <p:nvPicPr>
          <p:cNvPr id="17" name="Image 1" descr="assets/cogs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88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2496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629400" y="3200400"/>
            <a:ext cx="91440" cy="91440"/>
          </a:xfrm>
          <a:prstGeom prst="oval">
            <a:avLst/>
          </a:prstGeom>
          <a:solidFill>
            <a:srgbClr val="E8871E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3063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known science to design working solutions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629400" y="3913632"/>
            <a:ext cx="91440" cy="91440"/>
          </a:xfrm>
          <a:prstGeom prst="oval">
            <a:avLst/>
          </a:prstGeom>
          <a:solidFill>
            <a:srgbClr val="E8871E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37764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needs, budgets, and deadlines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29400" y="4626864"/>
            <a:ext cx="91440" cy="91440"/>
          </a:xfrm>
          <a:prstGeom prst="oval">
            <a:avLst/>
          </a:prstGeom>
          <a:solidFill>
            <a:srgbClr val="E8871E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448970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testing, prototypes, and real use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629400" y="5340096"/>
            <a:ext cx="91440" cy="91440"/>
          </a:xfrm>
          <a:prstGeom prst="oval">
            <a:avLst/>
          </a:prstGeom>
          <a:solidFill>
            <a:srgbClr val="E8871E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520293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products, systems, and built infrastructure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COMPARED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vs. Scientist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roles, common curiosity — and often the same team.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2103120"/>
            <a:ext cx="4343400" cy="5029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7543800" y="2103120"/>
            <a:ext cx="434340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103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2103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does this happen?”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26680" y="260604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I build this?”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1124712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644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26440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knowledge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326440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working solution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22776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227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392277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peer-reviewed findings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26680" y="392277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safe, working system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81144"/>
            <a:ext cx="11247120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5811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output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458114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models, discoveries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458114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structures, software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239512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395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5239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open-ended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0" y="5239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by deadlines and budgets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vs. Wants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innovation balances essential needs against user desires — without confusing the two.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109728" cy="4160520"/>
          </a:xfrm>
          <a:prstGeom prst="rect">
            <a:avLst/>
          </a:prstGeom>
          <a:solidFill>
            <a:srgbClr val="9CA9B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requirements a solution must satisfy to function safely and correctly.</a:t>
            </a:r>
            <a:endParaRPr lang="en-US" sz="1250" dirty="0"/>
          </a:p>
        </p:txBody>
      </p:sp>
      <p:pic>
        <p:nvPicPr>
          <p:cNvPr id="9" name="Image 0" descr="assets/check_1331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74904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6758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safety and regulatory compliance</a:t>
            </a:r>
            <a:endParaRPr lang="en-US" sz="1200" dirty="0"/>
          </a:p>
        </p:txBody>
      </p:sp>
      <p:pic>
        <p:nvPicPr>
          <p:cNvPr id="11" name="Image 1" descr="assets/check_1331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251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the product must perform</a:t>
            </a:r>
            <a:endParaRPr lang="en-US" sz="1200" dirty="0"/>
          </a:p>
        </p:txBody>
      </p:sp>
      <p:pic>
        <p:nvPicPr>
          <p:cNvPr id="13" name="Image 2" descr="assets/check_1331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011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82803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under real operating conditions</a:t>
            </a:r>
            <a:endParaRPr lang="en-US" sz="1200" dirty="0"/>
          </a:p>
        </p:txBody>
      </p:sp>
      <p:pic>
        <p:nvPicPr>
          <p:cNvPr id="15" name="Image 3" descr="assets/check_1331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7725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540410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affordability for target users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09360" y="21488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2545"/>
          </a:solidFill>
          <a:ln/>
        </p:spPr>
      </p:sp>
      <p:sp>
        <p:nvSpPr>
          <p:cNvPr id="18" name="Shape 12"/>
          <p:cNvSpPr/>
          <p:nvPr/>
        </p:nvSpPr>
        <p:spPr>
          <a:xfrm>
            <a:off x="6309360" y="2148840"/>
            <a:ext cx="109728" cy="41605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9" name="Text 13"/>
          <p:cNvSpPr/>
          <p:nvPr/>
        </p:nvSpPr>
        <p:spPr>
          <a:xfrm>
            <a:off x="667512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675120" y="29260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Desirable extras that improve experience, delight, or differentiation — but aren't essential.</a:t>
            </a:r>
            <a:endParaRPr lang="en-US" sz="1250" dirty="0"/>
          </a:p>
        </p:txBody>
      </p:sp>
      <p:pic>
        <p:nvPicPr>
          <p:cNvPr id="21" name="Image 4" descr="assets/check_E887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7490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6758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design and premium finishes</a:t>
            </a:r>
            <a:endParaRPr lang="en-US" sz="1200" dirty="0"/>
          </a:p>
        </p:txBody>
      </p:sp>
      <p:pic>
        <p:nvPicPr>
          <p:cNvPr id="23" name="Image 5" descr="assets/check_E8871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2511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4088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features beyond core function</a:t>
            </a:r>
            <a:endParaRPr lang="en-US" sz="1200" dirty="0"/>
          </a:p>
        </p:txBody>
      </p:sp>
      <p:pic>
        <p:nvPicPr>
          <p:cNvPr id="25" name="Image 6" descr="assets/check_E8871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90118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482803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performance than strictly required</a:t>
            </a:r>
            <a:endParaRPr lang="en-US" sz="1200" dirty="0"/>
          </a:p>
        </p:txBody>
      </p:sp>
      <p:pic>
        <p:nvPicPr>
          <p:cNvPr id="27" name="Image 7" descr="assets/check_E8871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47725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040880" y="540410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personality and emotional appeal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6" name="Image 0" descr="assets/buil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roads, bridges, and buildings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945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11" name="Image 1" descr="assets/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167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Machines, engines, and mechanical systems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945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16" name="Image 2" descr="assets/bo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317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167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systems, circuits, and electronics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51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21" name="Image 3" descr="assets/flas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6868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processes, and chemical production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023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51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26" name="Image 4" descr="assets/heartbea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891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772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 and healthcare technology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519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</p:spPr>
      </p:sp>
      <p:pic>
        <p:nvPicPr>
          <p:cNvPr id="31" name="Image 5" descr="assets/laptopCod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8912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224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6676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algorithms, and intelligent systems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CSE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 now sits at the center of every other discipline.</a:t>
            </a:r>
            <a:endParaRPr lang="en-US" sz="1400" dirty="0"/>
          </a:p>
        </p:txBody>
      </p:sp>
      <p:pic>
        <p:nvPicPr>
          <p:cNvPr id="5" name="Image 0" descr="assets/robot_E88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31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pic>
        <p:nvPicPr>
          <p:cNvPr id="7" name="Image 1" descr="assets/cloud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8152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035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500" dirty="0"/>
          </a:p>
        </p:txBody>
      </p:sp>
      <p:pic>
        <p:nvPicPr>
          <p:cNvPr id="9" name="Image 2" descr="assets/shield_E887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31336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7856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500" dirty="0"/>
          </a:p>
        </p:txBody>
      </p:sp>
      <p:pic>
        <p:nvPicPr>
          <p:cNvPr id="11" name="Image 3" descr="assets/database_E88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81144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5354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500" dirty="0"/>
          </a:p>
        </p:txBody>
      </p:sp>
      <p:pic>
        <p:nvPicPr>
          <p:cNvPr id="13" name="Image 4" descr="assets/cogs_E887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30952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5285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92240" y="196596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Skills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00" dirty="0"/>
          </a:p>
        </p:txBody>
      </p:sp>
      <p:pic>
        <p:nvPicPr>
          <p:cNvPr id="6" name="Image 0" descr="assets/code_1331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7340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3081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C++ across projects</a:t>
            </a:r>
            <a:endParaRPr lang="en-US" sz="1150" dirty="0"/>
          </a:p>
        </p:txBody>
      </p:sp>
      <p:pic>
        <p:nvPicPr>
          <p:cNvPr id="9" name="Image 1" descr="assets/chartLine_1331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40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785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600200" y="41330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scalable problem solving</a:t>
            </a:r>
            <a:endParaRPr lang="en-US" sz="1150" dirty="0"/>
          </a:p>
        </p:txBody>
      </p:sp>
      <p:pic>
        <p:nvPicPr>
          <p:cNvPr id="12" name="Image 2" descr="assets/brain_1331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8920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600200" y="51846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how components interact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09360" y="19659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0B2545"/>
          </a:solidFill>
          <a:ln/>
        </p:spPr>
      </p:sp>
      <p:sp>
        <p:nvSpPr>
          <p:cNvPr id="16" name="Text 11"/>
          <p:cNvSpPr/>
          <p:nvPr/>
        </p:nvSpPr>
        <p:spPr>
          <a:xfrm>
            <a:off x="662940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pic>
        <p:nvPicPr>
          <p:cNvPr id="17" name="Image 3" descr="assets/comments_E88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7889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69480" y="27340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269480" y="30815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trade-offs to any audience</a:t>
            </a:r>
            <a:endParaRPr lang="en-US" sz="1150" dirty="0"/>
          </a:p>
        </p:txBody>
      </p:sp>
      <p:pic>
        <p:nvPicPr>
          <p:cNvPr id="20" name="Image 4" descr="assets/handshake_E887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4048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69480" y="37856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7269480" y="413308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complex work through others</a:t>
            </a:r>
            <a:endParaRPr lang="en-US" sz="1150" dirty="0"/>
          </a:p>
        </p:txBody>
      </p:sp>
      <p:pic>
        <p:nvPicPr>
          <p:cNvPr id="23" name="Image 5" descr="assets/balanceScale_E8871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89204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7269480" y="51846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safety, impact, and fairness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Technologies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103120" cy="379476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</p:spPr>
      </p:sp>
      <p:pic>
        <p:nvPicPr>
          <p:cNvPr id="5" name="Image 0" descr="assets/brain_1331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377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31089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" y="397764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learn, predict, and automate decisions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080" y="2011680"/>
            <a:ext cx="2103120" cy="3794760"/>
          </a:xfrm>
          <a:prstGeom prst="roundRect">
            <a:avLst>
              <a:gd name="adj" fmla="val 3478"/>
            </a:avLst>
          </a:prstGeom>
          <a:solidFill>
            <a:srgbClr val="0B2545"/>
          </a:solidFill>
          <a:ln/>
        </p:spPr>
      </p:sp>
      <p:pic>
        <p:nvPicPr>
          <p:cNvPr id="9" name="Image 1" descr="assets/wifi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3774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0672" y="31089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090672" y="397764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sensors linking the physical and digital world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12080" y="2011680"/>
            <a:ext cx="2103120" cy="379476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</p:spPr>
      </p:sp>
      <p:pic>
        <p:nvPicPr>
          <p:cNvPr id="13" name="Image 2" descr="assets/atom_1331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3774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76672" y="31089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76672" y="397764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 classical computers cannot touch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98080" y="2011680"/>
            <a:ext cx="2103120" cy="3794760"/>
          </a:xfrm>
          <a:prstGeom prst="roundRect">
            <a:avLst>
              <a:gd name="adj" fmla="val 3478"/>
            </a:avLst>
          </a:prstGeom>
          <a:solidFill>
            <a:srgbClr val="0B2545"/>
          </a:solidFill>
          <a:ln/>
        </p:spPr>
      </p:sp>
      <p:pic>
        <p:nvPicPr>
          <p:cNvPr id="17" name="Image 3" descr="assets/vrCardboard_E88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23774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62672" y="31089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VR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62672" y="397764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interfaces for training, design, and play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784080" y="2011680"/>
            <a:ext cx="2103120" cy="379476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</p:spPr>
      </p:sp>
      <p:pic>
        <p:nvPicPr>
          <p:cNvPr id="21" name="Image 4" descr="assets/leaf_13315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180" y="23774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48672" y="31089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Computing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9948672" y="3977640"/>
            <a:ext cx="177393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hardware and sustainable infrastructure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LEADS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Opportunities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pic>
        <p:nvPicPr>
          <p:cNvPr id="6" name="Image 0" descr="assets/laptopCode_E88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631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92040" y="2011680"/>
            <a:ext cx="6446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and builds applications and platforms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03580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pic>
        <p:nvPicPr>
          <p:cNvPr id="11" name="Image 1" descr="assets/brain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1501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8986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2898648"/>
            <a:ext cx="6446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trains machine learning systems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8561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9227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pic>
        <p:nvPicPr>
          <p:cNvPr id="16" name="Image 2" descr="assets/cloud_E887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370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78561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92040" y="3785616"/>
            <a:ext cx="6446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scalable, resilient infrastructure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67258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80974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pic>
        <p:nvPicPr>
          <p:cNvPr id="21" name="Image 3" descr="assets/shield_E88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9240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67258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92040" y="4672584"/>
            <a:ext cx="6446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systems and data from attack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559552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6967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pic>
        <p:nvPicPr>
          <p:cNvPr id="26" name="Image 4" descr="assets/database_E887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8110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5595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92040" y="5559552"/>
            <a:ext cx="6446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pipelines that turn data into insight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5448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33172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10896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8620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21792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Chandrayaan-3: Engineering on a Shoestring Budget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ISRO landed near the Moon's south pole for less than the cost of a Hollywood space film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2057400"/>
            <a:ext cx="6309360" cy="4160520"/>
          </a:xfrm>
          <a:prstGeom prst="roundRect">
            <a:avLst>
              <a:gd name="adj" fmla="val 1758"/>
            </a:avLst>
          </a:prstGeom>
          <a:solidFill>
            <a:srgbClr val="0F2E52"/>
          </a:solidFill>
          <a:ln/>
        </p:spPr>
      </p:sp>
      <p:pic>
        <p:nvPicPr>
          <p:cNvPr id="31" name="Image 0" descr="assets/moon_E88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08760" y="2359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14400" y="28803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Chandrayaan-2's lander crashed in 2019, ISRO had one more shot at a soft landing near the lunar south pole — rough, uncharted terrain no country had reached before.</a:t>
            </a:r>
            <a:endParaRPr lang="en-US" sz="1200" dirty="0"/>
          </a:p>
        </p:txBody>
      </p:sp>
      <p:pic>
        <p:nvPicPr>
          <p:cNvPr id="34" name="Image 1" descr="assets/cogs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457200" cy="4572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508760" y="3730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Fix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14400" y="425196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costly direct trajectory, engineers looped the spacecraft through widening Earth orbits, using gravity as a free slingshot — trading 40 days of travel time for dramatically cheaper, less powerful propulsion.</a:t>
            </a:r>
            <a:endParaRPr lang="en-US" sz="1200" dirty="0"/>
          </a:p>
        </p:txBody>
      </p:sp>
      <p:pic>
        <p:nvPicPr>
          <p:cNvPr id="37" name="Image 2" descr="assets/trophy_E887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66360"/>
            <a:ext cx="457200" cy="4572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508760" y="5193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914400" y="57150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23 August 2023, Vikram lander and Pragyan rover soft-landed near the lunar south pole — making India the first nation to do so, and the fourth to soft-land on the Moon at all.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7223760" y="2057400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0F2E52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452360" y="2130552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~$75M</a:t>
            </a:r>
            <a:endParaRPr lang="en-US" sz="2400" dirty="0"/>
          </a:p>
        </p:txBody>
      </p:sp>
      <p:sp>
        <p:nvSpPr>
          <p:cNvPr id="42" name="Text 37"/>
          <p:cNvSpPr/>
          <p:nvPr/>
        </p:nvSpPr>
        <p:spPr>
          <a:xfrm>
            <a:off x="8961120" y="2130552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 cost — roughly a tenth of a single big-budget space film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7223760" y="3099816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0F2E52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452360" y="3172968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days</a:t>
            </a:r>
            <a:endParaRPr lang="en-US" sz="2400" dirty="0"/>
          </a:p>
        </p:txBody>
      </p:sp>
      <p:sp>
        <p:nvSpPr>
          <p:cNvPr id="45" name="Text 40"/>
          <p:cNvSpPr/>
          <p:nvPr/>
        </p:nvSpPr>
        <p:spPr>
          <a:xfrm>
            <a:off x="8961120" y="3172968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time traded to cut propulsion costs via a gravity-assist route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7223760" y="4142232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0F2E52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452360" y="4215384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400" dirty="0"/>
          </a:p>
        </p:txBody>
      </p:sp>
      <p:sp>
        <p:nvSpPr>
          <p:cNvPr id="48" name="Text 43"/>
          <p:cNvSpPr/>
          <p:nvPr/>
        </p:nvSpPr>
        <p:spPr>
          <a:xfrm>
            <a:off x="8961120" y="4215384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 to soft-land near the lunar south pole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223760" y="5184648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0F2E52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7452360" y="5257800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2400" dirty="0"/>
          </a:p>
        </p:txBody>
      </p:sp>
      <p:sp>
        <p:nvSpPr>
          <p:cNvPr id="51" name="Text 46"/>
          <p:cNvSpPr/>
          <p:nvPr/>
        </p:nvSpPr>
        <p:spPr>
          <a:xfrm>
            <a:off x="8961120" y="5257800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 ever to achieve a soft lunar landing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7223760" y="62636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8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ISRO mission reports; Reuters, Aug 2023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Innovate. Impact.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pic>
        <p:nvPicPr>
          <p:cNvPr id="6" name="Image 0" descr="assets/lightbulb_E887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15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14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turns knowledge into working solutions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292608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explains the world; engineering reshapes it under real constraints of cost, safety, and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3794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pic>
        <p:nvPicPr>
          <p:cNvPr id="10" name="Image 1" descr="assets/laptopCode_E887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9502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7490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 is the connective tissue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737360" y="41605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cloud, and data now touch every other discipline, from civil infrastructure to healthcare.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77240" y="5029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</p:sp>
      <p:pic>
        <p:nvPicPr>
          <p:cNvPr id="14" name="Image 2" descr="assets/rocket_E887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18464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9834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Frugal, disciplined engineering wins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737360" y="539496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Chandrayaan-3 proved that constraint sharpens design instead of limiting ambition.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5448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33172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10896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88620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44068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217920"/>
            <a:ext cx="12188952" cy="0"/>
          </a:xfrm>
          <a:prstGeom prst="line">
            <a:avLst/>
          </a:prstGeom>
          <a:noFill/>
          <a:ln w="6350">
            <a:solidFill>
              <a:srgbClr val="16345F"/>
            </a:solidFill>
            <a:prstDash val="solid"/>
          </a:ln>
        </p:spPr>
      </p:sp>
      <p:pic>
        <p:nvPicPr>
          <p:cNvPr id="27" name="Image 0" descr="assets/question_E8871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591556" y="1828800"/>
            <a:ext cx="1005840" cy="10058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0" y="2971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088636" y="3977640"/>
            <a:ext cx="20116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2026-07-15T18:48:59Z</dcterms:created>
  <dcterms:modified xsi:type="dcterms:W3CDTF">2026-07-15T18:48:59Z</dcterms:modified>
</cp:coreProperties>
</file>